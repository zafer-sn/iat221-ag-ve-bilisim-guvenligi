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89911" autoAdjust="0"/>
  </p:normalViewPr>
  <p:slideViewPr>
    <p:cSldViewPr snapToGrid="0">
      <p:cViewPr varScale="1">
        <p:scale>
          <a:sx n="114" d="100"/>
          <a:sy n="114" d="100"/>
        </p:scale>
        <p:origin x="300" y="10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10.01.2024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89437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265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7623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30740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5546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97983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0066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3820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65017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9658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2601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3764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14089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8959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592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2301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25451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31293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8508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365103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3951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10.01.2024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Ağ ve Bilişim Güvenliği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fonksiyonları herhangi bir boyutta bilgiyi alarak onu sabit bir boyuta çevirmeyi sağlar.</a:t>
            </a:r>
          </a:p>
          <a:p>
            <a:pPr rtl="0"/>
            <a:r>
              <a:rPr lang="tr-TR" dirty="0" smtClean="0"/>
              <a:t>Herhangi boyutta bilgi -&gt; sabit boyut</a:t>
            </a:r>
          </a:p>
          <a:p>
            <a:pPr rtl="0"/>
            <a:r>
              <a:rPr lang="tr-TR" dirty="0" smtClean="0"/>
              <a:t>Tıpkı bir huninin su veya bir sıvıyı alarak onu belirli bir yerden sabit olarak akmasını sağlaması gibi.</a:t>
            </a:r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Örneğin her kelimenin ilk 3 harfini alan bir operasyon bir özet fonksiyon olarak ifade edilebilir.</a:t>
            </a:r>
          </a:p>
          <a:p>
            <a:pPr rtl="0"/>
            <a:r>
              <a:rPr lang="tr-TR" dirty="0" smtClean="0"/>
              <a:t>Girdi: saat9:15civarındabuluşun</a:t>
            </a:r>
          </a:p>
          <a:p>
            <a:pPr rtl="0"/>
            <a:r>
              <a:rPr lang="tr-TR" dirty="0" smtClean="0"/>
              <a:t>Çıktı: </a:t>
            </a:r>
            <a:r>
              <a:rPr lang="tr-TR" dirty="0" err="1" smtClean="0"/>
              <a:t>saa</a:t>
            </a:r>
            <a:endParaRPr lang="tr-TR" dirty="0" smtClean="0"/>
          </a:p>
          <a:p>
            <a:pPr rtl="0"/>
            <a:r>
              <a:rPr lang="tr-TR" dirty="0" smtClean="0"/>
              <a:t>Girdi: dün11degörüştük</a:t>
            </a:r>
          </a:p>
          <a:p>
            <a:pPr rtl="0"/>
            <a:r>
              <a:rPr lang="tr-TR" dirty="0" smtClean="0"/>
              <a:t>Çıktı: dün</a:t>
            </a:r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659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Matematiksel olarak ifade edilecek olursa girdi olarak verilen 300 bit veya 2 </a:t>
            </a:r>
            <a:r>
              <a:rPr lang="tr-TR" dirty="0" err="1" smtClean="0"/>
              <a:t>terabytelık</a:t>
            </a:r>
            <a:r>
              <a:rPr lang="tr-TR" dirty="0" smtClean="0"/>
              <a:t> bir verinin çıktı olarak 256 bit olması düşünülebilir.</a:t>
            </a:r>
          </a:p>
          <a:p>
            <a:pPr rtl="0"/>
            <a:r>
              <a:rPr lang="tr-TR" dirty="0" smtClean="0"/>
              <a:t>Burada asıl önemli olan </a:t>
            </a:r>
            <a:r>
              <a:rPr lang="tr-TR" dirty="0" err="1" smtClean="0"/>
              <a:t>kriptografik</a:t>
            </a:r>
            <a:r>
              <a:rPr lang="tr-TR" dirty="0" smtClean="0"/>
              <a:t> yani güvenli özet fonksiyonu yapmaktır.</a:t>
            </a: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5617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Örneğin bir köyde 2^256 tane isim olduğunu düşünelim.</a:t>
            </a:r>
          </a:p>
          <a:p>
            <a:pPr rtl="0"/>
            <a:r>
              <a:rPr lang="tr-TR" dirty="0" smtClean="0"/>
              <a:t>Dünya üzerindeki tüm </a:t>
            </a:r>
            <a:r>
              <a:rPr lang="tr-TR" dirty="0" err="1" smtClean="0"/>
              <a:t>verininde</a:t>
            </a:r>
            <a:r>
              <a:rPr lang="tr-TR" dirty="0" smtClean="0"/>
              <a:t> bu 2^256 veri ile eşlenmeye çalıştığını varsayalım.</a:t>
            </a:r>
          </a:p>
          <a:p>
            <a:pPr rtl="0"/>
            <a:r>
              <a:rPr lang="tr-TR" dirty="0" smtClean="0"/>
              <a:t>Bu durum teorik olarak mümkün olmamakla(dünya üzerindeki tüm veri sonsuz iken elimizde 2^256 tane veri vardır) birlikte pratikte mümkündür. Çünkü pratik olarak karşımıza gerçek dünyada gelebilecek tüm verilerden çok daha büyük bir sayı(2^256) elimizde vardır.</a:t>
            </a:r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4847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650" y="2209800"/>
            <a:ext cx="58587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2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fonksiyonları 3 temel özelliğe sahip olmalıdır. Bunlar: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Geri </a:t>
            </a:r>
            <a:r>
              <a:rPr lang="tr-TR" dirty="0" err="1" smtClean="0"/>
              <a:t>döndürülemezlik</a:t>
            </a:r>
            <a:r>
              <a:rPr lang="tr-TR" dirty="0" smtClean="0"/>
              <a:t>: Bir özet fonksiyonu veriyi öyle bir karıştırmalıdır ki çıktıdan geriye gitmek mümkün olmamalıdır.</a:t>
            </a:r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463" y="3694536"/>
            <a:ext cx="5495073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1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Matematiksel olarak geri </a:t>
            </a:r>
            <a:r>
              <a:rPr lang="tr-TR" dirty="0" err="1" smtClean="0"/>
              <a:t>döndürülemezlik</a:t>
            </a:r>
            <a:r>
              <a:rPr lang="tr-TR" dirty="0" smtClean="0"/>
              <a:t> ‘h(x) = y’ şeklinde bir fonksiyonda sadece y verildiğinde </a:t>
            </a:r>
            <a:r>
              <a:rPr lang="tr-TR" dirty="0" err="1" smtClean="0"/>
              <a:t>x’in</a:t>
            </a:r>
            <a:r>
              <a:rPr lang="tr-TR" dirty="0" smtClean="0"/>
              <a:t> bulunamaması olarak ifade edilebilir. Bu durumda </a:t>
            </a:r>
            <a:r>
              <a:rPr lang="tr-TR" dirty="0" err="1" smtClean="0"/>
              <a:t>x’in</a:t>
            </a:r>
            <a:r>
              <a:rPr lang="tr-TR" dirty="0" smtClean="0"/>
              <a:t> bulunabilmesinin tek yolu </a:t>
            </a:r>
            <a:r>
              <a:rPr lang="tr-TR" dirty="0" err="1" smtClean="0"/>
              <a:t>bruteforce</a:t>
            </a:r>
            <a:r>
              <a:rPr lang="tr-TR" dirty="0" smtClean="0"/>
              <a:t>(kaba kuvvet) saldırısıdır; ancak bu da mümkün değildir çünkü uzayın büyüklüğü 2^256’dır yani 0’den başlayıp 2^256’ya kadar olan tüm sayıların tek tek denenmesi anlamına gelir. Bu günümüz teknolojileri ile mümkün değildir.</a:t>
            </a:r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8418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fonksiyonları 3 temel özelliğe sahip olmalıdır. Bunlar:</a:t>
            </a:r>
          </a:p>
          <a:p>
            <a:pPr marL="624078" indent="-514350" rtl="0">
              <a:buFont typeface="+mj-lt"/>
              <a:buAutoNum type="arabicPeriod" startAt="2"/>
            </a:pPr>
            <a:r>
              <a:rPr lang="tr-TR" dirty="0" smtClean="0"/>
              <a:t>Zayıf çakışma dayanıklı(</a:t>
            </a:r>
            <a:r>
              <a:rPr lang="tr-TR" dirty="0" err="1" smtClean="0"/>
              <a:t>weak</a:t>
            </a:r>
            <a:r>
              <a:rPr lang="tr-TR" dirty="0" smtClean="0"/>
              <a:t> </a:t>
            </a:r>
            <a:r>
              <a:rPr lang="tr-TR" dirty="0" err="1" smtClean="0"/>
              <a:t>collision</a:t>
            </a:r>
            <a:r>
              <a:rPr lang="tr-TR" dirty="0" smtClean="0"/>
              <a:t> </a:t>
            </a:r>
            <a:r>
              <a:rPr lang="tr-TR" dirty="0" err="1" smtClean="0"/>
              <a:t>resistance</a:t>
            </a:r>
            <a:r>
              <a:rPr lang="tr-TR" dirty="0" smtClean="0"/>
              <a:t>): Bu durum farklı girdilere karşılık aynı çıktının verilmesi olarak ifade edilir ve bu kesinlikle olmamalıdır. ‘</a:t>
            </a:r>
            <a:r>
              <a:rPr lang="tr-TR" dirty="0" smtClean="0"/>
              <a:t>h</a:t>
            </a:r>
            <a:r>
              <a:rPr lang="tr-TR" dirty="0" smtClean="0"/>
              <a:t>(m1)=</a:t>
            </a:r>
            <a:r>
              <a:rPr lang="tr-TR" dirty="0" err="1" smtClean="0"/>
              <a:t>ahmet</a:t>
            </a:r>
            <a:r>
              <a:rPr lang="tr-TR" dirty="0" smtClean="0"/>
              <a:t>’ ve ‘h(m2)=</a:t>
            </a:r>
            <a:r>
              <a:rPr lang="tr-TR" dirty="0" err="1" smtClean="0"/>
              <a:t>ahmet</a:t>
            </a:r>
            <a:r>
              <a:rPr lang="tr-TR" dirty="0" smtClean="0"/>
              <a:t>’ gibi çıktı olarak ‘</a:t>
            </a:r>
            <a:r>
              <a:rPr lang="tr-TR" dirty="0" err="1" smtClean="0"/>
              <a:t>ahmet</a:t>
            </a:r>
            <a:r>
              <a:rPr lang="tr-TR" dirty="0" smtClean="0"/>
              <a:t>’ değeri veren m1 ve m2 girdilerinin bulunamaması gerekir. Burada yine uzay boyutu 2^256 olduğu için bu da mümkün değildir.</a:t>
            </a:r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335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fonksiyonları 3 temel özelliğe sahip olmalıdır. Bunlar:</a:t>
            </a:r>
          </a:p>
          <a:p>
            <a:pPr marL="624078" indent="-514350" rtl="0">
              <a:buFont typeface="+mj-lt"/>
              <a:buAutoNum type="arabicPeriod" startAt="3"/>
            </a:pPr>
            <a:r>
              <a:rPr lang="tr-TR" dirty="0" smtClean="0"/>
              <a:t>Güçlü çakışma dayanıklı(</a:t>
            </a:r>
            <a:r>
              <a:rPr lang="tr-TR" dirty="0" err="1" smtClean="0"/>
              <a:t>strong</a:t>
            </a:r>
            <a:r>
              <a:rPr lang="tr-TR" dirty="0" smtClean="0"/>
              <a:t> </a:t>
            </a:r>
            <a:r>
              <a:rPr lang="tr-TR" dirty="0" err="1" smtClean="0"/>
              <a:t>collision</a:t>
            </a:r>
            <a:r>
              <a:rPr lang="tr-TR" dirty="0" smtClean="0"/>
              <a:t> </a:t>
            </a:r>
            <a:r>
              <a:rPr lang="tr-TR" dirty="0" err="1" smtClean="0"/>
              <a:t>resistance</a:t>
            </a:r>
            <a:r>
              <a:rPr lang="tr-TR" dirty="0" smtClean="0"/>
              <a:t>): Bu durum zayıf çakışma dayanıklılığına benzer ancak bu sefer çıktılar keyfi(rastgele) ikililer olarak seçilir. ‘</a:t>
            </a:r>
            <a:r>
              <a:rPr lang="tr-TR" dirty="0" smtClean="0"/>
              <a:t>h</a:t>
            </a:r>
            <a:r>
              <a:rPr lang="tr-TR" dirty="0" smtClean="0"/>
              <a:t>(m1) = h(m2)’ olacak rastgele 2 değer bulabilmeyi ifade eder. Yine bununda kesinlikle olmaması gerekir. Burada 2 değer olduğu için 2^128 deneme yapılması gerekir ama bu da yine pratikte imkansızdır.</a:t>
            </a:r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102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Burada unutulmaması gereken bu 3 özelliğinde teorikte var olması ancak pratikte bunların bulunmasının imkansız olmasıdır.</a:t>
            </a:r>
          </a:p>
          <a:p>
            <a:pPr rtl="0"/>
            <a:r>
              <a:rPr lang="tr-TR" dirty="0" smtClean="0"/>
              <a:t>Temel olarak eğer özet fonksiyonunuz, aşağıdaki özelliklere sahipse güvenlidir denilebilir.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Geri döndürülmesi imkansız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Zayıf çakışma dayanıklı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Güçlü çakışma dayanıklı</a:t>
            </a:r>
          </a:p>
          <a:p>
            <a:r>
              <a:rPr lang="tr-TR" dirty="0" smtClean="0"/>
              <a:t>Özet fonksiyonunun güvenli olmasından kasıt ise her bir verinin(datanın) biricik(</a:t>
            </a:r>
            <a:r>
              <a:rPr lang="tr-TR" dirty="0" err="1" smtClean="0"/>
              <a:t>unique</a:t>
            </a:r>
            <a:r>
              <a:rPr lang="tr-TR" dirty="0" smtClean="0"/>
              <a:t>) bir isme sahip olmasıdır. Veri değişirse isim de değişir.</a:t>
            </a: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5787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Örnekler:</a:t>
            </a:r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909" y="2974536"/>
            <a:ext cx="441818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0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Örnekler:</a:t>
            </a:r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628" y="3507058"/>
            <a:ext cx="4610743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 AMACI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fonksiyonları kullanılarak verinin gönderim sırasında değişmediğinin kontrolü de yapılabilir.</a:t>
            </a:r>
          </a:p>
          <a:p>
            <a:pPr rtl="0"/>
            <a:r>
              <a:rPr lang="tr-TR" dirty="0" smtClean="0"/>
              <a:t>Bunun için Şifreli Metin + </a:t>
            </a:r>
            <a:r>
              <a:rPr lang="tr-TR" dirty="0"/>
              <a:t>h</a:t>
            </a:r>
            <a:r>
              <a:rPr lang="tr-TR" dirty="0" smtClean="0"/>
              <a:t>(açık metin) karşıya gönderilir. Karşı tarafta anahtar olduğu için şifreli metni açar ve açık metni elde eder. Açık metni de ilgili özet fonksiyonuna(</a:t>
            </a:r>
            <a:r>
              <a:rPr lang="tr-TR" dirty="0" err="1" smtClean="0"/>
              <a:t>hash</a:t>
            </a:r>
            <a:r>
              <a:rPr lang="tr-TR" dirty="0" smtClean="0"/>
              <a:t> fonksiyonuna) girdi olarak verip </a:t>
            </a:r>
            <a:r>
              <a:rPr lang="tr-TR" dirty="0" err="1" smtClean="0"/>
              <a:t>hashli</a:t>
            </a:r>
            <a:r>
              <a:rPr lang="tr-TR" dirty="0" smtClean="0"/>
              <a:t> haline elde eder. Karşıdan gelen değer ve kendi </a:t>
            </a:r>
            <a:r>
              <a:rPr lang="tr-TR" dirty="0" err="1" smtClean="0"/>
              <a:t>hashlediği</a:t>
            </a:r>
            <a:r>
              <a:rPr lang="tr-TR" dirty="0" smtClean="0"/>
              <a:t> değer aynı ise verinin yolda değişmediği anlaşılır.</a:t>
            </a:r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6473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FONKSİYONLARININ YAPISI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fonksiyonları aslında blok şifrelere oldukça benzer bir yapıda çalışır. Blok şifrelerde kullanılan s-kutuları ve </a:t>
            </a:r>
            <a:r>
              <a:rPr lang="tr-TR" dirty="0" err="1" smtClean="0"/>
              <a:t>permütasyon</a:t>
            </a:r>
            <a:r>
              <a:rPr lang="tr-TR" dirty="0" smtClean="0"/>
              <a:t> yapıları burada da kullanılır.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638199"/>
            <a:ext cx="10800000" cy="297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4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FONKSİYONLARININ YAPISI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Buradaki önemli fark çıktıların XOR(Özel Veya) işlemine tabi tutularak sonuç olarak sabit boyutlu bir değer(</a:t>
            </a:r>
            <a:r>
              <a:rPr lang="tr-TR" dirty="0" err="1" smtClean="0"/>
              <a:t>bitsel</a:t>
            </a:r>
            <a:r>
              <a:rPr lang="tr-TR" dirty="0" smtClean="0"/>
              <a:t> olarak) elde edilmesidir. 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736426"/>
            <a:ext cx="10800000" cy="226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8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ÖZET FONKSİYONLARININ YAPISI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SHA256 özet fonksiyonu ile 0 bitinin ve 1 bitinin </a:t>
            </a:r>
            <a:r>
              <a:rPr lang="tr-TR" dirty="0" err="1" smtClean="0"/>
              <a:t>hashlenmiş</a:t>
            </a:r>
            <a:r>
              <a:rPr lang="tr-TR" dirty="0" smtClean="0"/>
              <a:t> değerleri aşağıda gösterilmiştir. Sadece 1 bit değişmesine rağmen sonuç tamamen değişmiştir. Bu da s-kutuları ve </a:t>
            </a:r>
            <a:r>
              <a:rPr lang="tr-TR" dirty="0" err="1" smtClean="0"/>
              <a:t>permütasyon</a:t>
            </a:r>
            <a:r>
              <a:rPr lang="tr-TR" dirty="0" smtClean="0"/>
              <a:t> yöntemlerinin yani blok şifrelerin veriyi ne kadar iyi farklılaştırdığının bir kanıtıdır.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4590817"/>
            <a:ext cx="10800000" cy="11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1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ve SHA Ailesi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özetleme fonksiyonu 128 bit çıktı verir.</a:t>
            </a:r>
          </a:p>
          <a:p>
            <a:pPr rtl="0"/>
            <a:r>
              <a:rPr lang="tr-TR" dirty="0" smtClean="0"/>
              <a:t>Günümüz için güvenli değildir çünkü 2^128 değeri güçlü çakışma dayanıklılığı(aynı çıktıları veren farklı girdiler) sağlamaz. Güçlü çakışma </a:t>
            </a:r>
            <a:r>
              <a:rPr lang="tr-TR" dirty="0" err="1" smtClean="0"/>
              <a:t>dayanlıklılığında</a:t>
            </a:r>
            <a:r>
              <a:rPr lang="tr-TR" dirty="0" smtClean="0"/>
              <a:t> 2^128 değerinin karekökü kadar değer </a:t>
            </a:r>
            <a:r>
              <a:rPr lang="tr-TR" dirty="0" err="1" smtClean="0"/>
              <a:t>bruteforce</a:t>
            </a:r>
            <a:r>
              <a:rPr lang="tr-TR" dirty="0" smtClean="0"/>
              <a:t> ile denenebilir. Bu durumda 2^64 bit deneme yapmak gerekir. Bu değer günümüz için güvenli değildir. Günümüz teknolojisi 2^64 bit deneme yapabilir.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5277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ve SHA Ailesi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SHA(</a:t>
            </a:r>
            <a:r>
              <a:rPr lang="tr-TR" dirty="0" err="1" smtClean="0"/>
              <a:t>Secure</a:t>
            </a:r>
            <a:r>
              <a:rPr lang="tr-TR" dirty="0" smtClean="0"/>
              <a:t> </a:t>
            </a:r>
            <a:r>
              <a:rPr lang="tr-TR" dirty="0" err="1" smtClean="0"/>
              <a:t>Hash</a:t>
            </a:r>
            <a:r>
              <a:rPr lang="tr-TR" dirty="0" smtClean="0"/>
              <a:t> </a:t>
            </a:r>
            <a:r>
              <a:rPr lang="tr-TR" dirty="0" err="1" smtClean="0"/>
              <a:t>Algorithm</a:t>
            </a:r>
            <a:r>
              <a:rPr lang="tr-TR" dirty="0" smtClean="0"/>
              <a:t>) özetleme fonksiyonunun 3 türü bulunmaktadır. Bunlar: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SHA1 – 160 bit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SHA2 – 256/512 bit – 224/384</a:t>
            </a:r>
          </a:p>
          <a:p>
            <a:pPr marL="624078" indent="-514350" rtl="0">
              <a:buFont typeface="+mj-lt"/>
              <a:buAutoNum type="arabicPeriod"/>
            </a:pPr>
            <a:r>
              <a:rPr lang="tr-TR" dirty="0" smtClean="0"/>
              <a:t>SHA3 - </a:t>
            </a:r>
            <a:r>
              <a:rPr lang="tr-TR" dirty="0" err="1" smtClean="0"/>
              <a:t>Keccak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605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ve SHA Ailesi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SHA1 günümüz için güvenli değildir. 160 bit değeri güçlü çakışma kontrolünde 80 </a:t>
            </a:r>
            <a:r>
              <a:rPr lang="tr-TR" dirty="0" err="1" smtClean="0"/>
              <a:t>bit’e</a:t>
            </a:r>
            <a:r>
              <a:rPr lang="tr-TR" dirty="0" smtClean="0"/>
              <a:t> karşılık gelir ve bu günümüz değerleri için güvenlidir; ancak geçtiğimiz yıllarda SHA1 özetleme fonksiyonuna girdi olarak verilen ve içerikleri farklı olan 2 </a:t>
            </a:r>
            <a:r>
              <a:rPr lang="tr-TR" dirty="0" err="1" smtClean="0"/>
              <a:t>pdf’in</a:t>
            </a:r>
            <a:r>
              <a:rPr lang="tr-TR" dirty="0" smtClean="0"/>
              <a:t> aynı SHA1 çıktısı verdiği görülmüştür. Kriptolojide genel olarak 1 adet örnek bile algoritmanın artık güvenli olmaması için yeterli olarak kabul edilir.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887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ve SHA Ailesi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98" y="2416214"/>
            <a:ext cx="7401958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1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ve SHA Ailesi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SHA2 256 bit özetleme yapar ve günümüz için güvenlidir. Ayrıca bunun bir diğer önemli özelliği </a:t>
            </a:r>
            <a:r>
              <a:rPr lang="tr-TR" dirty="0" err="1" smtClean="0"/>
              <a:t>Bitcoin</a:t>
            </a:r>
            <a:r>
              <a:rPr lang="tr-TR" dirty="0" smtClean="0"/>
              <a:t> yapısında kullanılmasıdır.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92" y="3151980"/>
            <a:ext cx="202381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2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MD5 ve SHA Ailesi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SHA3 </a:t>
            </a:r>
            <a:r>
              <a:rPr lang="tr-TR" dirty="0" err="1" smtClean="0"/>
              <a:t>Keccak</a:t>
            </a:r>
            <a:r>
              <a:rPr lang="tr-TR" dirty="0" smtClean="0"/>
              <a:t> boyut olarak SHA2 ile tamamen aynıdır. Sadece yapılan işlem olarak 2 boyutta değil 3 boyutta çalışarak özetleme yapar. Bu nedenle daha karmaşık çıktılar elde edebilir.</a:t>
            </a:r>
            <a:endParaRPr lang="tr-TR" dirty="0" smtClean="0"/>
          </a:p>
          <a:p>
            <a:pPr rtl="0"/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marL="109728" indent="0" rtl="0">
              <a:buNone/>
            </a:pPr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 smtClean="0"/>
          </a:p>
          <a:p>
            <a:pPr rtl="0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632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1551</TotalTime>
  <Words>1802</Words>
  <Application>Microsoft Office PowerPoint</Application>
  <PresentationFormat>Geniş ekran</PresentationFormat>
  <Paragraphs>196</Paragraphs>
  <Slides>23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8" baseType="lpstr">
      <vt:lpstr>Arial</vt:lpstr>
      <vt:lpstr>Calibri</vt:lpstr>
      <vt:lpstr>Georgia</vt:lpstr>
      <vt:lpstr>Wingdings 2</vt:lpstr>
      <vt:lpstr>Eğitim sunusu</vt:lpstr>
      <vt:lpstr>Ağ ve Bilişim Güvenliği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 AMACI</vt:lpstr>
      <vt:lpstr>ÖZET FONKSİYONLARININ YAPISI</vt:lpstr>
      <vt:lpstr>ÖZET FONKSİYONLARININ YAPISI</vt:lpstr>
      <vt:lpstr>ÖZET FONKSİYONLARININ YAPISI</vt:lpstr>
      <vt:lpstr>MD5 ve SHA Ailesi</vt:lpstr>
      <vt:lpstr>MD5 ve SHA Ailesi</vt:lpstr>
      <vt:lpstr>MD5 ve SHA Ailesi</vt:lpstr>
      <vt:lpstr>MD5 ve SHA Ailesi</vt:lpstr>
      <vt:lpstr>MD5 ve SHA Ailesi</vt:lpstr>
      <vt:lpstr>MD5 ve SHA Ailesi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ZaferS</cp:lastModifiedBy>
  <cp:revision>286</cp:revision>
  <dcterms:created xsi:type="dcterms:W3CDTF">2023-12-09T09:03:26Z</dcterms:created>
  <dcterms:modified xsi:type="dcterms:W3CDTF">2024-01-10T17:52:41Z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