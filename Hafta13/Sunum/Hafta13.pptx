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9"/>
  </p:notesMasterIdLst>
  <p:handoutMasterIdLst>
    <p:handoutMasterId r:id="rId20"/>
  </p:handoutMasterIdLst>
  <p:sldIdLst>
    <p:sldId id="257"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8" r:id="rId17"/>
    <p:sldId id="289" r:id="rId18"/>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89911" autoAdjust="0"/>
  </p:normalViewPr>
  <p:slideViewPr>
    <p:cSldViewPr snapToGrid="0">
      <p:cViewPr varScale="1">
        <p:scale>
          <a:sx n="114" d="100"/>
          <a:sy n="114" d="100"/>
        </p:scale>
        <p:origin x="300" y="102"/>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t>8.01.2025</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t>‹#›</a:t>
            </a:fld>
            <a:endParaRPr lang="tr-TR"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pPr/>
              <a:t>8.01.2025</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t>‹#›</a:t>
            </a:fld>
            <a:endParaRPr lang="tr-TR"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t>1</a:t>
            </a:fld>
            <a:endParaRPr lang="tr-TR"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a:t>
            </a:fld>
            <a:endParaRPr lang="tr-TR" dirty="0"/>
          </a:p>
        </p:txBody>
      </p:sp>
    </p:spTree>
    <p:extLst>
      <p:ext uri="{BB962C8B-B14F-4D97-AF65-F5344CB8AC3E}">
        <p14:creationId xmlns:p14="http://schemas.microsoft.com/office/powerpoint/2010/main" val="326568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a:t>
            </a:fld>
            <a:endParaRPr lang="tr-TR" dirty="0"/>
          </a:p>
        </p:txBody>
      </p:sp>
    </p:spTree>
    <p:extLst>
      <p:ext uri="{BB962C8B-B14F-4D97-AF65-F5344CB8AC3E}">
        <p14:creationId xmlns:p14="http://schemas.microsoft.com/office/powerpoint/2010/main" val="2695801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4</a:t>
            </a:fld>
            <a:endParaRPr lang="tr-TR" dirty="0"/>
          </a:p>
        </p:txBody>
      </p:sp>
    </p:spTree>
    <p:extLst>
      <p:ext uri="{BB962C8B-B14F-4D97-AF65-F5344CB8AC3E}">
        <p14:creationId xmlns:p14="http://schemas.microsoft.com/office/powerpoint/2010/main" val="3812999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5</a:t>
            </a:fld>
            <a:endParaRPr lang="tr-TR" dirty="0"/>
          </a:p>
        </p:txBody>
      </p:sp>
    </p:spTree>
    <p:extLst>
      <p:ext uri="{BB962C8B-B14F-4D97-AF65-F5344CB8AC3E}">
        <p14:creationId xmlns:p14="http://schemas.microsoft.com/office/powerpoint/2010/main" val="2336683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6</a:t>
            </a:fld>
            <a:endParaRPr lang="tr-TR" dirty="0"/>
          </a:p>
        </p:txBody>
      </p:sp>
    </p:spTree>
    <p:extLst>
      <p:ext uri="{BB962C8B-B14F-4D97-AF65-F5344CB8AC3E}">
        <p14:creationId xmlns:p14="http://schemas.microsoft.com/office/powerpoint/2010/main" val="935984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7</a:t>
            </a:fld>
            <a:endParaRPr lang="tr-TR" dirty="0"/>
          </a:p>
        </p:txBody>
      </p:sp>
    </p:spTree>
    <p:extLst>
      <p:ext uri="{BB962C8B-B14F-4D97-AF65-F5344CB8AC3E}">
        <p14:creationId xmlns:p14="http://schemas.microsoft.com/office/powerpoint/2010/main" val="13823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8</a:t>
            </a:fld>
            <a:endParaRPr lang="tr-TR" dirty="0"/>
          </a:p>
        </p:txBody>
      </p:sp>
    </p:spTree>
    <p:extLst>
      <p:ext uri="{BB962C8B-B14F-4D97-AF65-F5344CB8AC3E}">
        <p14:creationId xmlns:p14="http://schemas.microsoft.com/office/powerpoint/2010/main" val="2800166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9</a:t>
            </a:fld>
            <a:endParaRPr lang="tr-TR" dirty="0"/>
          </a:p>
        </p:txBody>
      </p:sp>
    </p:spTree>
    <p:extLst>
      <p:ext uri="{BB962C8B-B14F-4D97-AF65-F5344CB8AC3E}">
        <p14:creationId xmlns:p14="http://schemas.microsoft.com/office/powerpoint/2010/main" val="982483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10</a:t>
            </a:fld>
            <a:endParaRPr lang="tr-TR" dirty="0"/>
          </a:p>
        </p:txBody>
      </p:sp>
    </p:spTree>
    <p:extLst>
      <p:ext uri="{BB962C8B-B14F-4D97-AF65-F5344CB8AC3E}">
        <p14:creationId xmlns:p14="http://schemas.microsoft.com/office/powerpoint/2010/main" val="262084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11</a:t>
            </a:fld>
            <a:endParaRPr lang="tr-TR" dirty="0"/>
          </a:p>
        </p:txBody>
      </p:sp>
    </p:spTree>
    <p:extLst>
      <p:ext uri="{BB962C8B-B14F-4D97-AF65-F5344CB8AC3E}">
        <p14:creationId xmlns:p14="http://schemas.microsoft.com/office/powerpoint/2010/main" val="2327741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12</a:t>
            </a:fld>
            <a:endParaRPr lang="tr-TR" dirty="0"/>
          </a:p>
        </p:txBody>
      </p:sp>
    </p:spTree>
    <p:extLst>
      <p:ext uri="{BB962C8B-B14F-4D97-AF65-F5344CB8AC3E}">
        <p14:creationId xmlns:p14="http://schemas.microsoft.com/office/powerpoint/2010/main" val="3041192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13</a:t>
            </a:fld>
            <a:endParaRPr lang="tr-TR" dirty="0"/>
          </a:p>
        </p:txBody>
      </p:sp>
    </p:spTree>
    <p:extLst>
      <p:ext uri="{BB962C8B-B14F-4D97-AF65-F5344CB8AC3E}">
        <p14:creationId xmlns:p14="http://schemas.microsoft.com/office/powerpoint/2010/main" val="657872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14</a:t>
            </a:fld>
            <a:endParaRPr lang="tr-TR" dirty="0"/>
          </a:p>
        </p:txBody>
      </p:sp>
    </p:spTree>
    <p:extLst>
      <p:ext uri="{BB962C8B-B14F-4D97-AF65-F5344CB8AC3E}">
        <p14:creationId xmlns:p14="http://schemas.microsoft.com/office/powerpoint/2010/main" val="1200386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15</a:t>
            </a:fld>
            <a:endParaRPr lang="tr-TR" dirty="0"/>
          </a:p>
        </p:txBody>
      </p:sp>
    </p:spTree>
    <p:extLst>
      <p:ext uri="{BB962C8B-B14F-4D97-AF65-F5344CB8AC3E}">
        <p14:creationId xmlns:p14="http://schemas.microsoft.com/office/powerpoint/2010/main" val="3836836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16</a:t>
            </a:fld>
            <a:endParaRPr lang="tr-TR" dirty="0"/>
          </a:p>
        </p:txBody>
      </p:sp>
    </p:spTree>
    <p:extLst>
      <p:ext uri="{BB962C8B-B14F-4D97-AF65-F5344CB8AC3E}">
        <p14:creationId xmlns:p14="http://schemas.microsoft.com/office/powerpoint/2010/main" val="24158493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17</a:t>
            </a:fld>
            <a:endParaRPr lang="tr-TR" dirty="0"/>
          </a:p>
        </p:txBody>
      </p:sp>
    </p:spTree>
    <p:extLst>
      <p:ext uri="{BB962C8B-B14F-4D97-AF65-F5344CB8AC3E}">
        <p14:creationId xmlns:p14="http://schemas.microsoft.com/office/powerpoint/2010/main" val="1594725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tr-TR" noProof="0" smtClean="0"/>
              <a:t>Asıl başlık stili için tıklatın</a:t>
            </a:r>
            <a:endParaRPr lang="tr-TR" noProof="0" dirty="0"/>
          </a:p>
        </p:txBody>
      </p:sp>
      <p:sp>
        <p:nvSpPr>
          <p:cNvPr id="9" name="Alt Başlık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smtClean="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pPr/>
              <a:t>8.01.2025</a:t>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idx="1"/>
          </p:nvPr>
        </p:nvSpPr>
        <p:spPr/>
        <p:txBody>
          <a:bodyPr rtlCol="0"/>
          <a:lstStyle>
            <a:lvl1pPr>
              <a:defRPr/>
            </a:lvl1pPr>
            <a:lvl5pPr>
              <a:defRPr/>
            </a:lvl5pPr>
            <a:lvl6pPr>
              <a:defRPr/>
            </a:lvl6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pPr/>
              <a:t>8.01.2025</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smtClean="0"/>
              <a:t>Asıl başlık stili için tıklatın</a:t>
            </a:r>
            <a:endParaRPr kumimoji="0" lang="tr-TR" noProof="0" dirty="0"/>
          </a:p>
        </p:txBody>
      </p:sp>
      <p:sp>
        <p:nvSpPr>
          <p:cNvPr id="3" name="Metin Yer Tutucusu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smtClean="0"/>
              <a:t>Asıl metin stillerini düzenle</a:t>
            </a:r>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pPr/>
              <a:t>8.01.2025</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4" name="İçerik Yer Tutucusu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pPr/>
              <a:t>8.01.2025</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508000" y="1143000"/>
            <a:ext cx="11176000" cy="1069848"/>
          </a:xfrm>
        </p:spPr>
        <p:txBody>
          <a:bodyPr rtlCol="0" anchor="ctr"/>
          <a:lstStyle>
            <a:lvl1pPr>
              <a:defRPr sz="4000" b="0" i="0" cap="none" baseline="0"/>
            </a:lvl1pPr>
          </a:lstStyle>
          <a:p>
            <a:pPr rtl="0"/>
            <a:r>
              <a:rPr lang="tr-TR" noProof="0" smtClean="0"/>
              <a:t>Asıl başlık stili için tıklatın</a:t>
            </a:r>
            <a:endParaRPr lang="tr-TR" noProof="0" dirty="0"/>
          </a:p>
        </p:txBody>
      </p:sp>
      <p:sp>
        <p:nvSpPr>
          <p:cNvPr id="3" name="Metin Yer Tutucusu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p>
        </p:txBody>
      </p:sp>
      <p:sp>
        <p:nvSpPr>
          <p:cNvPr id="5" name="İçerik Yer Tutucusu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4" name="Metin Yer Tutucusu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p>
        </p:txBody>
      </p:sp>
      <p:sp>
        <p:nvSpPr>
          <p:cNvPr id="6" name="İçerik Yer Tutucusu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pPr/>
              <a:t>8.01.2025</a:t>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tr-TR" noProof="0" smtClean="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pPr/>
              <a:t>8.01.2025</a:t>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pPr/>
              <a:t>8.01.2025</a:t>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p>
        </p:txBody>
      </p:sp>
      <p:sp>
        <p:nvSpPr>
          <p:cNvPr id="4" name="İçerik Yer Tutucusu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3" name="Metin Yer Tutucusu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smtClean="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pPr/>
              <a:t>8.01.2025</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tr-TR" noProof="0" smtClean="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smtClean="0"/>
              <a:t>Resim eklemek için simgeyi tıklatın</a:t>
            </a:r>
            <a:endParaRPr kumimoji="0" lang="tr-TR" noProof="0" dirty="0"/>
          </a:p>
        </p:txBody>
      </p:sp>
      <p:sp>
        <p:nvSpPr>
          <p:cNvPr id="4" name="Metin Yer Tutucusu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smtClean="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pPr/>
              <a:t>8.01.2025</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Dikey Metin Yer Tutucusu 2"/>
          <p:cNvSpPr>
            <a:spLocks noGrp="1"/>
          </p:cNvSpPr>
          <p:nvPr>
            <p:ph type="body" orient="vert" idx="1"/>
          </p:nvPr>
        </p:nvSpPr>
        <p:spPr/>
        <p:txBody>
          <a:bodyPr vert="eaVert" rtlCol="0"/>
          <a:lstStyle>
            <a:lvl1pPr>
              <a:defRPr/>
            </a:lvl1pPr>
            <a:lvl5pPr>
              <a:defRPr/>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pPr/>
              <a:t>8.01.2025</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p>
          <a:p>
            <a:pPr lvl="1" rtl="0" eaLnBrk="1" latinLnBrk="0" hangingPunct="1"/>
            <a:r>
              <a:rPr lang="tr-TR" noProof="0" dirty="0"/>
              <a:t>İkinci düzey</a:t>
            </a:r>
          </a:p>
          <a:p>
            <a:pPr lvl="2" rtl="0" eaLnBrk="1" latinLnBrk="0" hangingPunct="1"/>
            <a:r>
              <a:rPr lang="tr-TR" noProof="0" dirty="0"/>
              <a:t>Üçüncü düzey</a:t>
            </a:r>
          </a:p>
          <a:p>
            <a:pPr lvl="3" rtl="0" eaLnBrk="1" latinLnBrk="0" hangingPunct="1"/>
            <a:r>
              <a:rPr lang="tr-TR" noProof="0" dirty="0"/>
              <a:t>Dördüncü düzey</a:t>
            </a:r>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pPr/>
              <a:t>8.01.2025</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pPr/>
              <a:t>8.01.2025</a:t>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smtClean="0"/>
              <a:t>Ağ ve Bilişim Güvenliği</a:t>
            </a:r>
            <a:endParaRPr lang="tr-TR" dirty="0"/>
          </a:p>
        </p:txBody>
      </p:sp>
      <p:sp>
        <p:nvSpPr>
          <p:cNvPr id="3" name="Alt Başlık 2"/>
          <p:cNvSpPr>
            <a:spLocks noGrp="1"/>
          </p:cNvSpPr>
          <p:nvPr>
            <p:ph type="subTitle" idx="1"/>
          </p:nvPr>
        </p:nvSpPr>
        <p:spPr/>
        <p:txBody>
          <a:bodyPr rtlCol="0"/>
          <a:lstStyle/>
          <a:p>
            <a:pPr rtl="0"/>
            <a:r>
              <a:rPr lang="tr-TR" dirty="0" err="1" smtClean="0"/>
              <a:t>Öğr</a:t>
            </a:r>
            <a:r>
              <a:rPr lang="tr-TR" dirty="0" smtClean="0"/>
              <a:t>. Gör. Zafer SERİN</a:t>
            </a:r>
            <a:endParaRPr lang="tr-TR" dirty="0"/>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sp>
        <p:nvSpPr>
          <p:cNvPr id="6" name="İçerik Yer Tutucusu 5"/>
          <p:cNvSpPr>
            <a:spLocks noGrp="1"/>
          </p:cNvSpPr>
          <p:nvPr>
            <p:ph idx="1"/>
          </p:nvPr>
        </p:nvSpPr>
        <p:spPr/>
        <p:txBody>
          <a:bodyPr/>
          <a:lstStyle/>
          <a:p>
            <a:r>
              <a:rPr lang="tr-TR" dirty="0" smtClean="0"/>
              <a:t>Blok şifrelerde akan şifrelere benzer şekilde simetrik bir şifreleme yöntemidir.</a:t>
            </a:r>
          </a:p>
          <a:p>
            <a:r>
              <a:rPr lang="tr-TR" dirty="0" smtClean="0"/>
              <a:t>Akan şifrelerde şifreleme işlemi LFSR ile yapılırken blok şifrelerde şifreleme işlemi SPN[</a:t>
            </a:r>
            <a:r>
              <a:rPr lang="tr-TR" dirty="0" err="1" smtClean="0"/>
              <a:t>Substitution-Permutation</a:t>
            </a:r>
            <a:r>
              <a:rPr lang="tr-TR" dirty="0" smtClean="0"/>
              <a:t> Network(Yer değiştirme </a:t>
            </a:r>
            <a:r>
              <a:rPr lang="tr-TR" dirty="0" err="1" smtClean="0"/>
              <a:t>permütasyon</a:t>
            </a:r>
            <a:r>
              <a:rPr lang="tr-TR" dirty="0" smtClean="0"/>
              <a:t> ağı)] kullanılarak yapılır.</a:t>
            </a:r>
          </a:p>
          <a:p>
            <a:r>
              <a:rPr lang="tr-TR" dirty="0" smtClean="0"/>
              <a:t>SPN yapısında açık metin girdi olarak verilir ve şifreli metin çıktı olarak alınır. Bu işlemin gerçekleşmesi için arada tur(</a:t>
            </a:r>
            <a:r>
              <a:rPr lang="tr-TR" dirty="0" err="1" smtClean="0"/>
              <a:t>round</a:t>
            </a:r>
            <a:r>
              <a:rPr lang="tr-TR" dirty="0" smtClean="0"/>
              <a:t>) bazlı birbirini tekrar eden işlemler kullanılır.</a:t>
            </a:r>
          </a:p>
        </p:txBody>
      </p:sp>
    </p:spTree>
    <p:extLst>
      <p:ext uri="{BB962C8B-B14F-4D97-AF65-F5344CB8AC3E}">
        <p14:creationId xmlns:p14="http://schemas.microsoft.com/office/powerpoint/2010/main" val="35255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pic>
        <p:nvPicPr>
          <p:cNvPr id="4" name="İçerik Yer Tutucusu 3"/>
          <p:cNvPicPr>
            <a:picLocks noGrp="1" noChangeAspect="1"/>
          </p:cNvPicPr>
          <p:nvPr>
            <p:ph idx="1"/>
          </p:nvPr>
        </p:nvPicPr>
        <p:blipFill>
          <a:blip r:embed="rId3"/>
          <a:stretch>
            <a:fillRect/>
          </a:stretch>
        </p:blipFill>
        <p:spPr>
          <a:xfrm>
            <a:off x="3258841" y="2249488"/>
            <a:ext cx="5674318" cy="4324350"/>
          </a:xfrm>
          <a:prstGeom prst="rect">
            <a:avLst/>
          </a:prstGeom>
        </p:spPr>
      </p:pic>
    </p:spTree>
    <p:extLst>
      <p:ext uri="{BB962C8B-B14F-4D97-AF65-F5344CB8AC3E}">
        <p14:creationId xmlns:p14="http://schemas.microsoft.com/office/powerpoint/2010/main" val="1809727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sp>
        <p:nvSpPr>
          <p:cNvPr id="6" name="İçerik Yer Tutucusu 5"/>
          <p:cNvSpPr>
            <a:spLocks noGrp="1"/>
          </p:cNvSpPr>
          <p:nvPr>
            <p:ph idx="1"/>
          </p:nvPr>
        </p:nvSpPr>
        <p:spPr/>
        <p:txBody>
          <a:bodyPr/>
          <a:lstStyle/>
          <a:p>
            <a:r>
              <a:rPr lang="tr-TR" dirty="0" smtClean="0"/>
              <a:t>Bu yöntemde anahtar sahip olduğu gizliliği açık metin üzerine öyle bir yığar ki açık metin artık anlaşılamaz bir hale gelir. Böylece açık metinde neredeyse anahtar gibi gizli bir hale gelmiş olur. Bunun için 2 özellik kullanılır. Bunlar:</a:t>
            </a:r>
          </a:p>
          <a:p>
            <a:pPr marL="624078" indent="-514350">
              <a:buFont typeface="+mj-lt"/>
              <a:buAutoNum type="arabicPeriod"/>
            </a:pPr>
            <a:r>
              <a:rPr lang="tr-TR" dirty="0" smtClean="0"/>
              <a:t>Karmaşıklık(</a:t>
            </a:r>
            <a:r>
              <a:rPr lang="tr-TR" dirty="0" err="1" smtClean="0"/>
              <a:t>confusion</a:t>
            </a:r>
            <a:r>
              <a:rPr lang="tr-TR" dirty="0" smtClean="0"/>
              <a:t>)</a:t>
            </a:r>
          </a:p>
          <a:p>
            <a:pPr marL="624078" indent="-514350">
              <a:buFont typeface="+mj-lt"/>
              <a:buAutoNum type="arabicPeriod"/>
            </a:pPr>
            <a:r>
              <a:rPr lang="tr-TR" dirty="0" smtClean="0"/>
              <a:t>Yayılma(</a:t>
            </a:r>
            <a:r>
              <a:rPr lang="tr-TR" dirty="0" err="1" smtClean="0"/>
              <a:t>diffusion</a:t>
            </a:r>
            <a:r>
              <a:rPr lang="tr-TR" dirty="0" smtClean="0"/>
              <a:t>)</a:t>
            </a:r>
          </a:p>
        </p:txBody>
      </p:sp>
    </p:spTree>
    <p:extLst>
      <p:ext uri="{BB962C8B-B14F-4D97-AF65-F5344CB8AC3E}">
        <p14:creationId xmlns:p14="http://schemas.microsoft.com/office/powerpoint/2010/main" val="2624350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sp>
        <p:nvSpPr>
          <p:cNvPr id="6" name="İçerik Yer Tutucusu 5"/>
          <p:cNvSpPr>
            <a:spLocks noGrp="1"/>
          </p:cNvSpPr>
          <p:nvPr>
            <p:ph idx="1"/>
          </p:nvPr>
        </p:nvSpPr>
        <p:spPr/>
        <p:txBody>
          <a:bodyPr/>
          <a:lstStyle/>
          <a:p>
            <a:r>
              <a:rPr lang="tr-TR" b="1" dirty="0" smtClean="0"/>
              <a:t>Karmaşıklık:</a:t>
            </a:r>
          </a:p>
          <a:p>
            <a:r>
              <a:rPr lang="tr-TR" dirty="0" smtClean="0"/>
              <a:t>Anahtardan bir bit değiştiğinde şifreli metin her bir biti %50 oranında değişir.</a:t>
            </a:r>
          </a:p>
          <a:p>
            <a:r>
              <a:rPr lang="tr-TR" dirty="0" smtClean="0"/>
              <a:t>Karmaşıklık az -&gt; Anahtar ile şifreli metin arasında ilişki belli</a:t>
            </a:r>
          </a:p>
          <a:p>
            <a:r>
              <a:rPr lang="tr-TR" dirty="0" smtClean="0"/>
              <a:t>Bu özelliği blok şifrelerde </a:t>
            </a:r>
            <a:r>
              <a:rPr lang="tr-TR" u="sng" dirty="0" smtClean="0"/>
              <a:t>S-kutuları</a:t>
            </a:r>
            <a:r>
              <a:rPr lang="tr-TR" dirty="0" smtClean="0"/>
              <a:t> sağlar.</a:t>
            </a:r>
          </a:p>
        </p:txBody>
      </p:sp>
    </p:spTree>
    <p:extLst>
      <p:ext uri="{BB962C8B-B14F-4D97-AF65-F5344CB8AC3E}">
        <p14:creationId xmlns:p14="http://schemas.microsoft.com/office/powerpoint/2010/main" val="4217156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sp>
        <p:nvSpPr>
          <p:cNvPr id="6" name="İçerik Yer Tutucusu 5"/>
          <p:cNvSpPr>
            <a:spLocks noGrp="1"/>
          </p:cNvSpPr>
          <p:nvPr>
            <p:ph idx="1"/>
          </p:nvPr>
        </p:nvSpPr>
        <p:spPr/>
        <p:txBody>
          <a:bodyPr/>
          <a:lstStyle/>
          <a:p>
            <a:r>
              <a:rPr lang="tr-TR" b="1" dirty="0" smtClean="0"/>
              <a:t>Yayılım:</a:t>
            </a:r>
          </a:p>
          <a:p>
            <a:r>
              <a:rPr lang="tr-TR" dirty="0" smtClean="0"/>
              <a:t>Açık metinden bir bit değiştiğinde şifreli metin her bir biti %50 oranında değişir.</a:t>
            </a:r>
          </a:p>
          <a:p>
            <a:r>
              <a:rPr lang="tr-TR" dirty="0" smtClean="0"/>
              <a:t>Yayılım az -&gt; Açık metin ile şifreli metin arasında ilişki belli</a:t>
            </a:r>
          </a:p>
          <a:p>
            <a:r>
              <a:rPr lang="tr-TR" dirty="0" smtClean="0"/>
              <a:t>Bu özelliği blok şifrelerde </a:t>
            </a:r>
            <a:r>
              <a:rPr lang="tr-TR" dirty="0" err="1" smtClean="0"/>
              <a:t>permutasyon</a:t>
            </a:r>
            <a:r>
              <a:rPr lang="tr-TR" dirty="0" smtClean="0"/>
              <a:t> fonksiyonları sağlar.</a:t>
            </a:r>
          </a:p>
        </p:txBody>
      </p:sp>
    </p:spTree>
    <p:extLst>
      <p:ext uri="{BB962C8B-B14F-4D97-AF65-F5344CB8AC3E}">
        <p14:creationId xmlns:p14="http://schemas.microsoft.com/office/powerpoint/2010/main" val="3621726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pic>
        <p:nvPicPr>
          <p:cNvPr id="3" name="İçerik Yer Tutucusu 2"/>
          <p:cNvPicPr>
            <a:picLocks noGrp="1" noChangeAspect="1"/>
          </p:cNvPicPr>
          <p:nvPr>
            <p:ph idx="1"/>
          </p:nvPr>
        </p:nvPicPr>
        <p:blipFill>
          <a:blip r:embed="rId3"/>
          <a:stretch>
            <a:fillRect/>
          </a:stretch>
        </p:blipFill>
        <p:spPr>
          <a:xfrm>
            <a:off x="3219146" y="2249488"/>
            <a:ext cx="5753707" cy="4324350"/>
          </a:xfrm>
          <a:prstGeom prst="rect">
            <a:avLst/>
          </a:prstGeom>
        </p:spPr>
      </p:pic>
    </p:spTree>
    <p:extLst>
      <p:ext uri="{BB962C8B-B14F-4D97-AF65-F5344CB8AC3E}">
        <p14:creationId xmlns:p14="http://schemas.microsoft.com/office/powerpoint/2010/main" val="149743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pic>
        <p:nvPicPr>
          <p:cNvPr id="5" name="İçerik Yer Tutucusu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15999" y="2249488"/>
            <a:ext cx="9960002" cy="4324350"/>
          </a:xfrm>
        </p:spPr>
      </p:pic>
    </p:spTree>
    <p:extLst>
      <p:ext uri="{BB962C8B-B14F-4D97-AF65-F5344CB8AC3E}">
        <p14:creationId xmlns:p14="http://schemas.microsoft.com/office/powerpoint/2010/main" val="3188360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pic>
        <p:nvPicPr>
          <p:cNvPr id="4" name="İçerik Yer Tutucusu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87863" y="2249488"/>
            <a:ext cx="9816274" cy="4324350"/>
          </a:xfrm>
        </p:spPr>
      </p:pic>
    </p:spTree>
    <p:extLst>
      <p:ext uri="{BB962C8B-B14F-4D97-AF65-F5344CB8AC3E}">
        <p14:creationId xmlns:p14="http://schemas.microsoft.com/office/powerpoint/2010/main" val="1611011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sp>
        <p:nvSpPr>
          <p:cNvPr id="6" name="İçerik Yer Tutucusu 5"/>
          <p:cNvSpPr>
            <a:spLocks noGrp="1"/>
          </p:cNvSpPr>
          <p:nvPr>
            <p:ph idx="1"/>
          </p:nvPr>
        </p:nvSpPr>
        <p:spPr/>
        <p:txBody>
          <a:bodyPr/>
          <a:lstStyle/>
          <a:p>
            <a:r>
              <a:rPr lang="tr-TR" dirty="0" smtClean="0"/>
              <a:t>Eğer blok şifrelerde kötü S kutuları kullanılırsa şifreleme için çok önemli bir kavram olan bilinmezlik(</a:t>
            </a:r>
            <a:r>
              <a:rPr lang="tr-TR" dirty="0" err="1" smtClean="0"/>
              <a:t>entropi</a:t>
            </a:r>
            <a:r>
              <a:rPr lang="tr-TR" dirty="0" smtClean="0"/>
              <a:t>) oldukça düşük olacaktır. Bu da temel olarak bir örüntü bulabilmeyi ve açık metin ile şifreli metin arasında bağlantıların bulunabileceği anlamına gelir.</a:t>
            </a:r>
          </a:p>
        </p:txBody>
      </p:sp>
    </p:spTree>
    <p:extLst>
      <p:ext uri="{BB962C8B-B14F-4D97-AF65-F5344CB8AC3E}">
        <p14:creationId xmlns:p14="http://schemas.microsoft.com/office/powerpoint/2010/main" val="1581653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pic>
        <p:nvPicPr>
          <p:cNvPr id="3" name="İçerik Yer Tutucusu 2"/>
          <p:cNvPicPr>
            <a:picLocks noGrp="1" noChangeAspect="1"/>
          </p:cNvPicPr>
          <p:nvPr>
            <p:ph idx="1"/>
          </p:nvPr>
        </p:nvPicPr>
        <p:blipFill>
          <a:blip r:embed="rId3"/>
          <a:stretch>
            <a:fillRect/>
          </a:stretch>
        </p:blipFill>
        <p:spPr>
          <a:xfrm>
            <a:off x="2373307" y="2876100"/>
            <a:ext cx="7445385" cy="3071126"/>
          </a:xfrm>
          <a:prstGeom prst="rect">
            <a:avLst/>
          </a:prstGeom>
        </p:spPr>
      </p:pic>
    </p:spTree>
    <p:extLst>
      <p:ext uri="{BB962C8B-B14F-4D97-AF65-F5344CB8AC3E}">
        <p14:creationId xmlns:p14="http://schemas.microsoft.com/office/powerpoint/2010/main" val="2938290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pic>
        <p:nvPicPr>
          <p:cNvPr id="3" name="İçerik Yer Tutucusu 2"/>
          <p:cNvPicPr>
            <a:picLocks noGrp="1" noChangeAspect="1"/>
          </p:cNvPicPr>
          <p:nvPr>
            <p:ph idx="1"/>
          </p:nvPr>
        </p:nvPicPr>
        <p:blipFill>
          <a:blip r:embed="rId3"/>
          <a:stretch>
            <a:fillRect/>
          </a:stretch>
        </p:blipFill>
        <p:spPr>
          <a:xfrm>
            <a:off x="3002483" y="2249488"/>
            <a:ext cx="6187034" cy="4324350"/>
          </a:xfrm>
          <a:prstGeom prst="rect">
            <a:avLst/>
          </a:prstGeom>
        </p:spPr>
      </p:pic>
    </p:spTree>
    <p:extLst>
      <p:ext uri="{BB962C8B-B14F-4D97-AF65-F5344CB8AC3E}">
        <p14:creationId xmlns:p14="http://schemas.microsoft.com/office/powerpoint/2010/main" val="104937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pic>
        <p:nvPicPr>
          <p:cNvPr id="5" name="İçerik Yer Tutucusu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39988" y="2249488"/>
            <a:ext cx="9112023" cy="4324350"/>
          </a:xfrm>
        </p:spPr>
      </p:pic>
    </p:spTree>
    <p:extLst>
      <p:ext uri="{BB962C8B-B14F-4D97-AF65-F5344CB8AC3E}">
        <p14:creationId xmlns:p14="http://schemas.microsoft.com/office/powerpoint/2010/main" val="4177713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pic>
        <p:nvPicPr>
          <p:cNvPr id="4" name="İçerik Yer Tutucusu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14389" y="2249488"/>
            <a:ext cx="7963221" cy="4324350"/>
          </a:xfrm>
        </p:spPr>
      </p:pic>
    </p:spTree>
    <p:extLst>
      <p:ext uri="{BB962C8B-B14F-4D97-AF65-F5344CB8AC3E}">
        <p14:creationId xmlns:p14="http://schemas.microsoft.com/office/powerpoint/2010/main" val="373924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sp>
        <p:nvSpPr>
          <p:cNvPr id="6" name="İçerik Yer Tutucusu 5"/>
          <p:cNvSpPr>
            <a:spLocks noGrp="1"/>
          </p:cNvSpPr>
          <p:nvPr>
            <p:ph idx="1"/>
          </p:nvPr>
        </p:nvSpPr>
        <p:spPr/>
        <p:txBody>
          <a:bodyPr/>
          <a:lstStyle/>
          <a:p>
            <a:r>
              <a:rPr lang="tr-TR" dirty="0" smtClean="0"/>
              <a:t>Blok şifreler girdi bitini oldukça uzağa fırlatmak(farklılaştırmak) için 2-3 turdan fazla tur içermelidir.</a:t>
            </a:r>
          </a:p>
          <a:p>
            <a:r>
              <a:rPr lang="tr-TR" dirty="0" smtClean="0"/>
              <a:t>Bu nedenle blok şifreleme ile şifreleyen DES 16 tur, AES ise 10 tur kullanır.</a:t>
            </a:r>
          </a:p>
        </p:txBody>
      </p:sp>
    </p:spTree>
    <p:extLst>
      <p:ext uri="{BB962C8B-B14F-4D97-AF65-F5344CB8AC3E}">
        <p14:creationId xmlns:p14="http://schemas.microsoft.com/office/powerpoint/2010/main" val="211459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sp>
        <p:nvSpPr>
          <p:cNvPr id="6" name="İçerik Yer Tutucusu 5"/>
          <p:cNvSpPr>
            <a:spLocks noGrp="1"/>
          </p:cNvSpPr>
          <p:nvPr>
            <p:ph idx="1"/>
          </p:nvPr>
        </p:nvSpPr>
        <p:spPr/>
        <p:txBody>
          <a:bodyPr/>
          <a:lstStyle/>
          <a:p>
            <a:r>
              <a:rPr lang="tr-TR" dirty="0" smtClean="0"/>
              <a:t>Blok Şifrelerin Özellikleri:</a:t>
            </a:r>
          </a:p>
          <a:p>
            <a:pPr marL="624078" indent="-514350">
              <a:buFont typeface="+mj-lt"/>
              <a:buAutoNum type="arabicPeriod"/>
            </a:pPr>
            <a:r>
              <a:rPr lang="tr-TR" dirty="0" smtClean="0"/>
              <a:t>Akan şifrelere göre yavaştır.</a:t>
            </a:r>
          </a:p>
          <a:p>
            <a:pPr marL="624078" indent="-514350">
              <a:buFont typeface="+mj-lt"/>
              <a:buAutoNum type="arabicPeriod"/>
            </a:pPr>
            <a:r>
              <a:rPr lang="tr-TR" dirty="0" smtClean="0"/>
              <a:t>Matematiği iyi çalışılmıştır.</a:t>
            </a:r>
          </a:p>
          <a:p>
            <a:pPr marL="624078" indent="-514350">
              <a:buFont typeface="+mj-lt"/>
              <a:buAutoNum type="arabicPeriod"/>
            </a:pPr>
            <a:r>
              <a:rPr lang="tr-TR" dirty="0" smtClean="0"/>
              <a:t>Hata yayılımı bir blok kadardır. DES 64 bit AES ise 128 bit şifreleme yapabilir. Bu durumda 10 GB’lık bir dosya şifrelemesi için DES kullanılırsa 64-64 AES kullanılırsa 128-128 şeklinde blok </a:t>
            </a:r>
            <a:r>
              <a:rPr lang="tr-TR" dirty="0" err="1" smtClean="0"/>
              <a:t>blok</a:t>
            </a:r>
            <a:r>
              <a:rPr lang="tr-TR" dirty="0" smtClean="0"/>
              <a:t> şifreleme yapılır. Herhangi bir hata durumunda 128 bitlik bir blok okunamaz hale gelebilir.</a:t>
            </a:r>
          </a:p>
          <a:p>
            <a:pPr marL="624078" indent="-514350">
              <a:buFont typeface="+mj-lt"/>
              <a:buAutoNum type="arabicPeriod"/>
            </a:pPr>
            <a:endParaRPr lang="tr-TR" dirty="0" smtClean="0"/>
          </a:p>
        </p:txBody>
      </p:sp>
    </p:spTree>
    <p:extLst>
      <p:ext uri="{BB962C8B-B14F-4D97-AF65-F5344CB8AC3E}">
        <p14:creationId xmlns:p14="http://schemas.microsoft.com/office/powerpoint/2010/main" val="2934325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BLOK ŞİFRELER</a:t>
            </a:r>
            <a:endParaRPr lang="tr-TR" dirty="0"/>
          </a:p>
        </p:txBody>
      </p:sp>
      <p:sp>
        <p:nvSpPr>
          <p:cNvPr id="6" name="İçerik Yer Tutucusu 5"/>
          <p:cNvSpPr>
            <a:spLocks noGrp="1"/>
          </p:cNvSpPr>
          <p:nvPr>
            <p:ph idx="1"/>
          </p:nvPr>
        </p:nvSpPr>
        <p:spPr/>
        <p:txBody>
          <a:bodyPr/>
          <a:lstStyle/>
          <a:p>
            <a:r>
              <a:rPr lang="tr-TR" dirty="0" smtClean="0"/>
              <a:t>Blok Şifrelerin Özellikleri:</a:t>
            </a:r>
          </a:p>
          <a:p>
            <a:pPr marL="624078" indent="-514350">
              <a:buFont typeface="+mj-lt"/>
              <a:buAutoNum type="arabicPeriod" startAt="4"/>
            </a:pPr>
            <a:r>
              <a:rPr lang="tr-TR" dirty="0" smtClean="0"/>
              <a:t>Anahtar yayılımı yüksektir. İyi blok şifreler 3-4 tur sonra yayılımı tüm şifreli metine ulaştırırlar. Hatta burada durmayıp devam ederler. Bu da açık metin ile şifreli metin arasındaki ilişkiyi çözmenin git gide zorlaşması anlamına gelir.</a:t>
            </a:r>
          </a:p>
          <a:p>
            <a:pPr marL="624078" indent="-514350">
              <a:buFont typeface="+mj-lt"/>
              <a:buAutoNum type="arabicPeriod" startAt="4"/>
            </a:pPr>
            <a:r>
              <a:rPr lang="tr-TR" dirty="0" smtClean="0"/>
              <a:t>Mesaj bütünlüğü sağlayabilir.</a:t>
            </a:r>
          </a:p>
          <a:p>
            <a:pPr marL="624078" indent="-514350">
              <a:buFont typeface="+mj-lt"/>
              <a:buAutoNum type="arabicPeriod" startAt="4"/>
            </a:pPr>
            <a:r>
              <a:rPr lang="tr-TR" dirty="0" smtClean="0"/>
              <a:t>Operasyon </a:t>
            </a:r>
            <a:r>
              <a:rPr lang="tr-TR" dirty="0" err="1" smtClean="0"/>
              <a:t>modlarına</a:t>
            </a:r>
            <a:r>
              <a:rPr lang="tr-TR" dirty="0" smtClean="0"/>
              <a:t> ihtiyaç duyar.</a:t>
            </a:r>
          </a:p>
          <a:p>
            <a:pPr marL="624078" indent="-514350">
              <a:buFont typeface="+mj-lt"/>
              <a:buAutoNum type="arabicPeriod" startAt="4"/>
            </a:pPr>
            <a:r>
              <a:rPr lang="tr-TR" dirty="0" smtClean="0"/>
              <a:t>Özet fonksiyonları ile ilgilidir.</a:t>
            </a:r>
          </a:p>
        </p:txBody>
      </p:sp>
    </p:spTree>
    <p:extLst>
      <p:ext uri="{BB962C8B-B14F-4D97-AF65-F5344CB8AC3E}">
        <p14:creationId xmlns:p14="http://schemas.microsoft.com/office/powerpoint/2010/main" val="842809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5310_TF03460604" id="{F6EFC989-8B6A-426D-8CC8-42909735A4A0}" vid="{6F0D95CE-7106-4C3E-8D98-EE1220DA24E4}"/>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1467</TotalTime>
  <Words>1075</Words>
  <Application>Microsoft Office PowerPoint</Application>
  <PresentationFormat>Geniş ekran</PresentationFormat>
  <Paragraphs>93</Paragraphs>
  <Slides>17</Slides>
  <Notes>17</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17</vt:i4>
      </vt:variant>
    </vt:vector>
  </HeadingPairs>
  <TitlesOfParts>
    <vt:vector size="22" baseType="lpstr">
      <vt:lpstr>Arial</vt:lpstr>
      <vt:lpstr>Calibri</vt:lpstr>
      <vt:lpstr>Georgia</vt:lpstr>
      <vt:lpstr>Wingdings 2</vt:lpstr>
      <vt:lpstr>Eğitim sunusu</vt:lpstr>
      <vt:lpstr>Ağ ve Bilişim Güvenliği</vt:lpstr>
      <vt:lpstr>BLOK ŞİFRELER</vt:lpstr>
      <vt:lpstr>BLOK ŞİFRELER</vt:lpstr>
      <vt:lpstr>BLOK ŞİFRELER</vt:lpstr>
      <vt:lpstr>BLOK ŞİFRELER</vt:lpstr>
      <vt:lpstr>BLOK ŞİFRELER</vt:lpstr>
      <vt:lpstr>BLOK ŞİFRELER</vt:lpstr>
      <vt:lpstr>BLOK ŞİFRELER</vt:lpstr>
      <vt:lpstr>BLOK ŞİFRELER</vt:lpstr>
      <vt:lpstr>BLOK ŞİFRELER</vt:lpstr>
      <vt:lpstr>BLOK ŞİFRELER</vt:lpstr>
      <vt:lpstr>BLOK ŞİFRELER</vt:lpstr>
      <vt:lpstr>BLOK ŞİFRELER</vt:lpstr>
      <vt:lpstr>BLOK ŞİFRELER</vt:lpstr>
      <vt:lpstr>BLOK ŞİFRELER</vt:lpstr>
      <vt:lpstr>BLOK ŞİFRELER</vt:lpstr>
      <vt:lpstr>BLOK ŞİFRELER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cp:lastModifiedBy>
  <cp:revision>251</cp:revision>
  <dcterms:created xsi:type="dcterms:W3CDTF">2023-12-09T09:03:26Z</dcterms:created>
  <dcterms:modified xsi:type="dcterms:W3CDTF">2025-01-08T11:01:03Z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