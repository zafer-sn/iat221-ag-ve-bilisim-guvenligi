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41"/>
  </p:notesMasterIdLst>
  <p:handoutMasterIdLst>
    <p:handoutMasterId r:id="rId42"/>
  </p:handoutMasterIdLst>
  <p:sldIdLst>
    <p:sldId id="257"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90" r:id="rId31"/>
    <p:sldId id="287" r:id="rId32"/>
    <p:sldId id="291" r:id="rId33"/>
    <p:sldId id="288" r:id="rId34"/>
    <p:sldId id="292" r:id="rId35"/>
    <p:sldId id="289" r:id="rId36"/>
    <p:sldId id="293" r:id="rId37"/>
    <p:sldId id="294" r:id="rId38"/>
    <p:sldId id="295" r:id="rId39"/>
    <p:sldId id="296" r:id="rId40"/>
  </p:sldIdLst>
  <p:sldSz cx="12192000" cy="6858000"/>
  <p:notesSz cx="6858000" cy="9144000"/>
  <p:defaultTextStyle>
    <a:defPPr rtl="0">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7296" userDrawn="1">
          <p15:clr>
            <a:srgbClr val="A4A3A4"/>
          </p15:clr>
        </p15:guide>
        <p15:guide id="4" orient="horz" pos="412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89911" autoAdjust="0"/>
  </p:normalViewPr>
  <p:slideViewPr>
    <p:cSldViewPr snapToGrid="0">
      <p:cViewPr varScale="1">
        <p:scale>
          <a:sx n="74" d="100"/>
          <a:sy n="74" d="100"/>
        </p:scale>
        <p:origin x="340" y="56"/>
      </p:cViewPr>
      <p:guideLst>
        <p:guide orient="horz" pos="2160"/>
        <p:guide pos="3840"/>
        <p:guide pos="7296"/>
        <p:guide orient="horz" pos="4128"/>
      </p:guideLst>
    </p:cSldViewPr>
  </p:slideViewPr>
  <p:notesTextViewPr>
    <p:cViewPr>
      <p:scale>
        <a:sx n="3" d="2"/>
        <a:sy n="3" d="2"/>
      </p:scale>
      <p:origin x="0" y="0"/>
    </p:cViewPr>
  </p:notesTextViewPr>
  <p:notesViewPr>
    <p:cSldViewPr snapToGrid="0" showGuides="1">
      <p:cViewPr varScale="1">
        <p:scale>
          <a:sx n="93" d="100"/>
          <a:sy n="93" d="100"/>
        </p:scale>
        <p:origin x="2874"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tr-TR" dirty="0"/>
          </a:p>
        </p:txBody>
      </p:sp>
      <p:sp>
        <p:nvSpPr>
          <p:cNvPr id="3" name="Tarih Yer Tutucusu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51FC8FC1-A1A8-42CB-96AC-83684F0DF578}" type="datetime1">
              <a:rPr lang="tr-TR" smtClean="0"/>
              <a:t>29.09.2026</a:t>
            </a:fld>
            <a:endParaRPr lang="tr-TR" dirty="0"/>
          </a:p>
        </p:txBody>
      </p:sp>
      <p:sp>
        <p:nvSpPr>
          <p:cNvPr id="4" name="Alt Bilgi Yer Tutucusu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tr-TR" dirty="0"/>
          </a:p>
        </p:txBody>
      </p:sp>
      <p:sp>
        <p:nvSpPr>
          <p:cNvPr id="5" name="Slayt Numarası Yer Tutucusu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4E50CC-F33A-4EF4-9F12-93EC4A21A0CF}" type="slidenum">
              <a:rPr lang="tr-TR" smtClean="0"/>
              <a:t>‹#›</a:t>
            </a:fld>
            <a:endParaRPr lang="tr-TR" dirty="0"/>
          </a:p>
        </p:txBody>
      </p:sp>
    </p:spTree>
    <p:extLst>
      <p:ext uri="{BB962C8B-B14F-4D97-AF65-F5344CB8AC3E}">
        <p14:creationId xmlns:p14="http://schemas.microsoft.com/office/powerpoint/2010/main" val="13232950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tr-TR" noProof="0" dirty="0"/>
          </a:p>
        </p:txBody>
      </p:sp>
      <p:sp>
        <p:nvSpPr>
          <p:cNvPr id="3" name="Tarih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E0653A-FB33-4975-A611-5D53C5C337D6}" type="datetime1">
              <a:rPr lang="tr-TR" smtClean="0"/>
              <a:pPr/>
              <a:t>29.09.2026</a:t>
            </a:fld>
            <a:endParaRPr lang="tr-TR" dirty="0"/>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tr-TR" noProof="0" dirty="0"/>
          </a:p>
        </p:txBody>
      </p:sp>
      <p:sp>
        <p:nvSpPr>
          <p:cNvPr id="5" name="Notlar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tr-TR" noProof="0" dirty="0"/>
              <a:t>Asıl metin stillerini düzenlemek için tıklayın</a:t>
            </a:r>
          </a:p>
          <a:p>
            <a:pPr lvl="1" rtl="0"/>
            <a:r>
              <a:rPr lang="tr-TR" noProof="0" dirty="0"/>
              <a:t>İkinci düzey</a:t>
            </a:r>
          </a:p>
          <a:p>
            <a:pPr lvl="2" rtl="0"/>
            <a:r>
              <a:rPr lang="tr-TR" noProof="0" dirty="0"/>
              <a:t>Üçüncü düzey</a:t>
            </a:r>
          </a:p>
          <a:p>
            <a:pPr lvl="3" rtl="0"/>
            <a:r>
              <a:rPr lang="tr-TR" noProof="0" dirty="0"/>
              <a:t>Dördüncü düzey</a:t>
            </a:r>
          </a:p>
          <a:p>
            <a:pPr lvl="4" rtl="0"/>
            <a:r>
              <a:rPr lang="tr-TR" noProof="0" dirty="0"/>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tr-TR" noProof="0" dirty="0"/>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32674CE4-FBD8-4481-AEFB-CA53E599A745}" type="slidenum">
              <a:rPr lang="tr-TR" noProof="0" smtClean="0"/>
              <a:t>‹#›</a:t>
            </a:fld>
            <a:endParaRPr lang="tr-TR" noProof="0" dirty="0"/>
          </a:p>
        </p:txBody>
      </p:sp>
    </p:spTree>
    <p:extLst>
      <p:ext uri="{BB962C8B-B14F-4D97-AF65-F5344CB8AC3E}">
        <p14:creationId xmlns:p14="http://schemas.microsoft.com/office/powerpoint/2010/main" val="1273268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rtl="0"/>
            <a:endParaRPr lang="tr-TR" dirty="0"/>
          </a:p>
        </p:txBody>
      </p:sp>
      <p:sp>
        <p:nvSpPr>
          <p:cNvPr id="4" name="Slayt Numarası Yer Tutucusu 3"/>
          <p:cNvSpPr>
            <a:spLocks noGrp="1"/>
          </p:cNvSpPr>
          <p:nvPr>
            <p:ph type="sldNum" sz="quarter" idx="10"/>
          </p:nvPr>
        </p:nvSpPr>
        <p:spPr/>
        <p:txBody>
          <a:bodyPr rtlCol="0"/>
          <a:lstStyle/>
          <a:p>
            <a:pPr rtl="0"/>
            <a:fld id="{32674CE4-FBD8-4481-AEFB-CA53E599A745}" type="slidenum">
              <a:rPr lang="tr-TR" smtClean="0"/>
              <a:t>1</a:t>
            </a:fld>
            <a:endParaRPr lang="tr-TR" dirty="0"/>
          </a:p>
        </p:txBody>
      </p:sp>
    </p:spTree>
    <p:extLst>
      <p:ext uri="{BB962C8B-B14F-4D97-AF65-F5344CB8AC3E}">
        <p14:creationId xmlns:p14="http://schemas.microsoft.com/office/powerpoint/2010/main" val="2147974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a:t>
            </a:fld>
            <a:endParaRPr lang="tr-TR" dirty="0"/>
          </a:p>
        </p:txBody>
      </p:sp>
    </p:spTree>
    <p:extLst>
      <p:ext uri="{BB962C8B-B14F-4D97-AF65-F5344CB8AC3E}">
        <p14:creationId xmlns:p14="http://schemas.microsoft.com/office/powerpoint/2010/main" val="5866582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3</a:t>
            </a:fld>
            <a:endParaRPr lang="tr-TR" dirty="0"/>
          </a:p>
        </p:txBody>
      </p:sp>
    </p:spTree>
    <p:extLst>
      <p:ext uri="{BB962C8B-B14F-4D97-AF65-F5344CB8AC3E}">
        <p14:creationId xmlns:p14="http://schemas.microsoft.com/office/powerpoint/2010/main" val="25395932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4</a:t>
            </a:fld>
            <a:endParaRPr lang="tr-TR" dirty="0"/>
          </a:p>
        </p:txBody>
      </p:sp>
    </p:spTree>
    <p:extLst>
      <p:ext uri="{BB962C8B-B14F-4D97-AF65-F5344CB8AC3E}">
        <p14:creationId xmlns:p14="http://schemas.microsoft.com/office/powerpoint/2010/main" val="2500633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5</a:t>
            </a:fld>
            <a:endParaRPr lang="tr-TR" dirty="0"/>
          </a:p>
        </p:txBody>
      </p:sp>
    </p:spTree>
    <p:extLst>
      <p:ext uri="{BB962C8B-B14F-4D97-AF65-F5344CB8AC3E}">
        <p14:creationId xmlns:p14="http://schemas.microsoft.com/office/powerpoint/2010/main" val="37889350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6</a:t>
            </a:fld>
            <a:endParaRPr lang="tr-TR" dirty="0"/>
          </a:p>
        </p:txBody>
      </p:sp>
    </p:spTree>
    <p:extLst>
      <p:ext uri="{BB962C8B-B14F-4D97-AF65-F5344CB8AC3E}">
        <p14:creationId xmlns:p14="http://schemas.microsoft.com/office/powerpoint/2010/main" val="20918313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7</a:t>
            </a:fld>
            <a:endParaRPr lang="tr-TR" dirty="0"/>
          </a:p>
        </p:txBody>
      </p:sp>
    </p:spTree>
    <p:extLst>
      <p:ext uri="{BB962C8B-B14F-4D97-AF65-F5344CB8AC3E}">
        <p14:creationId xmlns:p14="http://schemas.microsoft.com/office/powerpoint/2010/main" val="9421893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8</a:t>
            </a:fld>
            <a:endParaRPr lang="tr-TR" dirty="0"/>
          </a:p>
        </p:txBody>
      </p:sp>
    </p:spTree>
    <p:extLst>
      <p:ext uri="{BB962C8B-B14F-4D97-AF65-F5344CB8AC3E}">
        <p14:creationId xmlns:p14="http://schemas.microsoft.com/office/powerpoint/2010/main" val="32208262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9</a:t>
            </a:fld>
            <a:endParaRPr lang="tr-TR" dirty="0"/>
          </a:p>
        </p:txBody>
      </p:sp>
    </p:spTree>
    <p:extLst>
      <p:ext uri="{BB962C8B-B14F-4D97-AF65-F5344CB8AC3E}">
        <p14:creationId xmlns:p14="http://schemas.microsoft.com/office/powerpoint/2010/main" val="8632389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10</a:t>
            </a:fld>
            <a:endParaRPr lang="tr-TR" dirty="0"/>
          </a:p>
        </p:txBody>
      </p:sp>
    </p:spTree>
    <p:extLst>
      <p:ext uri="{BB962C8B-B14F-4D97-AF65-F5344CB8AC3E}">
        <p14:creationId xmlns:p14="http://schemas.microsoft.com/office/powerpoint/2010/main" val="39350048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11</a:t>
            </a:fld>
            <a:endParaRPr lang="tr-TR" dirty="0"/>
          </a:p>
        </p:txBody>
      </p:sp>
    </p:spTree>
    <p:extLst>
      <p:ext uri="{BB962C8B-B14F-4D97-AF65-F5344CB8AC3E}">
        <p14:creationId xmlns:p14="http://schemas.microsoft.com/office/powerpoint/2010/main" val="13059956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12</a:t>
            </a:fld>
            <a:endParaRPr lang="tr-TR" dirty="0"/>
          </a:p>
        </p:txBody>
      </p:sp>
    </p:spTree>
    <p:extLst>
      <p:ext uri="{BB962C8B-B14F-4D97-AF65-F5344CB8AC3E}">
        <p14:creationId xmlns:p14="http://schemas.microsoft.com/office/powerpoint/2010/main" val="28278245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13</a:t>
            </a:fld>
            <a:endParaRPr lang="tr-TR" dirty="0"/>
          </a:p>
        </p:txBody>
      </p:sp>
    </p:spTree>
    <p:extLst>
      <p:ext uri="{BB962C8B-B14F-4D97-AF65-F5344CB8AC3E}">
        <p14:creationId xmlns:p14="http://schemas.microsoft.com/office/powerpoint/2010/main" val="12446870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14</a:t>
            </a:fld>
            <a:endParaRPr lang="tr-TR" dirty="0"/>
          </a:p>
        </p:txBody>
      </p:sp>
    </p:spTree>
    <p:extLst>
      <p:ext uri="{BB962C8B-B14F-4D97-AF65-F5344CB8AC3E}">
        <p14:creationId xmlns:p14="http://schemas.microsoft.com/office/powerpoint/2010/main" val="11555953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15</a:t>
            </a:fld>
            <a:endParaRPr lang="tr-TR" dirty="0"/>
          </a:p>
        </p:txBody>
      </p:sp>
    </p:spTree>
    <p:extLst>
      <p:ext uri="{BB962C8B-B14F-4D97-AF65-F5344CB8AC3E}">
        <p14:creationId xmlns:p14="http://schemas.microsoft.com/office/powerpoint/2010/main" val="30388133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16</a:t>
            </a:fld>
            <a:endParaRPr lang="tr-TR" dirty="0"/>
          </a:p>
        </p:txBody>
      </p:sp>
    </p:spTree>
    <p:extLst>
      <p:ext uri="{BB962C8B-B14F-4D97-AF65-F5344CB8AC3E}">
        <p14:creationId xmlns:p14="http://schemas.microsoft.com/office/powerpoint/2010/main" val="12368042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17</a:t>
            </a:fld>
            <a:endParaRPr lang="tr-TR" dirty="0"/>
          </a:p>
        </p:txBody>
      </p:sp>
    </p:spTree>
    <p:extLst>
      <p:ext uri="{BB962C8B-B14F-4D97-AF65-F5344CB8AC3E}">
        <p14:creationId xmlns:p14="http://schemas.microsoft.com/office/powerpoint/2010/main" val="17654432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18</a:t>
            </a:fld>
            <a:endParaRPr lang="tr-TR" dirty="0"/>
          </a:p>
        </p:txBody>
      </p:sp>
    </p:spTree>
    <p:extLst>
      <p:ext uri="{BB962C8B-B14F-4D97-AF65-F5344CB8AC3E}">
        <p14:creationId xmlns:p14="http://schemas.microsoft.com/office/powerpoint/2010/main" val="5646467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19</a:t>
            </a:fld>
            <a:endParaRPr lang="tr-TR" dirty="0"/>
          </a:p>
        </p:txBody>
      </p:sp>
    </p:spTree>
    <p:extLst>
      <p:ext uri="{BB962C8B-B14F-4D97-AF65-F5344CB8AC3E}">
        <p14:creationId xmlns:p14="http://schemas.microsoft.com/office/powerpoint/2010/main" val="14272357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20</a:t>
            </a:fld>
            <a:endParaRPr lang="tr-TR" dirty="0"/>
          </a:p>
        </p:txBody>
      </p:sp>
    </p:spTree>
    <p:extLst>
      <p:ext uri="{BB962C8B-B14F-4D97-AF65-F5344CB8AC3E}">
        <p14:creationId xmlns:p14="http://schemas.microsoft.com/office/powerpoint/2010/main" val="29815912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21</a:t>
            </a:fld>
            <a:endParaRPr lang="tr-TR" dirty="0"/>
          </a:p>
        </p:txBody>
      </p:sp>
    </p:spTree>
    <p:extLst>
      <p:ext uri="{BB962C8B-B14F-4D97-AF65-F5344CB8AC3E}">
        <p14:creationId xmlns:p14="http://schemas.microsoft.com/office/powerpoint/2010/main" val="16294790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22</a:t>
            </a:fld>
            <a:endParaRPr lang="tr-TR" dirty="0"/>
          </a:p>
        </p:txBody>
      </p:sp>
    </p:spTree>
    <p:extLst>
      <p:ext uri="{BB962C8B-B14F-4D97-AF65-F5344CB8AC3E}">
        <p14:creationId xmlns:p14="http://schemas.microsoft.com/office/powerpoint/2010/main" val="26470954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23</a:t>
            </a:fld>
            <a:endParaRPr lang="tr-TR" dirty="0"/>
          </a:p>
        </p:txBody>
      </p:sp>
    </p:spTree>
    <p:extLst>
      <p:ext uri="{BB962C8B-B14F-4D97-AF65-F5344CB8AC3E}">
        <p14:creationId xmlns:p14="http://schemas.microsoft.com/office/powerpoint/2010/main" val="41879011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24</a:t>
            </a:fld>
            <a:endParaRPr lang="tr-TR" dirty="0"/>
          </a:p>
        </p:txBody>
      </p:sp>
    </p:spTree>
    <p:extLst>
      <p:ext uri="{BB962C8B-B14F-4D97-AF65-F5344CB8AC3E}">
        <p14:creationId xmlns:p14="http://schemas.microsoft.com/office/powerpoint/2010/main" val="31691887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25</a:t>
            </a:fld>
            <a:endParaRPr lang="tr-TR" dirty="0"/>
          </a:p>
        </p:txBody>
      </p:sp>
    </p:spTree>
    <p:extLst>
      <p:ext uri="{BB962C8B-B14F-4D97-AF65-F5344CB8AC3E}">
        <p14:creationId xmlns:p14="http://schemas.microsoft.com/office/powerpoint/2010/main" val="40658420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26</a:t>
            </a:fld>
            <a:endParaRPr lang="tr-TR" dirty="0"/>
          </a:p>
        </p:txBody>
      </p:sp>
    </p:spTree>
    <p:extLst>
      <p:ext uri="{BB962C8B-B14F-4D97-AF65-F5344CB8AC3E}">
        <p14:creationId xmlns:p14="http://schemas.microsoft.com/office/powerpoint/2010/main" val="25565050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27</a:t>
            </a:fld>
            <a:endParaRPr lang="tr-TR" dirty="0"/>
          </a:p>
        </p:txBody>
      </p:sp>
    </p:spTree>
    <p:extLst>
      <p:ext uri="{BB962C8B-B14F-4D97-AF65-F5344CB8AC3E}">
        <p14:creationId xmlns:p14="http://schemas.microsoft.com/office/powerpoint/2010/main" val="6714517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28</a:t>
            </a:fld>
            <a:endParaRPr lang="tr-TR" dirty="0"/>
          </a:p>
        </p:txBody>
      </p:sp>
    </p:spTree>
    <p:extLst>
      <p:ext uri="{BB962C8B-B14F-4D97-AF65-F5344CB8AC3E}">
        <p14:creationId xmlns:p14="http://schemas.microsoft.com/office/powerpoint/2010/main" val="13843322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29</a:t>
            </a:fld>
            <a:endParaRPr lang="tr-TR" dirty="0"/>
          </a:p>
        </p:txBody>
      </p:sp>
    </p:spTree>
    <p:extLst>
      <p:ext uri="{BB962C8B-B14F-4D97-AF65-F5344CB8AC3E}">
        <p14:creationId xmlns:p14="http://schemas.microsoft.com/office/powerpoint/2010/main" val="17315196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30</a:t>
            </a:fld>
            <a:endParaRPr lang="tr-TR" dirty="0"/>
          </a:p>
        </p:txBody>
      </p:sp>
    </p:spTree>
    <p:extLst>
      <p:ext uri="{BB962C8B-B14F-4D97-AF65-F5344CB8AC3E}">
        <p14:creationId xmlns:p14="http://schemas.microsoft.com/office/powerpoint/2010/main" val="27307392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31</a:t>
            </a:fld>
            <a:endParaRPr lang="tr-TR" dirty="0"/>
          </a:p>
        </p:txBody>
      </p:sp>
    </p:spTree>
    <p:extLst>
      <p:ext uri="{BB962C8B-B14F-4D97-AF65-F5344CB8AC3E}">
        <p14:creationId xmlns:p14="http://schemas.microsoft.com/office/powerpoint/2010/main" val="30399036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32</a:t>
            </a:fld>
            <a:endParaRPr lang="tr-TR" dirty="0"/>
          </a:p>
        </p:txBody>
      </p:sp>
    </p:spTree>
    <p:extLst>
      <p:ext uri="{BB962C8B-B14F-4D97-AF65-F5344CB8AC3E}">
        <p14:creationId xmlns:p14="http://schemas.microsoft.com/office/powerpoint/2010/main" val="37410160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33</a:t>
            </a:fld>
            <a:endParaRPr lang="tr-TR" dirty="0"/>
          </a:p>
        </p:txBody>
      </p:sp>
    </p:spTree>
    <p:extLst>
      <p:ext uri="{BB962C8B-B14F-4D97-AF65-F5344CB8AC3E}">
        <p14:creationId xmlns:p14="http://schemas.microsoft.com/office/powerpoint/2010/main" val="12332489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34</a:t>
            </a:fld>
            <a:endParaRPr lang="tr-TR" dirty="0"/>
          </a:p>
        </p:txBody>
      </p:sp>
    </p:spTree>
    <p:extLst>
      <p:ext uri="{BB962C8B-B14F-4D97-AF65-F5344CB8AC3E}">
        <p14:creationId xmlns:p14="http://schemas.microsoft.com/office/powerpoint/2010/main" val="34931170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35</a:t>
            </a:fld>
            <a:endParaRPr lang="tr-TR" dirty="0"/>
          </a:p>
        </p:txBody>
      </p:sp>
    </p:spTree>
    <p:extLst>
      <p:ext uri="{BB962C8B-B14F-4D97-AF65-F5344CB8AC3E}">
        <p14:creationId xmlns:p14="http://schemas.microsoft.com/office/powerpoint/2010/main" val="18559163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36</a:t>
            </a:fld>
            <a:endParaRPr lang="tr-TR" dirty="0"/>
          </a:p>
        </p:txBody>
      </p:sp>
    </p:spTree>
    <p:extLst>
      <p:ext uri="{BB962C8B-B14F-4D97-AF65-F5344CB8AC3E}">
        <p14:creationId xmlns:p14="http://schemas.microsoft.com/office/powerpoint/2010/main" val="29560884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37</a:t>
            </a:fld>
            <a:endParaRPr lang="tr-TR" dirty="0"/>
          </a:p>
        </p:txBody>
      </p:sp>
    </p:spTree>
    <p:extLst>
      <p:ext uri="{BB962C8B-B14F-4D97-AF65-F5344CB8AC3E}">
        <p14:creationId xmlns:p14="http://schemas.microsoft.com/office/powerpoint/2010/main" val="7397596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38</a:t>
            </a:fld>
            <a:endParaRPr lang="tr-TR" dirty="0"/>
          </a:p>
        </p:txBody>
      </p:sp>
    </p:spTree>
    <p:extLst>
      <p:ext uri="{BB962C8B-B14F-4D97-AF65-F5344CB8AC3E}">
        <p14:creationId xmlns:p14="http://schemas.microsoft.com/office/powerpoint/2010/main" val="29939844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lar Yer Tutucusu 2"/>
          <p:cNvSpPr>
            <a:spLocks noGrp="1"/>
          </p:cNvSpPr>
          <p:nvPr>
            <p:ph type="body" idx="1"/>
          </p:nvPr>
        </p:nvSpPr>
        <p:spPr/>
        <p:txBody>
          <a:bodyPr rtlCol="0"/>
          <a:lstStyle/>
          <a:p>
            <a:pPr marL="171450" indent="-171450" rtl="0">
              <a:buFont typeface="Arial" panose="020B0604020202020204" pitchFamily="34" charset="0"/>
              <a:buChar char="•"/>
            </a:pPr>
            <a:r>
              <a:rPr lang="tr-TR" dirty="0"/>
              <a:t>Sununun izleyicilere sağlayacağı faydalar: Yetişkin kişiler, konunun onlar için neden önem taşıdığını bildiklerinde konuya daha fazla ilgi gösterir.</a:t>
            </a:r>
          </a:p>
          <a:p>
            <a:pPr marL="171450" indent="-171450" rtl="0">
              <a:buFont typeface="Arial" panose="020B0604020202020204" pitchFamily="34" charset="0"/>
              <a:buChar char="•"/>
            </a:pPr>
            <a:r>
              <a:rPr lang="tr-TR" dirty="0"/>
              <a:t>Sunucunun konuya dair uzmanlık düzeyi: Bu alandaki yeterliliğinizi kısaca açıklayın veya katılımcıların neden sizi dinlemesi gerektiğini ifade edin.</a:t>
            </a:r>
          </a:p>
        </p:txBody>
      </p:sp>
      <p:sp>
        <p:nvSpPr>
          <p:cNvPr id="4" name="Slayt Numarası Yer Tutucusu 3"/>
          <p:cNvSpPr>
            <a:spLocks noGrp="1"/>
          </p:cNvSpPr>
          <p:nvPr>
            <p:ph type="sldNum" sz="quarter" idx="10"/>
          </p:nvPr>
        </p:nvSpPr>
        <p:spPr/>
        <p:txBody>
          <a:bodyPr rtlCol="0"/>
          <a:lstStyle/>
          <a:p>
            <a:pPr rtl="0"/>
            <a:fld id="{CF2FD335-6D8E-486A-8F5F-DFC7325903FF}" type="slidenum">
              <a:rPr lang="tr-TR" smtClean="0"/>
              <a:t>39</a:t>
            </a:fld>
            <a:endParaRPr lang="tr-TR" dirty="0"/>
          </a:p>
        </p:txBody>
      </p:sp>
    </p:spTree>
    <p:extLst>
      <p:ext uri="{BB962C8B-B14F-4D97-AF65-F5344CB8AC3E}">
        <p14:creationId xmlns:p14="http://schemas.microsoft.com/office/powerpoint/2010/main" val="6624931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19" name="Dikdörtgen 18"/>
          <p:cNvSpPr/>
          <p:nvPr/>
        </p:nvSpPr>
        <p:spPr>
          <a:xfrm>
            <a:off x="0" y="0"/>
            <a:ext cx="12192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3" name="Dikdörtgen 22"/>
          <p:cNvSpPr/>
          <p:nvPr/>
        </p:nvSpPr>
        <p:spPr>
          <a:xfrm flipV="1">
            <a:off x="7213577" y="3810001"/>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4" name="Dikdörtgen 23"/>
          <p:cNvSpPr/>
          <p:nvPr/>
        </p:nvSpPr>
        <p:spPr>
          <a:xfrm flipV="1">
            <a:off x="7213601" y="3897010"/>
            <a:ext cx="49784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5" name="Dikdörtgen 24"/>
          <p:cNvSpPr/>
          <p:nvPr/>
        </p:nvSpPr>
        <p:spPr>
          <a:xfrm flipV="1">
            <a:off x="7213601" y="4115167"/>
            <a:ext cx="49784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6" name="Dikdörtgen 25"/>
          <p:cNvSpPr/>
          <p:nvPr/>
        </p:nvSpPr>
        <p:spPr>
          <a:xfrm flipV="1">
            <a:off x="7213600" y="4164403"/>
            <a:ext cx="262128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7" name="Dikdörtgen 26"/>
          <p:cNvSpPr/>
          <p:nvPr/>
        </p:nvSpPr>
        <p:spPr>
          <a:xfrm flipV="1">
            <a:off x="7213600" y="4199572"/>
            <a:ext cx="262128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0" name="Yuvarlatılmış Dikdörtgen 29"/>
          <p:cNvSpPr/>
          <p:nvPr/>
        </p:nvSpPr>
        <p:spPr bwMode="white">
          <a:xfrm>
            <a:off x="7213600" y="3962400"/>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1" name="Yuvarlatılmış Dikdörtgen 30"/>
          <p:cNvSpPr/>
          <p:nvPr/>
        </p:nvSpPr>
        <p:spPr bwMode="white">
          <a:xfrm>
            <a:off x="9835343" y="406098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7" name="Dikdörtgen 6"/>
          <p:cNvSpPr/>
          <p:nvPr/>
        </p:nvSpPr>
        <p:spPr>
          <a:xfrm>
            <a:off x="1" y="3649662"/>
            <a:ext cx="12192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10" name="Dikdörtgen 9"/>
          <p:cNvSpPr/>
          <p:nvPr/>
        </p:nvSpPr>
        <p:spPr>
          <a:xfrm>
            <a:off x="1" y="3675528"/>
            <a:ext cx="12192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11" name="Dikdörtgen 10"/>
          <p:cNvSpPr/>
          <p:nvPr/>
        </p:nvSpPr>
        <p:spPr>
          <a:xfrm flipV="1">
            <a:off x="8552068" y="3643090"/>
            <a:ext cx="3639933"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8" name="Başlık 7"/>
          <p:cNvSpPr>
            <a:spLocks noGrp="1"/>
          </p:cNvSpPr>
          <p:nvPr>
            <p:ph type="ctrTitle"/>
          </p:nvPr>
        </p:nvSpPr>
        <p:spPr>
          <a:xfrm>
            <a:off x="609600" y="2389009"/>
            <a:ext cx="11277600" cy="1470025"/>
          </a:xfrm>
        </p:spPr>
        <p:txBody>
          <a:bodyPr rtlCol="0" anchor="b"/>
          <a:lstStyle>
            <a:lvl1pPr>
              <a:defRPr sz="4400">
                <a:solidFill>
                  <a:schemeClr val="bg1"/>
                </a:solidFill>
              </a:defRPr>
            </a:lvl1pPr>
          </a:lstStyle>
          <a:p>
            <a:pPr rtl="0"/>
            <a:r>
              <a:rPr lang="tr-TR" noProof="0"/>
              <a:t>Asıl başlık stili için tıklatın</a:t>
            </a:r>
            <a:endParaRPr lang="tr-TR" noProof="0" dirty="0"/>
          </a:p>
        </p:txBody>
      </p:sp>
      <p:sp>
        <p:nvSpPr>
          <p:cNvPr id="9" name="Alt Başlık 8"/>
          <p:cNvSpPr>
            <a:spLocks noGrp="1"/>
          </p:cNvSpPr>
          <p:nvPr>
            <p:ph type="subTitle" idx="1"/>
          </p:nvPr>
        </p:nvSpPr>
        <p:spPr>
          <a:xfrm>
            <a:off x="609600" y="3899938"/>
            <a:ext cx="6604000" cy="1752600"/>
          </a:xfrm>
        </p:spPr>
        <p:txBody>
          <a:bodyPr rtlCol="0"/>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rtl="0"/>
            <a:r>
              <a:rPr lang="tr-TR" noProof="0"/>
              <a:t>Asıl alt başlık stilini düzenlemek için tıklayın</a:t>
            </a:r>
            <a:endParaRPr lang="tr-TR" noProof="0" dirty="0"/>
          </a:p>
        </p:txBody>
      </p:sp>
      <p:sp>
        <p:nvSpPr>
          <p:cNvPr id="17" name="Alt Bilgi Yer Tutucusu 16"/>
          <p:cNvSpPr>
            <a:spLocks noGrp="1"/>
          </p:cNvSpPr>
          <p:nvPr>
            <p:ph type="ftr" sz="quarter" idx="11"/>
          </p:nvPr>
        </p:nvSpPr>
        <p:spPr>
          <a:xfrm>
            <a:off x="7265116" y="4205288"/>
            <a:ext cx="1727200" cy="457200"/>
          </a:xfrm>
        </p:spPr>
        <p:txBody>
          <a:bodyPr rtlCol="0"/>
          <a:lstStyle>
            <a:lvl1pPr>
              <a:defRPr>
                <a:solidFill>
                  <a:schemeClr val="accent2">
                    <a:lumMod val="75000"/>
                  </a:schemeClr>
                </a:solidFill>
              </a:defRPr>
            </a:lvl1pPr>
          </a:lstStyle>
          <a:p>
            <a:pPr rtl="0"/>
            <a:r>
              <a:rPr lang="tr-TR" noProof="0" dirty="0"/>
              <a:t>Alt bilgi ekleme</a:t>
            </a:r>
          </a:p>
        </p:txBody>
      </p:sp>
      <p:sp>
        <p:nvSpPr>
          <p:cNvPr id="28" name="Tarih Yer Tutucusu 27"/>
          <p:cNvSpPr>
            <a:spLocks noGrp="1"/>
          </p:cNvSpPr>
          <p:nvPr>
            <p:ph type="dt" sz="half" idx="10"/>
          </p:nvPr>
        </p:nvSpPr>
        <p:spPr>
          <a:xfrm>
            <a:off x="9043832" y="4206240"/>
            <a:ext cx="1280160" cy="457200"/>
          </a:xfrm>
        </p:spPr>
        <p:txBody>
          <a:bodyPr rtlCol="0"/>
          <a:lstStyle>
            <a:lvl1pPr>
              <a:defRPr>
                <a:solidFill>
                  <a:schemeClr val="accent2">
                    <a:lumMod val="75000"/>
                  </a:schemeClr>
                </a:solidFill>
              </a:defRPr>
            </a:lvl1pPr>
          </a:lstStyle>
          <a:p>
            <a:fld id="{E8609038-EC1C-40A6-91EB-4A3D73CE9547}" type="datetime1">
              <a:rPr lang="tr-TR" smtClean="0"/>
              <a:pPr/>
              <a:t>29.09.2026</a:t>
            </a:fld>
            <a:endParaRPr lang="tr-TR" dirty="0"/>
          </a:p>
        </p:txBody>
      </p:sp>
      <p:sp>
        <p:nvSpPr>
          <p:cNvPr id="29" name="Slayt Numarası Yer Tutucusu 28"/>
          <p:cNvSpPr>
            <a:spLocks noGrp="1"/>
          </p:cNvSpPr>
          <p:nvPr>
            <p:ph type="sldNum" sz="quarter" idx="12"/>
          </p:nvPr>
        </p:nvSpPr>
        <p:spPr>
          <a:xfrm>
            <a:off x="11093451" y="1136"/>
            <a:ext cx="996949" cy="365760"/>
          </a:xfrm>
        </p:spPr>
        <p:txBody>
          <a:bodyPr rtlCol="0"/>
          <a:lstStyle>
            <a:lvl1pPr algn="r">
              <a:defRPr sz="1800">
                <a:solidFill>
                  <a:schemeClr val="bg1"/>
                </a:solidFill>
              </a:defRPr>
            </a:lvl1pPr>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601152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noProof="0"/>
              <a:t>Asıl başlık stili için tıklatın</a:t>
            </a:r>
            <a:endParaRPr lang="tr-TR" noProof="0" dirty="0"/>
          </a:p>
        </p:txBody>
      </p:sp>
      <p:sp>
        <p:nvSpPr>
          <p:cNvPr id="3" name="İçerik Yer Tutucusu 2"/>
          <p:cNvSpPr>
            <a:spLocks noGrp="1"/>
          </p:cNvSpPr>
          <p:nvPr>
            <p:ph idx="1"/>
          </p:nvPr>
        </p:nvSpPr>
        <p:spPr/>
        <p:txBody>
          <a:bodyPr rtlCol="0"/>
          <a:lstStyle>
            <a:lvl1pPr>
              <a:defRPr/>
            </a:lvl1pPr>
            <a:lvl5pPr>
              <a:defRPr/>
            </a:lvl5pPr>
            <a:lvl6pPr>
              <a:defRPr/>
            </a:lvl6pPr>
          </a:lstStyle>
          <a:p>
            <a:pPr lvl="0" rtl="0" eaLnBrk="1" latinLnBrk="0" hangingPunct="1"/>
            <a:r>
              <a:rPr lang="tr-TR" noProof="0"/>
              <a:t>Asıl metin stillerini düzenle</a:t>
            </a:r>
          </a:p>
          <a:p>
            <a:pPr lvl="1" rtl="0" eaLnBrk="1" latinLnBrk="0" hangingPunct="1"/>
            <a:r>
              <a:rPr lang="tr-TR" noProof="0"/>
              <a:t>İkinci düzey</a:t>
            </a:r>
          </a:p>
          <a:p>
            <a:pPr lvl="2" rtl="0" eaLnBrk="1" latinLnBrk="0" hangingPunct="1"/>
            <a:r>
              <a:rPr lang="tr-TR" noProof="0"/>
              <a:t>Üçüncü düzey</a:t>
            </a:r>
          </a:p>
          <a:p>
            <a:pPr lvl="3" rtl="0" eaLnBrk="1" latinLnBrk="0" hangingPunct="1"/>
            <a:r>
              <a:rPr lang="tr-TR" noProof="0"/>
              <a:t>Dördüncü düzey</a:t>
            </a:r>
          </a:p>
          <a:p>
            <a:pPr lvl="4" rtl="0" eaLnBrk="1" latinLnBrk="0" hangingPunct="1"/>
            <a:r>
              <a:rPr lang="tr-TR" noProof="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p>
        </p:txBody>
      </p:sp>
      <p:sp>
        <p:nvSpPr>
          <p:cNvPr id="4" name="Tarih Yer Tutucusu 3"/>
          <p:cNvSpPr>
            <a:spLocks noGrp="1"/>
          </p:cNvSpPr>
          <p:nvPr>
            <p:ph type="dt" sz="half" idx="10"/>
          </p:nvPr>
        </p:nvSpPr>
        <p:spPr/>
        <p:txBody>
          <a:bodyPr rtlCol="0"/>
          <a:lstStyle>
            <a:lvl1pPr>
              <a:defRPr/>
            </a:lvl1pPr>
          </a:lstStyle>
          <a:p>
            <a:fld id="{46610F96-FFD0-4BC1-86F0-D957A2A4B8C7}" type="datetime1">
              <a:rPr lang="tr-TR" smtClean="0"/>
              <a:pPr/>
              <a:t>29.09.2026</a:t>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594303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p:cNvSpPr>
            <a:spLocks noGrp="1"/>
          </p:cNvSpPr>
          <p:nvPr>
            <p:ph type="title"/>
          </p:nvPr>
        </p:nvSpPr>
        <p:spPr>
          <a:xfrm>
            <a:off x="963084" y="1968322"/>
            <a:ext cx="10363200" cy="1362075"/>
          </a:xfrm>
        </p:spPr>
        <p:txBody>
          <a:bodyPr rtlCol="0" anchor="b">
            <a:noAutofit/>
          </a:bodyPr>
          <a:lstStyle>
            <a:lvl1pPr algn="l">
              <a:buNone/>
              <a:defRPr sz="4300" b="1" cap="none" baseline="0">
                <a:ln w="12700">
                  <a:solidFill>
                    <a:schemeClr val="accent2">
                      <a:shade val="90000"/>
                      <a:satMod val="150000"/>
                    </a:schemeClr>
                  </a:solidFill>
                </a:ln>
                <a:solidFill>
                  <a:schemeClr val="accent2"/>
                </a:solidFill>
                <a:effectLst/>
              </a:defRPr>
            </a:lvl1pPr>
          </a:lstStyle>
          <a:p>
            <a:pPr rtl="0"/>
            <a:r>
              <a:rPr lang="tr-TR" noProof="0"/>
              <a:t>Asıl başlık stili için tıklatın</a:t>
            </a:r>
            <a:endParaRPr kumimoji="0" lang="tr-TR" noProof="0" dirty="0"/>
          </a:p>
        </p:txBody>
      </p:sp>
      <p:sp>
        <p:nvSpPr>
          <p:cNvPr id="3" name="Metin Yer Tutucusu 2"/>
          <p:cNvSpPr>
            <a:spLocks noGrp="1"/>
          </p:cNvSpPr>
          <p:nvPr>
            <p:ph type="body" idx="1"/>
          </p:nvPr>
        </p:nvSpPr>
        <p:spPr>
          <a:xfrm>
            <a:off x="963084" y="3367088"/>
            <a:ext cx="10363200" cy="1509712"/>
          </a:xfrm>
        </p:spPr>
        <p:txBody>
          <a:bodyPr rtlCol="0"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rtl="0" eaLnBrk="1" latinLnBrk="0" hangingPunct="1"/>
            <a:r>
              <a:rPr lang="tr-TR" noProof="0"/>
              <a:t>Asıl metin stillerini düzenle</a:t>
            </a:r>
          </a:p>
        </p:txBody>
      </p:sp>
      <p:sp>
        <p:nvSpPr>
          <p:cNvPr id="5" name="Alt Bilgi Yer Tutucusu 4"/>
          <p:cNvSpPr>
            <a:spLocks noGrp="1"/>
          </p:cNvSpPr>
          <p:nvPr>
            <p:ph type="ftr" sz="quarter" idx="11"/>
          </p:nvPr>
        </p:nvSpPr>
        <p:spPr/>
        <p:txBody>
          <a:bodyPr rtlCol="0"/>
          <a:lstStyle/>
          <a:p>
            <a:pPr rtl="0"/>
            <a:r>
              <a:rPr lang="tr-TR" noProof="0" dirty="0"/>
              <a:t>Alt bilgi ekleme</a:t>
            </a:r>
          </a:p>
        </p:txBody>
      </p:sp>
      <p:sp>
        <p:nvSpPr>
          <p:cNvPr id="4" name="Tarih Yer Tutucusu 3"/>
          <p:cNvSpPr>
            <a:spLocks noGrp="1"/>
          </p:cNvSpPr>
          <p:nvPr>
            <p:ph type="dt" sz="half" idx="10"/>
          </p:nvPr>
        </p:nvSpPr>
        <p:spPr/>
        <p:txBody>
          <a:bodyPr rtlCol="0"/>
          <a:lstStyle>
            <a:lvl1pPr>
              <a:defRPr/>
            </a:lvl1pPr>
          </a:lstStyle>
          <a:p>
            <a:fld id="{FF56EF26-BBDF-4885-BB66-53FDFCADA69E}" type="datetime1">
              <a:rPr lang="tr-TR" smtClean="0"/>
              <a:pPr/>
              <a:t>29.09.2026</a:t>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270512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noProof="0"/>
              <a:t>Asıl başlık stili için tıklatın</a:t>
            </a:r>
            <a:endParaRPr lang="tr-TR" noProof="0" dirty="0"/>
          </a:p>
        </p:txBody>
      </p:sp>
      <p:sp>
        <p:nvSpPr>
          <p:cNvPr id="3" name="İçerik Yer Tutucusu 2"/>
          <p:cNvSpPr>
            <a:spLocks noGrp="1"/>
          </p:cNvSpPr>
          <p:nvPr>
            <p:ph sz="half" idx="1"/>
          </p:nvPr>
        </p:nvSpPr>
        <p:spPr>
          <a:xfrm>
            <a:off x="609600" y="2249425"/>
            <a:ext cx="5384800" cy="4341875"/>
          </a:xfrm>
        </p:spPr>
        <p:txBody>
          <a:bodyPr rtlCol="0"/>
          <a:lstStyle>
            <a:lvl1pPr>
              <a:defRPr sz="2000"/>
            </a:lvl1pPr>
            <a:lvl2pPr>
              <a:defRPr sz="1900"/>
            </a:lvl2pPr>
            <a:lvl3pPr>
              <a:defRPr sz="1800"/>
            </a:lvl3pPr>
            <a:lvl4pPr>
              <a:defRPr sz="1800"/>
            </a:lvl4pPr>
            <a:lvl5pPr>
              <a:defRPr sz="1800"/>
            </a:lvl5pPr>
          </a:lstStyle>
          <a:p>
            <a:pPr lvl="0" rtl="0" eaLnBrk="1" latinLnBrk="0" hangingPunct="1"/>
            <a:r>
              <a:rPr lang="tr-TR" noProof="0"/>
              <a:t>Asıl metin stillerini düzenle</a:t>
            </a:r>
          </a:p>
          <a:p>
            <a:pPr lvl="1" rtl="0" eaLnBrk="1" latinLnBrk="0" hangingPunct="1"/>
            <a:r>
              <a:rPr lang="tr-TR" noProof="0"/>
              <a:t>İkinci düzey</a:t>
            </a:r>
          </a:p>
          <a:p>
            <a:pPr lvl="2" rtl="0" eaLnBrk="1" latinLnBrk="0" hangingPunct="1"/>
            <a:r>
              <a:rPr lang="tr-TR" noProof="0"/>
              <a:t>Üçüncü düzey</a:t>
            </a:r>
          </a:p>
          <a:p>
            <a:pPr lvl="3" rtl="0" eaLnBrk="1" latinLnBrk="0" hangingPunct="1"/>
            <a:r>
              <a:rPr lang="tr-TR" noProof="0"/>
              <a:t>Dördüncü düzey</a:t>
            </a:r>
          </a:p>
          <a:p>
            <a:pPr lvl="4" rtl="0" eaLnBrk="1" latinLnBrk="0" hangingPunct="1"/>
            <a:r>
              <a:rPr lang="tr-TR" noProof="0"/>
              <a:t>Beşinci düzey</a:t>
            </a:r>
            <a:endParaRPr kumimoji="0" lang="tr-TR" noProof="0" dirty="0"/>
          </a:p>
        </p:txBody>
      </p:sp>
      <p:sp>
        <p:nvSpPr>
          <p:cNvPr id="4" name="İçerik Yer Tutucusu 3"/>
          <p:cNvSpPr>
            <a:spLocks noGrp="1"/>
          </p:cNvSpPr>
          <p:nvPr>
            <p:ph sz="half" idx="2"/>
          </p:nvPr>
        </p:nvSpPr>
        <p:spPr>
          <a:xfrm>
            <a:off x="6197600" y="2249425"/>
            <a:ext cx="5384800" cy="4341875"/>
          </a:xfrm>
        </p:spPr>
        <p:txBody>
          <a:bodyPr rtlCol="0"/>
          <a:lstStyle>
            <a:lvl1pPr>
              <a:defRPr sz="2000"/>
            </a:lvl1pPr>
            <a:lvl2pPr>
              <a:defRPr sz="1900"/>
            </a:lvl2pPr>
            <a:lvl3pPr>
              <a:defRPr sz="1800"/>
            </a:lvl3pPr>
            <a:lvl4pPr>
              <a:defRPr sz="1800"/>
            </a:lvl4pPr>
            <a:lvl5pPr>
              <a:defRPr sz="1800"/>
            </a:lvl5pPr>
          </a:lstStyle>
          <a:p>
            <a:pPr lvl="0" rtl="0" eaLnBrk="1" latinLnBrk="0" hangingPunct="1"/>
            <a:r>
              <a:rPr lang="tr-TR" noProof="0"/>
              <a:t>Asıl metin stillerini düzenle</a:t>
            </a:r>
          </a:p>
          <a:p>
            <a:pPr lvl="1" rtl="0" eaLnBrk="1" latinLnBrk="0" hangingPunct="1"/>
            <a:r>
              <a:rPr lang="tr-TR" noProof="0"/>
              <a:t>İkinci düzey</a:t>
            </a:r>
          </a:p>
          <a:p>
            <a:pPr lvl="2" rtl="0" eaLnBrk="1" latinLnBrk="0" hangingPunct="1"/>
            <a:r>
              <a:rPr lang="tr-TR" noProof="0"/>
              <a:t>Üçüncü düzey</a:t>
            </a:r>
          </a:p>
          <a:p>
            <a:pPr lvl="3" rtl="0" eaLnBrk="1" latinLnBrk="0" hangingPunct="1"/>
            <a:r>
              <a:rPr lang="tr-TR" noProof="0"/>
              <a:t>Dördüncü düzey</a:t>
            </a:r>
          </a:p>
          <a:p>
            <a:pPr lvl="4" rtl="0" eaLnBrk="1" latinLnBrk="0" hangingPunct="1"/>
            <a:r>
              <a:rPr lang="tr-TR" noProof="0"/>
              <a:t>Beşinci düzey</a:t>
            </a:r>
            <a:endParaRPr kumimoji="0" lang="tr-TR" noProof="0" dirty="0"/>
          </a:p>
        </p:txBody>
      </p:sp>
      <p:sp>
        <p:nvSpPr>
          <p:cNvPr id="6" name="Alt Bilgi Yer Tutucusu 5"/>
          <p:cNvSpPr>
            <a:spLocks noGrp="1"/>
          </p:cNvSpPr>
          <p:nvPr>
            <p:ph type="ftr" sz="quarter" idx="11"/>
          </p:nvPr>
        </p:nvSpPr>
        <p:spPr/>
        <p:txBody>
          <a:bodyPr rtlCol="0"/>
          <a:lstStyle/>
          <a:p>
            <a:pPr rtl="0"/>
            <a:r>
              <a:rPr lang="tr-TR" noProof="0" dirty="0"/>
              <a:t>Alt bilgi ekleme</a:t>
            </a:r>
          </a:p>
        </p:txBody>
      </p:sp>
      <p:sp>
        <p:nvSpPr>
          <p:cNvPr id="5" name="Tarih Yer Tutucusu 4"/>
          <p:cNvSpPr>
            <a:spLocks noGrp="1"/>
          </p:cNvSpPr>
          <p:nvPr>
            <p:ph type="dt" sz="half" idx="10"/>
          </p:nvPr>
        </p:nvSpPr>
        <p:spPr/>
        <p:txBody>
          <a:bodyPr rtlCol="0"/>
          <a:lstStyle>
            <a:lvl1pPr>
              <a:defRPr/>
            </a:lvl1pPr>
          </a:lstStyle>
          <a:p>
            <a:fld id="{A84B813B-74D5-4B4F-94CB-6CD8395E9845}" type="datetime1">
              <a:rPr lang="tr-TR" smtClean="0"/>
              <a:pPr/>
              <a:t>29.09.2026</a:t>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446445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0" orient="horz" pos="2160" userDrawn="1">
          <p15:clr>
            <a:srgbClr val="FBAE40"/>
          </p15:clr>
        </p15:guide>
        <p15:guide id="1"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a:xfrm>
            <a:off x="508000" y="1143000"/>
            <a:ext cx="11176000" cy="1069848"/>
          </a:xfrm>
        </p:spPr>
        <p:txBody>
          <a:bodyPr rtlCol="0" anchor="ctr"/>
          <a:lstStyle>
            <a:lvl1pPr>
              <a:defRPr sz="4000" b="0" i="0" cap="none" baseline="0"/>
            </a:lvl1pPr>
          </a:lstStyle>
          <a:p>
            <a:pPr rtl="0"/>
            <a:r>
              <a:rPr lang="tr-TR" noProof="0"/>
              <a:t>Asıl başlık stili için tıklatın</a:t>
            </a:r>
            <a:endParaRPr lang="tr-TR" noProof="0" dirty="0"/>
          </a:p>
        </p:txBody>
      </p:sp>
      <p:sp>
        <p:nvSpPr>
          <p:cNvPr id="3" name="Metin Yer Tutucusu 2"/>
          <p:cNvSpPr>
            <a:spLocks noGrp="1"/>
          </p:cNvSpPr>
          <p:nvPr>
            <p:ph type="body" idx="1"/>
          </p:nvPr>
        </p:nvSpPr>
        <p:spPr>
          <a:xfrm>
            <a:off x="508000" y="2244970"/>
            <a:ext cx="5388864" cy="457200"/>
          </a:xfrm>
          <a:solidFill>
            <a:schemeClr val="accent2">
              <a:lumMod val="60000"/>
              <a:lumOff val="40000"/>
              <a:alpha val="25000"/>
            </a:schemeClr>
          </a:solidFill>
          <a:ln w="12700">
            <a:solidFill>
              <a:schemeClr val="accent2"/>
            </a:solidFill>
          </a:ln>
        </p:spPr>
        <p:txBody>
          <a:bodyPr rtlCol="0"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rtl="0" eaLnBrk="1" latinLnBrk="0" hangingPunct="1"/>
            <a:r>
              <a:rPr lang="tr-TR" noProof="0"/>
              <a:t>Asıl metin stillerini düzenle</a:t>
            </a:r>
          </a:p>
        </p:txBody>
      </p:sp>
      <p:sp>
        <p:nvSpPr>
          <p:cNvPr id="5" name="İçerik Yer Tutucusu 4"/>
          <p:cNvSpPr>
            <a:spLocks noGrp="1"/>
          </p:cNvSpPr>
          <p:nvPr>
            <p:ph sz="quarter" idx="2"/>
          </p:nvPr>
        </p:nvSpPr>
        <p:spPr>
          <a:xfrm>
            <a:off x="508000" y="2708519"/>
            <a:ext cx="5388864" cy="3886200"/>
          </a:xfrm>
        </p:spPr>
        <p:txBody>
          <a:bodyPr rtlCol="0"/>
          <a:lstStyle>
            <a:lvl1pPr>
              <a:defRPr sz="2000"/>
            </a:lvl1pPr>
            <a:lvl2pPr>
              <a:defRPr sz="2000"/>
            </a:lvl2pPr>
            <a:lvl3pPr>
              <a:defRPr sz="1800"/>
            </a:lvl3pPr>
            <a:lvl4pPr>
              <a:defRPr sz="1600"/>
            </a:lvl4pPr>
            <a:lvl5pPr>
              <a:defRPr sz="1600"/>
            </a:lvl5pPr>
          </a:lstStyle>
          <a:p>
            <a:pPr lvl="0" rtl="0" eaLnBrk="1" latinLnBrk="0" hangingPunct="1"/>
            <a:r>
              <a:rPr lang="tr-TR" noProof="0"/>
              <a:t>Asıl metin stillerini düzenle</a:t>
            </a:r>
          </a:p>
          <a:p>
            <a:pPr lvl="1" rtl="0" eaLnBrk="1" latinLnBrk="0" hangingPunct="1"/>
            <a:r>
              <a:rPr lang="tr-TR" noProof="0"/>
              <a:t>İkinci düzey</a:t>
            </a:r>
          </a:p>
          <a:p>
            <a:pPr lvl="2" rtl="0" eaLnBrk="1" latinLnBrk="0" hangingPunct="1"/>
            <a:r>
              <a:rPr lang="tr-TR" noProof="0"/>
              <a:t>Üçüncü düzey</a:t>
            </a:r>
          </a:p>
          <a:p>
            <a:pPr lvl="3" rtl="0" eaLnBrk="1" latinLnBrk="0" hangingPunct="1"/>
            <a:r>
              <a:rPr lang="tr-TR" noProof="0"/>
              <a:t>Dördüncü düzey</a:t>
            </a:r>
          </a:p>
          <a:p>
            <a:pPr lvl="4" rtl="0" eaLnBrk="1" latinLnBrk="0" hangingPunct="1"/>
            <a:r>
              <a:rPr lang="tr-TR" noProof="0"/>
              <a:t>Beşinci düzey</a:t>
            </a:r>
            <a:endParaRPr kumimoji="0" lang="tr-TR" noProof="0" dirty="0"/>
          </a:p>
        </p:txBody>
      </p:sp>
      <p:sp>
        <p:nvSpPr>
          <p:cNvPr id="4" name="Metin Yer Tutucusu 3"/>
          <p:cNvSpPr>
            <a:spLocks noGrp="1"/>
          </p:cNvSpPr>
          <p:nvPr>
            <p:ph type="body" sz="half" idx="3"/>
          </p:nvPr>
        </p:nvSpPr>
        <p:spPr>
          <a:xfrm>
            <a:off x="6294968" y="2244970"/>
            <a:ext cx="5389033" cy="457200"/>
          </a:xfrm>
          <a:solidFill>
            <a:schemeClr val="accent2">
              <a:lumMod val="60000"/>
              <a:lumOff val="40000"/>
              <a:alpha val="25000"/>
            </a:schemeClr>
          </a:solidFill>
          <a:ln w="12700">
            <a:solidFill>
              <a:schemeClr val="accent2"/>
            </a:solidFill>
          </a:ln>
        </p:spPr>
        <p:txBody>
          <a:bodyPr rtlCol="0"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rtl="0" eaLnBrk="1" latinLnBrk="0" hangingPunct="1"/>
            <a:r>
              <a:rPr lang="tr-TR" noProof="0"/>
              <a:t>Asıl metin stillerini düzenle</a:t>
            </a:r>
          </a:p>
        </p:txBody>
      </p:sp>
      <p:sp>
        <p:nvSpPr>
          <p:cNvPr id="6" name="İçerik Yer Tutucusu 5"/>
          <p:cNvSpPr>
            <a:spLocks noGrp="1"/>
          </p:cNvSpPr>
          <p:nvPr>
            <p:ph sz="quarter" idx="4"/>
          </p:nvPr>
        </p:nvSpPr>
        <p:spPr>
          <a:xfrm>
            <a:off x="6291073" y="2708519"/>
            <a:ext cx="5389033" cy="3886200"/>
          </a:xfrm>
        </p:spPr>
        <p:txBody>
          <a:bodyPr rtlCol="0"/>
          <a:lstStyle>
            <a:lvl1pPr>
              <a:defRPr sz="2000"/>
            </a:lvl1pPr>
            <a:lvl2pPr>
              <a:defRPr sz="2000"/>
            </a:lvl2pPr>
            <a:lvl3pPr>
              <a:defRPr sz="1800"/>
            </a:lvl3pPr>
            <a:lvl4pPr>
              <a:defRPr sz="1600"/>
            </a:lvl4pPr>
            <a:lvl5pPr>
              <a:defRPr sz="1600"/>
            </a:lvl5pPr>
          </a:lstStyle>
          <a:p>
            <a:pPr lvl="0" rtl="0" eaLnBrk="1" latinLnBrk="0" hangingPunct="1"/>
            <a:r>
              <a:rPr lang="tr-TR" noProof="0"/>
              <a:t>Asıl metin stillerini düzenle</a:t>
            </a:r>
          </a:p>
          <a:p>
            <a:pPr lvl="1" rtl="0" eaLnBrk="1" latinLnBrk="0" hangingPunct="1"/>
            <a:r>
              <a:rPr lang="tr-TR" noProof="0"/>
              <a:t>İkinci düzey</a:t>
            </a:r>
          </a:p>
          <a:p>
            <a:pPr lvl="2" rtl="0" eaLnBrk="1" latinLnBrk="0" hangingPunct="1"/>
            <a:r>
              <a:rPr lang="tr-TR" noProof="0"/>
              <a:t>Üçüncü düzey</a:t>
            </a:r>
          </a:p>
          <a:p>
            <a:pPr lvl="3" rtl="0" eaLnBrk="1" latinLnBrk="0" hangingPunct="1"/>
            <a:r>
              <a:rPr lang="tr-TR" noProof="0"/>
              <a:t>Dördüncü düzey</a:t>
            </a:r>
          </a:p>
          <a:p>
            <a:pPr lvl="4" rtl="0" eaLnBrk="1" latinLnBrk="0" hangingPunct="1"/>
            <a:r>
              <a:rPr lang="tr-TR" noProof="0"/>
              <a:t>Beşinci düzey</a:t>
            </a:r>
            <a:endParaRPr kumimoji="0" lang="tr-TR" noProof="0" dirty="0"/>
          </a:p>
        </p:txBody>
      </p:sp>
      <p:sp>
        <p:nvSpPr>
          <p:cNvPr id="28" name="Alt Bilgi Yer Tutucusu 27"/>
          <p:cNvSpPr>
            <a:spLocks noGrp="1"/>
          </p:cNvSpPr>
          <p:nvPr>
            <p:ph type="ftr" sz="quarter" idx="12"/>
          </p:nvPr>
        </p:nvSpPr>
        <p:spPr/>
        <p:txBody>
          <a:bodyPr rtlCol="0"/>
          <a:lstStyle/>
          <a:p>
            <a:pPr rtl="0"/>
            <a:r>
              <a:rPr lang="tr-TR" noProof="0" dirty="0"/>
              <a:t>Alt bilgi ekleme</a:t>
            </a:r>
          </a:p>
        </p:txBody>
      </p:sp>
      <p:sp>
        <p:nvSpPr>
          <p:cNvPr id="26" name="Tarih Yer Tutucusu 25"/>
          <p:cNvSpPr>
            <a:spLocks noGrp="1"/>
          </p:cNvSpPr>
          <p:nvPr>
            <p:ph type="dt" sz="half" idx="10"/>
          </p:nvPr>
        </p:nvSpPr>
        <p:spPr/>
        <p:txBody>
          <a:bodyPr rtlCol="0"/>
          <a:lstStyle>
            <a:lvl1pPr>
              <a:defRPr/>
            </a:lvl1pPr>
          </a:lstStyle>
          <a:p>
            <a:fld id="{B72EC71D-25AD-4A7C-AB6C-E63D5EDA9366}" type="datetime1">
              <a:rPr lang="tr-TR" smtClean="0"/>
              <a:pPr/>
              <a:t>29.09.2026</a:t>
            </a:fld>
            <a:endParaRPr lang="tr-TR" dirty="0"/>
          </a:p>
        </p:txBody>
      </p:sp>
      <p:sp>
        <p:nvSpPr>
          <p:cNvPr id="27" name="Slayt Numarası Yer Tutucusu 26"/>
          <p:cNvSpPr>
            <a:spLocks noGrp="1"/>
          </p:cNvSpPr>
          <p:nvPr>
            <p:ph type="sldNum" sz="quarter" idx="11"/>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70716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a:xfrm>
            <a:off x="609600" y="1143000"/>
            <a:ext cx="10972800" cy="1069848"/>
          </a:xfrm>
        </p:spPr>
        <p:txBody>
          <a:bodyPr rtlCol="0" anchor="ctr"/>
          <a:lstStyle>
            <a:lvl1pPr>
              <a:defRPr sz="4000">
                <a:solidFill>
                  <a:schemeClr val="tx2"/>
                </a:solidFill>
              </a:defRPr>
            </a:lvl1pPr>
          </a:lstStyle>
          <a:p>
            <a:pPr rtl="0"/>
            <a:r>
              <a:rPr lang="tr-TR" noProof="0"/>
              <a:t>Asıl başlık stili için tıklatın</a:t>
            </a:r>
            <a:endParaRPr lang="tr-TR" noProof="0" dirty="0"/>
          </a:p>
        </p:txBody>
      </p:sp>
      <p:sp>
        <p:nvSpPr>
          <p:cNvPr id="4" name="Alt Bilgi Yer Tutucusu 3"/>
          <p:cNvSpPr>
            <a:spLocks noGrp="1"/>
          </p:cNvSpPr>
          <p:nvPr>
            <p:ph type="ftr" sz="quarter" idx="11"/>
          </p:nvPr>
        </p:nvSpPr>
        <p:spPr>
          <a:xfrm>
            <a:off x="7010400" y="612648"/>
            <a:ext cx="1767840" cy="457200"/>
          </a:xfrm>
        </p:spPr>
        <p:txBody>
          <a:bodyPr rtlCol="0"/>
          <a:lstStyle/>
          <a:p>
            <a:pPr rtl="0"/>
            <a:r>
              <a:rPr lang="tr-TR" noProof="0" dirty="0"/>
              <a:t>Alt bilgi ekleme</a:t>
            </a:r>
          </a:p>
        </p:txBody>
      </p:sp>
      <p:sp>
        <p:nvSpPr>
          <p:cNvPr id="3" name="Tarih Yer Tutucusu 2"/>
          <p:cNvSpPr>
            <a:spLocks noGrp="1"/>
          </p:cNvSpPr>
          <p:nvPr>
            <p:ph type="dt" sz="half" idx="10"/>
          </p:nvPr>
        </p:nvSpPr>
        <p:spPr>
          <a:xfrm>
            <a:off x="8778240" y="612648"/>
            <a:ext cx="1276352" cy="457200"/>
          </a:xfrm>
        </p:spPr>
        <p:txBody>
          <a:bodyPr rtlCol="0"/>
          <a:lstStyle>
            <a:lvl1pPr>
              <a:defRPr/>
            </a:lvl1pPr>
          </a:lstStyle>
          <a:p>
            <a:fld id="{851036E3-487C-41B5-92E9-47E0F0B9591B}" type="datetime1">
              <a:rPr lang="tr-TR" smtClean="0"/>
              <a:pPr/>
              <a:t>29.09.2026</a:t>
            </a:fld>
            <a:endParaRPr lang="tr-TR" dirty="0"/>
          </a:p>
        </p:txBody>
      </p:sp>
      <p:sp>
        <p:nvSpPr>
          <p:cNvPr id="5" name="Slayt Numarası Yer Tutucusu 4"/>
          <p:cNvSpPr>
            <a:spLocks noGrp="1"/>
          </p:cNvSpPr>
          <p:nvPr>
            <p:ph type="sldNum" sz="quarter" idx="12"/>
          </p:nvPr>
        </p:nvSpPr>
        <p:spPr>
          <a:xfrm>
            <a:off x="10899648" y="2272"/>
            <a:ext cx="1016000" cy="365760"/>
          </a:xfrm>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821952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3" name="Alt Bilgi Yer Tutucusu 2"/>
          <p:cNvSpPr>
            <a:spLocks noGrp="1"/>
          </p:cNvSpPr>
          <p:nvPr>
            <p:ph type="ftr" sz="quarter" idx="11"/>
          </p:nvPr>
        </p:nvSpPr>
        <p:spPr/>
        <p:txBody>
          <a:bodyPr rtlCol="0"/>
          <a:lstStyle/>
          <a:p>
            <a:pPr rtl="0"/>
            <a:r>
              <a:rPr lang="tr-TR" noProof="0" dirty="0"/>
              <a:t>Alt bilgi ekleme</a:t>
            </a:r>
          </a:p>
        </p:txBody>
      </p:sp>
      <p:sp>
        <p:nvSpPr>
          <p:cNvPr id="2" name="Tarih Yer Tutucusu 1"/>
          <p:cNvSpPr>
            <a:spLocks noGrp="1"/>
          </p:cNvSpPr>
          <p:nvPr>
            <p:ph type="dt" sz="half" idx="10"/>
          </p:nvPr>
        </p:nvSpPr>
        <p:spPr/>
        <p:txBody>
          <a:bodyPr rtlCol="0"/>
          <a:lstStyle>
            <a:lvl1pPr>
              <a:defRPr/>
            </a:lvl1pPr>
          </a:lstStyle>
          <a:p>
            <a:fld id="{E7730CD3-31CA-47BB-8FC4-9AA93086A77D}" type="datetime1">
              <a:rPr lang="tr-TR" smtClean="0"/>
              <a:pPr/>
              <a:t>29.09.2026</a:t>
            </a:fld>
            <a:endParaRPr lang="tr-TR" dirty="0"/>
          </a:p>
        </p:txBody>
      </p:sp>
      <p:sp>
        <p:nvSpPr>
          <p:cNvPr id="4" name="Slayt Numarası Yer Tutucusu 3"/>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1135695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Resim Yazılı İçerik">
    <p:spTree>
      <p:nvGrpSpPr>
        <p:cNvPr id="1" name=""/>
        <p:cNvGrpSpPr/>
        <p:nvPr/>
      </p:nvGrpSpPr>
      <p:grpSpPr>
        <a:xfrm>
          <a:off x="0" y="0"/>
          <a:ext cx="0" cy="0"/>
          <a:chOff x="0" y="0"/>
          <a:chExt cx="0" cy="0"/>
        </a:xfrm>
      </p:grpSpPr>
      <p:sp>
        <p:nvSpPr>
          <p:cNvPr id="2" name="Başlık 1"/>
          <p:cNvSpPr>
            <a:spLocks noGrp="1"/>
          </p:cNvSpPr>
          <p:nvPr>
            <p:ph type="title" hasCustomPrompt="1"/>
          </p:nvPr>
        </p:nvSpPr>
        <p:spPr>
          <a:xfrm>
            <a:off x="7137995" y="1101970"/>
            <a:ext cx="4511040" cy="877824"/>
          </a:xfrm>
        </p:spPr>
        <p:txBody>
          <a:bodyPr rtlCol="0" anchor="b"/>
          <a:lstStyle>
            <a:lvl1pPr algn="l">
              <a:buNone/>
              <a:defRPr sz="1800" b="1"/>
            </a:lvl1pPr>
          </a:lstStyle>
          <a:p>
            <a:pPr rtl="0"/>
            <a:r>
              <a:rPr lang="tr-TR" noProof="0" dirty="0"/>
              <a:t>Asıl başlık stilini düzenle</a:t>
            </a:r>
          </a:p>
        </p:txBody>
      </p:sp>
      <p:sp>
        <p:nvSpPr>
          <p:cNvPr id="4" name="İçerik Yer Tutucusu 3"/>
          <p:cNvSpPr>
            <a:spLocks noGrp="1"/>
          </p:cNvSpPr>
          <p:nvPr>
            <p:ph sz="half" idx="1"/>
          </p:nvPr>
        </p:nvSpPr>
        <p:spPr>
          <a:xfrm>
            <a:off x="203200" y="776287"/>
            <a:ext cx="6803136" cy="5805083"/>
          </a:xfrm>
        </p:spPr>
        <p:txBody>
          <a:bodyPr rtlCol="0"/>
          <a:lstStyle>
            <a:lvl1pPr>
              <a:defRPr sz="3200"/>
            </a:lvl1pPr>
            <a:lvl2pPr>
              <a:defRPr sz="2800"/>
            </a:lvl2pPr>
            <a:lvl3pPr>
              <a:defRPr sz="2400"/>
            </a:lvl3pPr>
            <a:lvl4pPr>
              <a:defRPr sz="2000"/>
            </a:lvl4pPr>
            <a:lvl5pPr>
              <a:defRPr sz="2000"/>
            </a:lvl5pPr>
          </a:lstStyle>
          <a:p>
            <a:pPr lvl="0" rtl="0" eaLnBrk="1" latinLnBrk="0" hangingPunct="1"/>
            <a:r>
              <a:rPr lang="tr-TR" noProof="0"/>
              <a:t>Asıl metin stillerini düzenle</a:t>
            </a:r>
          </a:p>
          <a:p>
            <a:pPr lvl="1" rtl="0" eaLnBrk="1" latinLnBrk="0" hangingPunct="1"/>
            <a:r>
              <a:rPr lang="tr-TR" noProof="0"/>
              <a:t>İkinci düzey</a:t>
            </a:r>
          </a:p>
          <a:p>
            <a:pPr lvl="2" rtl="0" eaLnBrk="1" latinLnBrk="0" hangingPunct="1"/>
            <a:r>
              <a:rPr lang="tr-TR" noProof="0"/>
              <a:t>Üçüncü düzey</a:t>
            </a:r>
          </a:p>
          <a:p>
            <a:pPr lvl="3" rtl="0" eaLnBrk="1" latinLnBrk="0" hangingPunct="1"/>
            <a:r>
              <a:rPr lang="tr-TR" noProof="0"/>
              <a:t>Dördüncü düzey</a:t>
            </a:r>
          </a:p>
          <a:p>
            <a:pPr lvl="4" rtl="0" eaLnBrk="1" latinLnBrk="0" hangingPunct="1"/>
            <a:r>
              <a:rPr lang="tr-TR" noProof="0"/>
              <a:t>Beşinci düzey</a:t>
            </a:r>
            <a:endParaRPr kumimoji="0" lang="tr-TR" noProof="0" dirty="0"/>
          </a:p>
        </p:txBody>
      </p:sp>
      <p:sp>
        <p:nvSpPr>
          <p:cNvPr id="3" name="Metin Yer Tutucusu 2"/>
          <p:cNvSpPr>
            <a:spLocks noGrp="1"/>
          </p:cNvSpPr>
          <p:nvPr>
            <p:ph type="body" idx="2"/>
          </p:nvPr>
        </p:nvSpPr>
        <p:spPr>
          <a:xfrm>
            <a:off x="7137995" y="2010727"/>
            <a:ext cx="4511040" cy="4580573"/>
          </a:xfrm>
        </p:spPr>
        <p:txBody>
          <a:bodyPr rtlCol="0"/>
          <a:lstStyle>
            <a:lvl1pPr marL="9144" indent="0">
              <a:buNone/>
              <a:defRPr sz="1400"/>
            </a:lvl1pPr>
            <a:lvl2pPr>
              <a:buNone/>
              <a:defRPr sz="1200"/>
            </a:lvl2pPr>
            <a:lvl3pPr>
              <a:buNone/>
              <a:defRPr sz="1000"/>
            </a:lvl3pPr>
            <a:lvl4pPr>
              <a:buNone/>
              <a:defRPr sz="900"/>
            </a:lvl4pPr>
            <a:lvl5pPr>
              <a:buNone/>
              <a:defRPr sz="900"/>
            </a:lvl5pPr>
          </a:lstStyle>
          <a:p>
            <a:pPr lvl="0" rtl="0" eaLnBrk="1" latinLnBrk="0" hangingPunct="1"/>
            <a:r>
              <a:rPr lang="tr-TR" noProof="0"/>
              <a:t>Asıl metin stillerini düzenle</a:t>
            </a:r>
          </a:p>
        </p:txBody>
      </p:sp>
      <p:sp>
        <p:nvSpPr>
          <p:cNvPr id="6" name="Alt Bilgi Yer Tutucusu 5"/>
          <p:cNvSpPr>
            <a:spLocks noGrp="1"/>
          </p:cNvSpPr>
          <p:nvPr>
            <p:ph type="ftr" sz="quarter" idx="11"/>
          </p:nvPr>
        </p:nvSpPr>
        <p:spPr/>
        <p:txBody>
          <a:bodyPr rtlCol="0"/>
          <a:lstStyle/>
          <a:p>
            <a:pPr rtl="0"/>
            <a:r>
              <a:rPr lang="tr-TR" noProof="0" dirty="0"/>
              <a:t>Alt bilgi ekleme</a:t>
            </a:r>
          </a:p>
        </p:txBody>
      </p:sp>
      <p:sp>
        <p:nvSpPr>
          <p:cNvPr id="5" name="Tarih Yer Tutucusu 4"/>
          <p:cNvSpPr>
            <a:spLocks noGrp="1"/>
          </p:cNvSpPr>
          <p:nvPr>
            <p:ph type="dt" sz="half" idx="10"/>
          </p:nvPr>
        </p:nvSpPr>
        <p:spPr/>
        <p:txBody>
          <a:bodyPr rtlCol="0"/>
          <a:lstStyle>
            <a:lvl1pPr>
              <a:defRPr/>
            </a:lvl1pPr>
          </a:lstStyle>
          <a:p>
            <a:fld id="{90C5B609-EC73-4CF8-A564-D90D0E54FA36}" type="datetime1">
              <a:rPr lang="tr-TR" smtClean="0"/>
              <a:pPr/>
              <a:t>29.09.2026</a:t>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498685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Resim Yazı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7253913" y="1109161"/>
            <a:ext cx="782404" cy="4681637"/>
          </a:xfrm>
        </p:spPr>
        <p:txBody>
          <a:bodyPr vert="vert270" lIns="45720" tIns="0" rIns="45720" rtlCol="0" anchor="t"/>
          <a:lstStyle>
            <a:lvl1pPr algn="ctr">
              <a:buNone/>
              <a:defRPr sz="2000" b="1"/>
            </a:lvl1pPr>
          </a:lstStyle>
          <a:p>
            <a:pPr rtl="0"/>
            <a:r>
              <a:rPr lang="tr-TR" noProof="0"/>
              <a:t>Asıl başlık stili için tıklatın</a:t>
            </a:r>
            <a:endParaRPr lang="tr-TR" noProof="0" dirty="0"/>
          </a:p>
        </p:txBody>
      </p:sp>
      <p:sp>
        <p:nvSpPr>
          <p:cNvPr id="3" name="Resim Yer Tutucusu 2" descr="Resim eklemek için boş yer tutucu. Yer tutucuya tıklayın ve eklemek istediğiniz resmi seçin"/>
          <p:cNvSpPr>
            <a:spLocks noGrp="1"/>
          </p:cNvSpPr>
          <p:nvPr>
            <p:ph type="pic" idx="1"/>
          </p:nvPr>
        </p:nvSpPr>
        <p:spPr>
          <a:xfrm>
            <a:off x="538228" y="1143000"/>
            <a:ext cx="6096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rtlCol="0"/>
          <a:lstStyle>
            <a:lvl1pPr marL="0" indent="0">
              <a:buNone/>
              <a:defRPr sz="3200"/>
            </a:lvl1pPr>
          </a:lstStyle>
          <a:p>
            <a:pPr rtl="0"/>
            <a:r>
              <a:rPr lang="tr-TR" noProof="0"/>
              <a:t>Resim eklemek için simgeyi tıklatın</a:t>
            </a:r>
            <a:endParaRPr kumimoji="0" lang="tr-TR" noProof="0" dirty="0"/>
          </a:p>
        </p:txBody>
      </p:sp>
      <p:sp>
        <p:nvSpPr>
          <p:cNvPr id="4" name="Metin Yer Tutucusu 3"/>
          <p:cNvSpPr>
            <a:spLocks noGrp="1"/>
          </p:cNvSpPr>
          <p:nvPr>
            <p:ph type="body" sz="half" idx="2"/>
          </p:nvPr>
        </p:nvSpPr>
        <p:spPr>
          <a:xfrm>
            <a:off x="8117924" y="3274309"/>
            <a:ext cx="3454400" cy="2516489"/>
          </a:xfrm>
        </p:spPr>
        <p:txBody>
          <a:bodyPr lIns="0" tIns="0" rIns="45720" rtlCol="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rtl="0" eaLnBrk="1" latinLnBrk="0" hangingPunct="1"/>
            <a:r>
              <a:rPr lang="tr-TR" noProof="0"/>
              <a:t>Asıl metin stillerini düzenle</a:t>
            </a:r>
          </a:p>
        </p:txBody>
      </p:sp>
      <p:sp>
        <p:nvSpPr>
          <p:cNvPr id="6" name="Alt Bilgi Yer Tutucusu 5"/>
          <p:cNvSpPr>
            <a:spLocks noGrp="1"/>
          </p:cNvSpPr>
          <p:nvPr>
            <p:ph type="ftr" sz="quarter" idx="11"/>
          </p:nvPr>
        </p:nvSpPr>
        <p:spPr/>
        <p:txBody>
          <a:bodyPr rtlCol="0"/>
          <a:lstStyle/>
          <a:p>
            <a:pPr rtl="0"/>
            <a:r>
              <a:rPr lang="tr-TR" noProof="0" dirty="0"/>
              <a:t>Alt bilgi ekleme</a:t>
            </a:r>
          </a:p>
        </p:txBody>
      </p:sp>
      <p:sp>
        <p:nvSpPr>
          <p:cNvPr id="5" name="Tarih Yer Tutucusu 4"/>
          <p:cNvSpPr>
            <a:spLocks noGrp="1"/>
          </p:cNvSpPr>
          <p:nvPr>
            <p:ph type="dt" sz="half" idx="10"/>
          </p:nvPr>
        </p:nvSpPr>
        <p:spPr/>
        <p:txBody>
          <a:bodyPr rtlCol="0"/>
          <a:lstStyle>
            <a:lvl1pPr>
              <a:defRPr/>
            </a:lvl1pPr>
          </a:lstStyle>
          <a:p>
            <a:fld id="{D85D7756-B745-4648-9348-5BA7D8FC560E}" type="datetime1">
              <a:rPr lang="tr-TR" smtClean="0"/>
              <a:pPr/>
              <a:t>29.09.2026</a:t>
            </a:fld>
            <a:endParaRPr lang="tr-TR" dirty="0"/>
          </a:p>
        </p:txBody>
      </p:sp>
      <p:sp>
        <p:nvSpPr>
          <p:cNvPr id="7" name="Slayt Numarası Yer Tutucusu 6"/>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1883619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noProof="0"/>
              <a:t>Asıl başlık stili için tıklatın</a:t>
            </a:r>
            <a:endParaRPr lang="tr-TR" noProof="0" dirty="0"/>
          </a:p>
        </p:txBody>
      </p:sp>
      <p:sp>
        <p:nvSpPr>
          <p:cNvPr id="3" name="Dikey Metin Yer Tutucusu 2"/>
          <p:cNvSpPr>
            <a:spLocks noGrp="1"/>
          </p:cNvSpPr>
          <p:nvPr>
            <p:ph type="body" orient="vert" idx="1"/>
          </p:nvPr>
        </p:nvSpPr>
        <p:spPr/>
        <p:txBody>
          <a:bodyPr vert="eaVert" rtlCol="0"/>
          <a:lstStyle>
            <a:lvl1pPr>
              <a:defRPr/>
            </a:lvl1pPr>
            <a:lvl5pPr>
              <a:defRPr/>
            </a:lvl5pPr>
          </a:lstStyle>
          <a:p>
            <a:pPr lvl="0" rtl="0" eaLnBrk="1" latinLnBrk="0" hangingPunct="1"/>
            <a:r>
              <a:rPr lang="tr-TR" noProof="0"/>
              <a:t>Asıl metin stillerini düzenle</a:t>
            </a:r>
          </a:p>
          <a:p>
            <a:pPr lvl="1" rtl="0" eaLnBrk="1" latinLnBrk="0" hangingPunct="1"/>
            <a:r>
              <a:rPr lang="tr-TR" noProof="0"/>
              <a:t>İkinci düzey</a:t>
            </a:r>
          </a:p>
          <a:p>
            <a:pPr lvl="2" rtl="0" eaLnBrk="1" latinLnBrk="0" hangingPunct="1"/>
            <a:r>
              <a:rPr lang="tr-TR" noProof="0"/>
              <a:t>Üçüncü düzey</a:t>
            </a:r>
          </a:p>
          <a:p>
            <a:pPr lvl="3" rtl="0" eaLnBrk="1" latinLnBrk="0" hangingPunct="1"/>
            <a:r>
              <a:rPr lang="tr-TR" noProof="0"/>
              <a:t>Dördüncü düzey</a:t>
            </a:r>
          </a:p>
          <a:p>
            <a:pPr lvl="4" rtl="0" eaLnBrk="1" latinLnBrk="0" hangingPunct="1"/>
            <a:r>
              <a:rPr lang="tr-TR" noProof="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p>
        </p:txBody>
      </p:sp>
      <p:sp>
        <p:nvSpPr>
          <p:cNvPr id="4" name="Tarih Yer Tutucusu 3"/>
          <p:cNvSpPr>
            <a:spLocks noGrp="1"/>
          </p:cNvSpPr>
          <p:nvPr>
            <p:ph type="dt" sz="half" idx="10"/>
          </p:nvPr>
        </p:nvSpPr>
        <p:spPr/>
        <p:txBody>
          <a:bodyPr rtlCol="0"/>
          <a:lstStyle>
            <a:lvl1pPr>
              <a:defRPr/>
            </a:lvl1pPr>
          </a:lstStyle>
          <a:p>
            <a:fld id="{443DEEBB-C631-4BE4-9EB9-151005B5892D}" type="datetime1">
              <a:rPr lang="tr-TR" smtClean="0"/>
              <a:pPr/>
              <a:t>29.09.2026</a:t>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3467844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hasCustomPrompt="1"/>
          </p:nvPr>
        </p:nvSpPr>
        <p:spPr>
          <a:xfrm>
            <a:off x="9042400" y="1143000"/>
            <a:ext cx="2540000" cy="5448300"/>
          </a:xfrm>
        </p:spPr>
        <p:txBody>
          <a:bodyPr vert="eaVert" rtlCol="0"/>
          <a:lstStyle>
            <a:lvl1pPr>
              <a:defRPr/>
            </a:lvl1pPr>
          </a:lstStyle>
          <a:p>
            <a:pPr rtl="0"/>
            <a:r>
              <a:rPr lang="tr-TR" noProof="0" dirty="0"/>
              <a:t>Asıl başlık stilini düzenle</a:t>
            </a:r>
          </a:p>
        </p:txBody>
      </p:sp>
      <p:sp>
        <p:nvSpPr>
          <p:cNvPr id="3" name="Dikey Metin Yer Tutucusu 2"/>
          <p:cNvSpPr>
            <a:spLocks noGrp="1"/>
          </p:cNvSpPr>
          <p:nvPr>
            <p:ph type="body" orient="vert" idx="1" hasCustomPrompt="1"/>
          </p:nvPr>
        </p:nvSpPr>
        <p:spPr>
          <a:xfrm>
            <a:off x="609600" y="1143000"/>
            <a:ext cx="8331200" cy="5448300"/>
          </a:xfrm>
        </p:spPr>
        <p:txBody>
          <a:bodyPr vert="eaVert" rtlCol="0"/>
          <a:lstStyle>
            <a:lvl5pPr>
              <a:defRPr/>
            </a:lvl5pPr>
          </a:lstStyle>
          <a:p>
            <a:pPr lvl="0" rtl="0" eaLnBrk="1" latinLnBrk="0" hangingPunct="1"/>
            <a:r>
              <a:rPr lang="tr-TR" noProof="0" dirty="0"/>
              <a:t>Asıl metin stillerini düzenlemek için tıklayın</a:t>
            </a:r>
          </a:p>
          <a:p>
            <a:pPr lvl="1" rtl="0" eaLnBrk="1" latinLnBrk="0" hangingPunct="1"/>
            <a:r>
              <a:rPr lang="tr-TR" noProof="0" dirty="0"/>
              <a:t>İkinci düzey</a:t>
            </a:r>
          </a:p>
          <a:p>
            <a:pPr lvl="2" rtl="0" eaLnBrk="1" latinLnBrk="0" hangingPunct="1"/>
            <a:r>
              <a:rPr lang="tr-TR" noProof="0" dirty="0"/>
              <a:t>Üçüncü düzey</a:t>
            </a:r>
          </a:p>
          <a:p>
            <a:pPr lvl="3" rtl="0" eaLnBrk="1" latinLnBrk="0" hangingPunct="1"/>
            <a:r>
              <a:rPr lang="tr-TR" noProof="0" dirty="0"/>
              <a:t>Dördüncü düzey</a:t>
            </a:r>
          </a:p>
          <a:p>
            <a:pPr lvl="4" rtl="0" eaLnBrk="1" latinLnBrk="0" hangingPunct="1"/>
            <a:r>
              <a:rPr lang="tr-TR" noProof="0" dirty="0"/>
              <a:t>Beşinci düzey</a:t>
            </a:r>
            <a:endParaRPr kumimoji="0" lang="tr-TR" noProof="0" dirty="0"/>
          </a:p>
        </p:txBody>
      </p:sp>
      <p:sp>
        <p:nvSpPr>
          <p:cNvPr id="5" name="Alt Bilgi Yer Tutucusu 4"/>
          <p:cNvSpPr>
            <a:spLocks noGrp="1"/>
          </p:cNvSpPr>
          <p:nvPr>
            <p:ph type="ftr" sz="quarter" idx="11"/>
          </p:nvPr>
        </p:nvSpPr>
        <p:spPr/>
        <p:txBody>
          <a:bodyPr rtlCol="0"/>
          <a:lstStyle/>
          <a:p>
            <a:pPr rtl="0"/>
            <a:r>
              <a:rPr lang="tr-TR" noProof="0" dirty="0"/>
              <a:t>Alt bilgi ekleme</a:t>
            </a:r>
          </a:p>
        </p:txBody>
      </p:sp>
      <p:sp>
        <p:nvSpPr>
          <p:cNvPr id="4" name="Tarih Yer Tutucusu 3"/>
          <p:cNvSpPr>
            <a:spLocks noGrp="1"/>
          </p:cNvSpPr>
          <p:nvPr>
            <p:ph type="dt" sz="half" idx="10"/>
          </p:nvPr>
        </p:nvSpPr>
        <p:spPr/>
        <p:txBody>
          <a:bodyPr rtlCol="0"/>
          <a:lstStyle>
            <a:lvl1pPr>
              <a:defRPr/>
            </a:lvl1pPr>
          </a:lstStyle>
          <a:p>
            <a:fld id="{C76B82DB-6D5C-486A-98D3-E008B7673553}" type="datetime1">
              <a:rPr lang="tr-TR" smtClean="0"/>
              <a:pPr/>
              <a:t>29.09.2026</a:t>
            </a:fld>
            <a:endParaRPr lang="tr-TR" dirty="0"/>
          </a:p>
        </p:txBody>
      </p:sp>
      <p:sp>
        <p:nvSpPr>
          <p:cNvPr id="6" name="Slayt Numarası Yer Tutucusu 5"/>
          <p:cNvSpPr>
            <a:spLocks noGrp="1"/>
          </p:cNvSpPr>
          <p:nvPr>
            <p:ph type="sldNum" sz="quarter" idx="12"/>
          </p:nvPr>
        </p:nvSpPr>
        <p:spPr/>
        <p:txBody>
          <a:bodyPr rtlCol="0"/>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2978088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Dikdörtgen 27"/>
          <p:cNvSpPr/>
          <p:nvPr/>
        </p:nvSpPr>
        <p:spPr>
          <a:xfrm>
            <a:off x="1" y="366819"/>
            <a:ext cx="12192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9" name="Dikdörtgen 28"/>
          <p:cNvSpPr/>
          <p:nvPr/>
        </p:nvSpPr>
        <p:spPr>
          <a:xfrm>
            <a:off x="0" y="-1"/>
            <a:ext cx="12192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0" name="Dikdörtgen 29"/>
          <p:cNvSpPr/>
          <p:nvPr/>
        </p:nvSpPr>
        <p:spPr>
          <a:xfrm>
            <a:off x="1" y="308277"/>
            <a:ext cx="12192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1" name="Dikdörtgen 30"/>
          <p:cNvSpPr/>
          <p:nvPr/>
        </p:nvSpPr>
        <p:spPr>
          <a:xfrm flipV="1">
            <a:off x="7213577" y="360247"/>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2" name="Dikdörtgen 31"/>
          <p:cNvSpPr/>
          <p:nvPr/>
        </p:nvSpPr>
        <p:spPr>
          <a:xfrm flipV="1">
            <a:off x="7213601" y="440113"/>
            <a:ext cx="49784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3" name="Yuvarlatılmış Dikdörtgen 32"/>
          <p:cNvSpPr/>
          <p:nvPr/>
        </p:nvSpPr>
        <p:spPr bwMode="white">
          <a:xfrm>
            <a:off x="7209785" y="497504"/>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useBgFill="1">
        <p:nvSpPr>
          <p:cNvPr id="34" name="Yuvarlatılmış Dikdörtgen 33"/>
          <p:cNvSpPr/>
          <p:nvPr/>
        </p:nvSpPr>
        <p:spPr bwMode="white">
          <a:xfrm>
            <a:off x="9831528" y="58894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5" name="Dikdörtgen 34"/>
          <p:cNvSpPr/>
          <p:nvPr/>
        </p:nvSpPr>
        <p:spPr bwMode="invGray">
          <a:xfrm>
            <a:off x="12113288" y="-2001"/>
            <a:ext cx="76835"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6" name="Dikdörtgen 35"/>
          <p:cNvSpPr/>
          <p:nvPr/>
        </p:nvSpPr>
        <p:spPr bwMode="invGray">
          <a:xfrm>
            <a:off x="12059308" y="-2001"/>
            <a:ext cx="3657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7" name="Dikdörtgen 36"/>
          <p:cNvSpPr/>
          <p:nvPr/>
        </p:nvSpPr>
        <p:spPr bwMode="invGray">
          <a:xfrm>
            <a:off x="12033904" y="-2001"/>
            <a:ext cx="12192"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8" name="Dikdörtgen 37"/>
          <p:cNvSpPr/>
          <p:nvPr/>
        </p:nvSpPr>
        <p:spPr bwMode="invGray">
          <a:xfrm>
            <a:off x="11967231" y="-2001"/>
            <a:ext cx="36576"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39" name="Dikdörtgen 38"/>
          <p:cNvSpPr/>
          <p:nvPr/>
        </p:nvSpPr>
        <p:spPr bwMode="invGray">
          <a:xfrm>
            <a:off x="11887569" y="380"/>
            <a:ext cx="73152"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40" name="Dikdörtgen 39"/>
          <p:cNvSpPr/>
          <p:nvPr/>
        </p:nvSpPr>
        <p:spPr bwMode="invGray">
          <a:xfrm>
            <a:off x="11831300" y="380"/>
            <a:ext cx="12192"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tr-TR" sz="1800" noProof="0" dirty="0"/>
          </a:p>
        </p:txBody>
      </p:sp>
      <p:sp>
        <p:nvSpPr>
          <p:cNvPr id="22" name="Başlık Yer Tutucusu 21"/>
          <p:cNvSpPr>
            <a:spLocks noGrp="1"/>
          </p:cNvSpPr>
          <p:nvPr>
            <p:ph type="title"/>
          </p:nvPr>
        </p:nvSpPr>
        <p:spPr>
          <a:xfrm>
            <a:off x="609600" y="1143000"/>
            <a:ext cx="10972800" cy="1066800"/>
          </a:xfrm>
          <a:prstGeom prst="rect">
            <a:avLst/>
          </a:prstGeom>
        </p:spPr>
        <p:txBody>
          <a:bodyPr vert="horz" rtlCol="0" anchor="ctr">
            <a:normAutofit/>
          </a:bodyPr>
          <a:lstStyle/>
          <a:p>
            <a:pPr rtl="0"/>
            <a:r>
              <a:rPr lang="tr-TR" noProof="0" dirty="0"/>
              <a:t>Asıl başlık stilini düzenlemek için tıklayın</a:t>
            </a:r>
          </a:p>
        </p:txBody>
      </p:sp>
      <p:sp>
        <p:nvSpPr>
          <p:cNvPr id="13" name="Metin Yer Tutucusu 12"/>
          <p:cNvSpPr>
            <a:spLocks noGrp="1"/>
          </p:cNvSpPr>
          <p:nvPr>
            <p:ph type="body" idx="1"/>
          </p:nvPr>
        </p:nvSpPr>
        <p:spPr>
          <a:xfrm>
            <a:off x="609600" y="2249424"/>
            <a:ext cx="10972800" cy="4325112"/>
          </a:xfrm>
          <a:prstGeom prst="rect">
            <a:avLst/>
          </a:prstGeom>
        </p:spPr>
        <p:txBody>
          <a:bodyPr vert="horz" rtlCol="0">
            <a:normAutofit/>
          </a:bodyPr>
          <a:lstStyle/>
          <a:p>
            <a:pPr lvl="0" rtl="0"/>
            <a:r>
              <a:rPr lang="tr-TR" noProof="0" dirty="0"/>
              <a:t>Asıl metin stillerini düzenle</a:t>
            </a:r>
          </a:p>
          <a:p>
            <a:pPr lvl="1" rtl="0"/>
            <a:r>
              <a:rPr lang="tr-TR" noProof="0" dirty="0"/>
              <a:t>İkinci düzey</a:t>
            </a:r>
          </a:p>
          <a:p>
            <a:pPr lvl="2" rtl="0"/>
            <a:r>
              <a:rPr lang="tr-TR" noProof="0" dirty="0"/>
              <a:t>Üçüncü düzey</a:t>
            </a:r>
          </a:p>
          <a:p>
            <a:pPr lvl="3" rtl="0"/>
            <a:r>
              <a:rPr lang="tr-TR" noProof="0" dirty="0"/>
              <a:t>Dördüncü düzey</a:t>
            </a:r>
          </a:p>
          <a:p>
            <a:pPr lvl="4" rtl="0"/>
            <a:r>
              <a:rPr lang="tr-TR" noProof="0" dirty="0"/>
              <a:t>Beşinci düzey</a:t>
            </a:r>
          </a:p>
        </p:txBody>
      </p:sp>
      <p:sp>
        <p:nvSpPr>
          <p:cNvPr id="3" name="Alt Bilgi Yer Tutucusu 2"/>
          <p:cNvSpPr>
            <a:spLocks noGrp="1"/>
          </p:cNvSpPr>
          <p:nvPr>
            <p:ph type="ftr" sz="quarter" idx="3"/>
          </p:nvPr>
        </p:nvSpPr>
        <p:spPr>
          <a:xfrm>
            <a:off x="7010400" y="612648"/>
            <a:ext cx="1767840" cy="457200"/>
          </a:xfrm>
          <a:prstGeom prst="rect">
            <a:avLst/>
          </a:prstGeom>
        </p:spPr>
        <p:txBody>
          <a:bodyPr vert="horz" rtlCol="0"/>
          <a:lstStyle>
            <a:lvl1pPr algn="r" eaLnBrk="1" latinLnBrk="0" hangingPunct="1">
              <a:defRPr kumimoji="0" sz="1100">
                <a:solidFill>
                  <a:schemeClr val="accent2">
                    <a:lumMod val="75000"/>
                  </a:schemeClr>
                </a:solidFill>
              </a:defRPr>
            </a:lvl1pPr>
          </a:lstStyle>
          <a:p>
            <a:pPr rtl="0"/>
            <a:r>
              <a:rPr lang="tr-TR" noProof="0" dirty="0"/>
              <a:t>Alt bilgi ekleme</a:t>
            </a:r>
          </a:p>
        </p:txBody>
      </p:sp>
      <p:sp>
        <p:nvSpPr>
          <p:cNvPr id="14" name="Tarih Yer Tutucusu 13"/>
          <p:cNvSpPr>
            <a:spLocks noGrp="1"/>
          </p:cNvSpPr>
          <p:nvPr>
            <p:ph type="dt" sz="half" idx="2"/>
          </p:nvPr>
        </p:nvSpPr>
        <p:spPr>
          <a:xfrm>
            <a:off x="8782048" y="612648"/>
            <a:ext cx="1276352" cy="457200"/>
          </a:xfrm>
          <a:prstGeom prst="rect">
            <a:avLst/>
          </a:prstGeom>
        </p:spPr>
        <p:txBody>
          <a:bodyPr vert="horz" rtlCol="0"/>
          <a:lstStyle>
            <a:lvl1pPr algn="l" eaLnBrk="1" latinLnBrk="0" hangingPunct="1">
              <a:defRPr kumimoji="0" sz="1100">
                <a:solidFill>
                  <a:schemeClr val="accent2">
                    <a:lumMod val="75000"/>
                  </a:schemeClr>
                </a:solidFill>
              </a:defRPr>
            </a:lvl1pPr>
          </a:lstStyle>
          <a:p>
            <a:fld id="{8A9E5AA4-4083-47B0-96D9-3464BE7D917D}" type="datetime1">
              <a:rPr lang="tr-TR" smtClean="0"/>
              <a:pPr/>
              <a:t>29.09.2026</a:t>
            </a:fld>
            <a:endParaRPr lang="tr-TR" dirty="0"/>
          </a:p>
        </p:txBody>
      </p:sp>
      <p:sp>
        <p:nvSpPr>
          <p:cNvPr id="23" name="Slayt Numarası Yer Tutucusu 22"/>
          <p:cNvSpPr>
            <a:spLocks noGrp="1"/>
          </p:cNvSpPr>
          <p:nvPr>
            <p:ph type="sldNum" sz="quarter" idx="4"/>
          </p:nvPr>
        </p:nvSpPr>
        <p:spPr>
          <a:xfrm>
            <a:off x="10899648" y="2272"/>
            <a:ext cx="1016000" cy="365760"/>
          </a:xfrm>
          <a:prstGeom prst="rect">
            <a:avLst/>
          </a:prstGeom>
        </p:spPr>
        <p:txBody>
          <a:bodyPr vert="horz" rtlCol="0" anchor="b"/>
          <a:lstStyle>
            <a:lvl1pPr algn="r" eaLnBrk="1" latinLnBrk="0" hangingPunct="1">
              <a:defRPr kumimoji="0" sz="1800">
                <a:solidFill>
                  <a:srgbClr val="FFFFFF"/>
                </a:solidFill>
              </a:defRPr>
            </a:lvl1pPr>
          </a:lstStyle>
          <a:p>
            <a:pPr rtl="0"/>
            <a:fld id="{401CF334-2D5C-4859-84A6-CA7E6E43FAEB}" type="slidenum">
              <a:rPr lang="tr-TR" noProof="0" smtClean="0"/>
              <a:t>‹#›</a:t>
            </a:fld>
            <a:endParaRPr lang="tr-TR" noProof="0" dirty="0"/>
          </a:p>
        </p:txBody>
      </p:sp>
    </p:spTree>
    <p:extLst>
      <p:ext uri="{BB962C8B-B14F-4D97-AF65-F5344CB8AC3E}">
        <p14:creationId xmlns:p14="http://schemas.microsoft.com/office/powerpoint/2010/main" val="213217172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lumMod val="75000"/>
          </a:schemeClr>
        </a:buClr>
        <a:buFont typeface="Georgia"/>
        <a:buChar char="•"/>
        <a:defRPr kumimoji="0" sz="2800" kern="1200">
          <a:solidFill>
            <a:schemeClr val="tx2"/>
          </a:solidFill>
          <a:latin typeface="+mn-lt"/>
          <a:ea typeface="+mn-ea"/>
          <a:cs typeface="+mn-cs"/>
        </a:defRPr>
      </a:lvl1pPr>
      <a:lvl2pPr marL="658368" indent="-246888" algn="l" rtl="0" eaLnBrk="1" latinLnBrk="0" hangingPunct="1">
        <a:spcBef>
          <a:spcPts val="300"/>
        </a:spcBef>
        <a:buClr>
          <a:schemeClr val="accent2">
            <a:lumMod val="75000"/>
          </a:schemeClr>
        </a:buClr>
        <a:buFont typeface="Georgia"/>
        <a:buChar char="▫"/>
        <a:defRPr kumimoji="0" sz="2600" kern="1200">
          <a:solidFill>
            <a:schemeClr val="tx2"/>
          </a:solidFill>
          <a:latin typeface="+mn-lt"/>
          <a:ea typeface="+mn-ea"/>
          <a:cs typeface="+mn-cs"/>
        </a:defRPr>
      </a:lvl2pPr>
      <a:lvl3pPr marL="923544" indent="-219456" algn="l" rtl="0" eaLnBrk="1" latinLnBrk="0" hangingPunct="1">
        <a:spcBef>
          <a:spcPts val="300"/>
        </a:spcBef>
        <a:buClr>
          <a:schemeClr val="accent1">
            <a:lumMod val="50000"/>
          </a:schemeClr>
        </a:buClr>
        <a:buFont typeface="Wingdings 2" panose="05020102010507070707" pitchFamily="18" charset="2"/>
        <a:buChar char=""/>
        <a:defRPr kumimoji="0" sz="2400" kern="1200">
          <a:solidFill>
            <a:schemeClr val="tx2"/>
          </a:solidFill>
          <a:latin typeface="+mn-lt"/>
          <a:ea typeface="+mn-ea"/>
          <a:cs typeface="+mn-cs"/>
        </a:defRPr>
      </a:lvl3pPr>
      <a:lvl4pPr marL="1179576" indent="-201168" algn="l" rtl="0" eaLnBrk="1" latinLnBrk="0" hangingPunct="1">
        <a:spcBef>
          <a:spcPts val="300"/>
        </a:spcBef>
        <a:buClr>
          <a:schemeClr val="accent1">
            <a:lumMod val="50000"/>
          </a:schemeClr>
        </a:buClr>
        <a:buFont typeface="Wingdings 2" panose="05020102010507070707" pitchFamily="18" charset="2"/>
        <a:buChar char=""/>
        <a:defRPr kumimoji="0" sz="2200" kern="1200">
          <a:solidFill>
            <a:schemeClr val="tx2"/>
          </a:solidFill>
          <a:latin typeface="+mn-lt"/>
          <a:ea typeface="+mn-ea"/>
          <a:cs typeface="+mn-cs"/>
        </a:defRPr>
      </a:lvl4pPr>
      <a:lvl5pPr marL="1389888" indent="-182880" algn="l" rtl="0" eaLnBrk="1" latinLnBrk="0" hangingPunct="1">
        <a:spcBef>
          <a:spcPts val="300"/>
        </a:spcBef>
        <a:buClr>
          <a:schemeClr val="accent1">
            <a:lumMod val="50000"/>
          </a:schemeClr>
        </a:buClr>
        <a:buFont typeface="Wingdings 2" panose="05020102010507070707" pitchFamily="18" charset="2"/>
        <a:buChar char=""/>
        <a:defRPr kumimoji="0" sz="2000" kern="1200">
          <a:solidFill>
            <a:schemeClr val="tx2"/>
          </a:solidFill>
          <a:latin typeface="+mn-lt"/>
          <a:ea typeface="+mn-ea"/>
          <a:cs typeface="+mn-cs"/>
        </a:defRPr>
      </a:lvl5pPr>
      <a:lvl6pPr marL="1609344" indent="-182880" algn="l" rtl="0" eaLnBrk="1" latinLnBrk="0" hangingPunct="1">
        <a:spcBef>
          <a:spcPts val="300"/>
        </a:spcBef>
        <a:buClr>
          <a:schemeClr val="accent1">
            <a:lumMod val="50000"/>
          </a:schemeClr>
        </a:buClr>
        <a:buFont typeface="Wingdings 2" panose="05020102010507070707" pitchFamily="18" charset="2"/>
        <a:buChar char=""/>
        <a:defRPr kumimoji="0" sz="1800" kern="1200">
          <a:solidFill>
            <a:schemeClr val="tx2"/>
          </a:solidFill>
          <a:latin typeface="+mn-lt"/>
          <a:ea typeface="+mn-ea"/>
          <a:cs typeface="+mn-cs"/>
        </a:defRPr>
      </a:lvl6pPr>
      <a:lvl7pPr marL="1828800" indent="-182880" algn="l" rtl="0" eaLnBrk="1" latinLnBrk="0" hangingPunct="1">
        <a:spcBef>
          <a:spcPts val="300"/>
        </a:spcBef>
        <a:buClr>
          <a:schemeClr val="accent1">
            <a:lumMod val="50000"/>
          </a:schemeClr>
        </a:buClr>
        <a:buFont typeface="Wingdings 2" panose="05020102010507070707" pitchFamily="18" charset="2"/>
        <a:buChar char=""/>
        <a:defRPr kumimoji="0" sz="1600" kern="1200">
          <a:solidFill>
            <a:schemeClr val="tx2"/>
          </a:solidFill>
          <a:latin typeface="+mn-lt"/>
          <a:ea typeface="+mn-ea"/>
          <a:cs typeface="+mn-cs"/>
        </a:defRPr>
      </a:lvl7pPr>
      <a:lvl8pPr marL="2029968" indent="-182880" algn="l" rtl="0" eaLnBrk="1" latinLnBrk="0" hangingPunct="1">
        <a:spcBef>
          <a:spcPts val="300"/>
        </a:spcBef>
        <a:buClr>
          <a:schemeClr val="accent1">
            <a:lumMod val="50000"/>
          </a:schemeClr>
        </a:buClr>
        <a:buFont typeface="Wingdings 2" panose="05020102010507070707" pitchFamily="18" charset="2"/>
        <a:buChar char=""/>
        <a:defRPr kumimoji="0" sz="1500" kern="1200">
          <a:solidFill>
            <a:schemeClr val="tx2"/>
          </a:solidFill>
          <a:latin typeface="+mn-lt"/>
          <a:ea typeface="+mn-ea"/>
          <a:cs typeface="+mn-cs"/>
        </a:defRPr>
      </a:lvl8pPr>
      <a:lvl9pPr marL="2240280" indent="-182880" algn="l" rtl="0" eaLnBrk="1" latinLnBrk="0" hangingPunct="1">
        <a:spcBef>
          <a:spcPts val="300"/>
        </a:spcBef>
        <a:buClr>
          <a:schemeClr val="accent1">
            <a:lumMod val="50000"/>
          </a:schemeClr>
        </a:buClr>
        <a:buFont typeface="Wingdings 2" panose="05020102010507070707" pitchFamily="18" charset="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2160" userDrawn="1">
          <p15:clr>
            <a:srgbClr val="F26B43"/>
          </p15:clr>
        </p15:guide>
        <p15:guide id="1" pos="3840" userDrawn="1">
          <p15:clr>
            <a:srgbClr val="F26B43"/>
          </p15:clr>
        </p15:guide>
        <p15:guide id="2" orient="horz" pos="415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0.gi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5.jpeg"/><Relationship Id="rId4" Type="http://schemas.openxmlformats.org/officeDocument/2006/relationships/image" Target="../media/image24.jpe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9.jpeg"/></Relationships>
</file>

<file path=ppt/slides/_rels/slide2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1.jpeg"/></Relationships>
</file>

<file path=ppt/slides/_rels/slide2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3.jpeg"/></Relationships>
</file>

<file path=ppt/slides/_rels/slide2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5.jpeg"/></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9.jpe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41.jpe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44.jpe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p:txBody>
          <a:bodyPr rtlCol="0"/>
          <a:lstStyle/>
          <a:p>
            <a:pPr rtl="0"/>
            <a:r>
              <a:rPr lang="tr-TR" dirty="0"/>
              <a:t>Ağ ve Bilişim Güvenliği</a:t>
            </a:r>
          </a:p>
        </p:txBody>
      </p:sp>
      <p:sp>
        <p:nvSpPr>
          <p:cNvPr id="3" name="Alt Başlık 2"/>
          <p:cNvSpPr>
            <a:spLocks noGrp="1"/>
          </p:cNvSpPr>
          <p:nvPr>
            <p:ph type="subTitle" idx="1"/>
          </p:nvPr>
        </p:nvSpPr>
        <p:spPr/>
        <p:txBody>
          <a:bodyPr rtlCol="0"/>
          <a:lstStyle/>
          <a:p>
            <a:pPr rtl="0"/>
            <a:r>
              <a:rPr lang="tr-TR"/>
              <a:t>Zafer </a:t>
            </a:r>
            <a:r>
              <a:rPr lang="tr-TR" dirty="0"/>
              <a:t>SERİN</a:t>
            </a:r>
          </a:p>
        </p:txBody>
      </p:sp>
    </p:spTree>
    <p:extLst>
      <p:ext uri="{BB962C8B-B14F-4D97-AF65-F5344CB8AC3E}">
        <p14:creationId xmlns:p14="http://schemas.microsoft.com/office/powerpoint/2010/main" val="706305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AĞ(NETWORK) NEDİR?</a:t>
            </a:r>
          </a:p>
        </p:txBody>
      </p:sp>
      <p:sp>
        <p:nvSpPr>
          <p:cNvPr id="3" name="İçerik Yer Tutucusu 2"/>
          <p:cNvSpPr>
            <a:spLocks noGrp="1"/>
          </p:cNvSpPr>
          <p:nvPr>
            <p:ph idx="1"/>
          </p:nvPr>
        </p:nvSpPr>
        <p:spPr/>
        <p:txBody>
          <a:bodyPr rtlCol="0"/>
          <a:lstStyle/>
          <a:p>
            <a:pPr algn="just"/>
            <a:r>
              <a:rPr lang="tr-TR" dirty="0"/>
              <a:t>Ağ (Network), iki veya daha fazla bilgisayarın ve diğer aygıtların birbirleriyle iletişim kurmasını ve veri paylaşmasını sağlayan bir sistemdir. Ağlar, farklı cihazların birbirleriyle bağlanarak bilgi alışverişi yapmasını, kaynakları paylaşmasını ve ortak hizmetler kullanmasını mümkün kılar.</a:t>
            </a:r>
          </a:p>
        </p:txBody>
      </p:sp>
      <p:pic>
        <p:nvPicPr>
          <p:cNvPr id="2050" name="Picture 2" descr="Ağ (Network) Nedir? | Wise Soft İnternet Hizmetler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 y="4756638"/>
            <a:ext cx="2704443" cy="181789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Network Teknolojileri"/>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90162" y="4756638"/>
            <a:ext cx="3092238" cy="1817898"/>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Basics of Computer Networking - GeeksforGeeks"/>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544965" y="4756638"/>
            <a:ext cx="2140009" cy="18178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2548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YEREL ALAN AĞI(LOCAL AREA NETWORK) NEDİR?</a:t>
            </a:r>
          </a:p>
        </p:txBody>
      </p:sp>
      <p:sp>
        <p:nvSpPr>
          <p:cNvPr id="3" name="İçerik Yer Tutucusu 2"/>
          <p:cNvSpPr>
            <a:spLocks noGrp="1"/>
          </p:cNvSpPr>
          <p:nvPr>
            <p:ph idx="1"/>
          </p:nvPr>
        </p:nvSpPr>
        <p:spPr/>
        <p:txBody>
          <a:bodyPr rtlCol="0"/>
          <a:lstStyle/>
          <a:p>
            <a:pPr algn="just"/>
            <a:r>
              <a:rPr lang="tr-TR" dirty="0" err="1"/>
              <a:t>Local</a:t>
            </a:r>
            <a:r>
              <a:rPr lang="tr-TR" dirty="0"/>
              <a:t> </a:t>
            </a:r>
            <a:r>
              <a:rPr lang="tr-TR" dirty="0" err="1"/>
              <a:t>Area</a:t>
            </a:r>
            <a:r>
              <a:rPr lang="tr-TR" dirty="0"/>
              <a:t> Network (LAN), bir bina, ofis, okul veya ev gibi küçük bir coğrafi alanda bulunan bilgisayarların ve diğer aygıtların birbirine bağlandığı bir ağ türüdür. LAN, bu cihazların birbirleriyle veri paylaşmasını, dosya transferini, yazıcı paylaşımını ve diğer ağ tabanlı hizmetleri sağlar.</a:t>
            </a:r>
          </a:p>
        </p:txBody>
      </p:sp>
      <p:pic>
        <p:nvPicPr>
          <p:cNvPr id="3074" name="Picture 2" descr="What is a LAN (local area network)? | Cloudflar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1" y="4633546"/>
            <a:ext cx="2660450" cy="194099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What is local area network (LAN) in computer - IT Releas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06607" y="4628504"/>
            <a:ext cx="2675793" cy="1946031"/>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Local Area Networks | LAN Overview ⋆ IPCisco"/>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22068" y="4628504"/>
            <a:ext cx="2502914" cy="19460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9670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GENİŞ ALAN AĞI(WİDE AREA NETWORK) NEDİR?</a:t>
            </a:r>
          </a:p>
        </p:txBody>
      </p:sp>
      <p:sp>
        <p:nvSpPr>
          <p:cNvPr id="3" name="İçerik Yer Tutucusu 2"/>
          <p:cNvSpPr>
            <a:spLocks noGrp="1"/>
          </p:cNvSpPr>
          <p:nvPr>
            <p:ph idx="1"/>
          </p:nvPr>
        </p:nvSpPr>
        <p:spPr/>
        <p:txBody>
          <a:bodyPr rtlCol="0"/>
          <a:lstStyle/>
          <a:p>
            <a:pPr algn="just"/>
            <a:r>
              <a:rPr lang="tr-TR" dirty="0" err="1"/>
              <a:t>Wide</a:t>
            </a:r>
            <a:r>
              <a:rPr lang="tr-TR" dirty="0"/>
              <a:t> </a:t>
            </a:r>
            <a:r>
              <a:rPr lang="tr-TR" dirty="0" err="1"/>
              <a:t>Area</a:t>
            </a:r>
            <a:r>
              <a:rPr lang="tr-TR" dirty="0"/>
              <a:t> Network (WAN), büyük coğrafi alanları (şehirler, ülkeler veya kıtalar) kapsayan bilgisayar ağlarını ifade eder. WAN, daha küçük ağlar olan </a:t>
            </a:r>
            <a:r>
              <a:rPr lang="tr-TR" dirty="0" err="1"/>
              <a:t>Local</a:t>
            </a:r>
            <a:r>
              <a:rPr lang="tr-TR" dirty="0"/>
              <a:t> </a:t>
            </a:r>
            <a:r>
              <a:rPr lang="tr-TR" dirty="0" err="1"/>
              <a:t>Area</a:t>
            </a:r>
            <a:r>
              <a:rPr lang="tr-TR" dirty="0"/>
              <a:t> Network (LAN) ve </a:t>
            </a:r>
            <a:r>
              <a:rPr lang="tr-TR" dirty="0" err="1"/>
              <a:t>Metropolitan</a:t>
            </a:r>
            <a:r>
              <a:rPr lang="tr-TR" dirty="0"/>
              <a:t> </a:t>
            </a:r>
            <a:r>
              <a:rPr lang="tr-TR" dirty="0" err="1"/>
              <a:t>Area</a:t>
            </a:r>
            <a:r>
              <a:rPr lang="tr-TR" dirty="0"/>
              <a:t> Network (MAN) gibi ağları birbirine bağlayarak, uzak yerlerdeki cihazların ve kullanıcıların birbirleriyle iletişim kurmasını sağlar. İnternet, en büyük WAN örneğidir.</a:t>
            </a:r>
          </a:p>
        </p:txBody>
      </p:sp>
      <p:pic>
        <p:nvPicPr>
          <p:cNvPr id="4098" name="Picture 2" descr="4. Wide Area Network (WAN) [3]. | Download Scientific Diagra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1" y="4835769"/>
            <a:ext cx="2892272" cy="1738766"/>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What Is a Wide Area Network (WAN)? | Sangfor Glossary"/>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08831" y="4832361"/>
            <a:ext cx="2473569" cy="1742174"/>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Wide Area Network (WAN) - CyberHoot Cyber Library"/>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02219" y="4832361"/>
            <a:ext cx="2387562" cy="17421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1951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DİĞER AĞ TÜRLERİ</a:t>
            </a:r>
          </a:p>
        </p:txBody>
      </p:sp>
      <p:sp>
        <p:nvSpPr>
          <p:cNvPr id="3" name="İçerik Yer Tutucusu 2"/>
          <p:cNvSpPr>
            <a:spLocks noGrp="1"/>
          </p:cNvSpPr>
          <p:nvPr>
            <p:ph idx="1"/>
          </p:nvPr>
        </p:nvSpPr>
        <p:spPr/>
        <p:txBody>
          <a:bodyPr rtlCol="0"/>
          <a:lstStyle/>
          <a:p>
            <a:pPr algn="just"/>
            <a:r>
              <a:rPr lang="tr-TR" b="1" dirty="0" err="1"/>
              <a:t>Metropolitan</a:t>
            </a:r>
            <a:r>
              <a:rPr lang="tr-TR" b="1" dirty="0"/>
              <a:t> </a:t>
            </a:r>
            <a:r>
              <a:rPr lang="tr-TR" b="1" dirty="0" err="1"/>
              <a:t>Area</a:t>
            </a:r>
            <a:r>
              <a:rPr lang="tr-TR" b="1" dirty="0"/>
              <a:t> Network (MAN)</a:t>
            </a:r>
            <a:r>
              <a:rPr lang="tr-TR" dirty="0"/>
              <a:t>: Şehir veya büyük kampüs gibi orta ölçekli bir alanı kapsayan cihazları birbirine bağlar.</a:t>
            </a:r>
          </a:p>
          <a:p>
            <a:pPr algn="just"/>
            <a:r>
              <a:rPr lang="tr-TR" b="1" dirty="0" err="1"/>
              <a:t>Personal</a:t>
            </a:r>
            <a:r>
              <a:rPr lang="tr-TR" b="1" dirty="0"/>
              <a:t> </a:t>
            </a:r>
            <a:r>
              <a:rPr lang="tr-TR" b="1" dirty="0" err="1"/>
              <a:t>Area</a:t>
            </a:r>
            <a:r>
              <a:rPr lang="tr-TR" b="1" dirty="0"/>
              <a:t> Network (PAN)</a:t>
            </a:r>
            <a:r>
              <a:rPr lang="tr-TR" dirty="0"/>
              <a:t>: Kişisel kullanım için tasarlanmış, genellikle bir kişinin kullandığı cihazları (örneğin, akıllı telefon, dizüstü bilgisayar ve tablet) birbirine bağlar.</a:t>
            </a:r>
          </a:p>
        </p:txBody>
      </p:sp>
    </p:spTree>
    <p:extLst>
      <p:ext uri="{BB962C8B-B14F-4D97-AF65-F5344CB8AC3E}">
        <p14:creationId xmlns:p14="http://schemas.microsoft.com/office/powerpoint/2010/main" val="899659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AĞ TOPOLOJİLERİ</a:t>
            </a:r>
          </a:p>
        </p:txBody>
      </p:sp>
      <p:sp>
        <p:nvSpPr>
          <p:cNvPr id="3" name="İçerik Yer Tutucusu 2"/>
          <p:cNvSpPr>
            <a:spLocks noGrp="1"/>
          </p:cNvSpPr>
          <p:nvPr>
            <p:ph idx="1"/>
          </p:nvPr>
        </p:nvSpPr>
        <p:spPr/>
        <p:txBody>
          <a:bodyPr rtlCol="0"/>
          <a:lstStyle/>
          <a:p>
            <a:pPr algn="just"/>
            <a:r>
              <a:rPr lang="tr-TR" dirty="0"/>
              <a:t>Ağ topolojileri, bilgisayar ağlarındaki cihazların fiziksel veya mantıksal olarak nasıl bağlandığını ve iletişim kurduğunu tanımlayan yapılardır. Farklı topolojiler, farklı performans, güvenlik ve yönetim özellikleri sunar.</a:t>
            </a:r>
          </a:p>
        </p:txBody>
      </p:sp>
    </p:spTree>
    <p:extLst>
      <p:ext uri="{BB962C8B-B14F-4D97-AF65-F5344CB8AC3E}">
        <p14:creationId xmlns:p14="http://schemas.microsoft.com/office/powerpoint/2010/main" val="687176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YILDIZ(STAR) TOPOLOJİSİ</a:t>
            </a:r>
          </a:p>
        </p:txBody>
      </p:sp>
      <p:sp>
        <p:nvSpPr>
          <p:cNvPr id="3" name="İçerik Yer Tutucusu 2"/>
          <p:cNvSpPr>
            <a:spLocks noGrp="1"/>
          </p:cNvSpPr>
          <p:nvPr>
            <p:ph idx="1"/>
          </p:nvPr>
        </p:nvSpPr>
        <p:spPr/>
        <p:txBody>
          <a:bodyPr rtlCol="0"/>
          <a:lstStyle/>
          <a:p>
            <a:pPr algn="just"/>
            <a:r>
              <a:rPr lang="tr-TR" b="1" dirty="0"/>
              <a:t>Açıklama</a:t>
            </a:r>
            <a:r>
              <a:rPr lang="tr-TR" dirty="0"/>
              <a:t>: Tüm cihazlar, merkezi bir </a:t>
            </a:r>
            <a:r>
              <a:rPr lang="tr-TR" dirty="0" err="1"/>
              <a:t>hub</a:t>
            </a:r>
            <a:r>
              <a:rPr lang="tr-TR" dirty="0"/>
              <a:t> veya anahtar (</a:t>
            </a:r>
            <a:r>
              <a:rPr lang="tr-TR" dirty="0" err="1"/>
              <a:t>switch</a:t>
            </a:r>
            <a:r>
              <a:rPr lang="tr-TR" dirty="0"/>
              <a:t>) üzerinden birbirine bağlanır. Her cihaz, </a:t>
            </a:r>
            <a:r>
              <a:rPr lang="tr-TR" dirty="0" err="1"/>
              <a:t>hub'a</a:t>
            </a:r>
            <a:r>
              <a:rPr lang="tr-TR" dirty="0"/>
              <a:t> doğrudan bağlıdır.</a:t>
            </a:r>
          </a:p>
          <a:p>
            <a:pPr algn="just"/>
            <a:r>
              <a:rPr lang="tr-TR" b="1" dirty="0"/>
              <a:t>Avantajlar</a:t>
            </a:r>
            <a:r>
              <a:rPr lang="tr-TR" dirty="0"/>
              <a:t>: Hata tespiti ve düzeltme kolaydır. Tek bir cihazın arızası, diğer cihazları etkilemez.</a:t>
            </a:r>
          </a:p>
          <a:p>
            <a:pPr algn="just"/>
            <a:r>
              <a:rPr lang="tr-TR" b="1" dirty="0"/>
              <a:t>Dezavantajlar</a:t>
            </a:r>
            <a:r>
              <a:rPr lang="tr-TR" dirty="0"/>
              <a:t>: </a:t>
            </a:r>
            <a:r>
              <a:rPr lang="tr-TR" dirty="0" err="1"/>
              <a:t>Hub'ın</a:t>
            </a:r>
            <a:r>
              <a:rPr lang="tr-TR" dirty="0"/>
              <a:t> arızası, tüm ağı etkiler. </a:t>
            </a:r>
            <a:r>
              <a:rPr lang="tr-TR" dirty="0" err="1"/>
              <a:t>Hub</a:t>
            </a:r>
            <a:r>
              <a:rPr lang="tr-TR" dirty="0"/>
              <a:t> ve kablolar için yüksek maliyet gerektirir.</a:t>
            </a:r>
          </a:p>
        </p:txBody>
      </p:sp>
    </p:spTree>
    <p:extLst>
      <p:ext uri="{BB962C8B-B14F-4D97-AF65-F5344CB8AC3E}">
        <p14:creationId xmlns:p14="http://schemas.microsoft.com/office/powerpoint/2010/main" val="2722235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YILDIZ(STAR) TOPOLOJİSİ</a:t>
            </a:r>
          </a:p>
        </p:txBody>
      </p:sp>
      <p:pic>
        <p:nvPicPr>
          <p:cNvPr id="5122" name="Picture 2" descr="Yıldız topolojisi - Vikipedi"/>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527559" y="2209800"/>
            <a:ext cx="4248150" cy="360045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Network / Ağ Topolojileri (Ağ Topolojisi) | by Fırat Esatoğlu | 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93668" y="2209800"/>
            <a:ext cx="3569886" cy="3600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1984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HALKA(RING) TOPOLOJİSİ</a:t>
            </a:r>
          </a:p>
        </p:txBody>
      </p:sp>
      <p:sp>
        <p:nvSpPr>
          <p:cNvPr id="3" name="İçerik Yer Tutucusu 2"/>
          <p:cNvSpPr>
            <a:spLocks noGrp="1"/>
          </p:cNvSpPr>
          <p:nvPr>
            <p:ph idx="1"/>
          </p:nvPr>
        </p:nvSpPr>
        <p:spPr/>
        <p:txBody>
          <a:bodyPr rtlCol="0"/>
          <a:lstStyle/>
          <a:p>
            <a:pPr algn="just"/>
            <a:r>
              <a:rPr lang="tr-TR" b="1" dirty="0"/>
              <a:t>Açıklama</a:t>
            </a:r>
            <a:r>
              <a:rPr lang="tr-TR" dirty="0"/>
              <a:t>: Cihazlar, bir halka şeklinde sırayla birbirine bağlanır. Her cihaz, yalnızca komşu cihazlarla iletişim kurar.</a:t>
            </a:r>
          </a:p>
          <a:p>
            <a:pPr algn="just"/>
            <a:r>
              <a:rPr lang="tr-TR" b="1" dirty="0"/>
              <a:t>Avantajlar</a:t>
            </a:r>
            <a:r>
              <a:rPr lang="tr-TR" dirty="0"/>
              <a:t>: Veri aktarımı hızlıdır. Ağın yönetimi ve genişletilmesi kolaydır.</a:t>
            </a:r>
          </a:p>
          <a:p>
            <a:pPr algn="just"/>
            <a:r>
              <a:rPr lang="tr-TR" b="1" dirty="0"/>
              <a:t>Dezavantajlar</a:t>
            </a:r>
            <a:r>
              <a:rPr lang="tr-TR" dirty="0"/>
              <a:t>: Tek bir cihazın arızası, tüm ağı etkileyebilir. Hata tespiti zor olabilir.</a:t>
            </a:r>
          </a:p>
        </p:txBody>
      </p:sp>
    </p:spTree>
    <p:extLst>
      <p:ext uri="{BB962C8B-B14F-4D97-AF65-F5344CB8AC3E}">
        <p14:creationId xmlns:p14="http://schemas.microsoft.com/office/powerpoint/2010/main" val="3651678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HALKA(RING) TOPOLOJİSİ</a:t>
            </a:r>
          </a:p>
        </p:txBody>
      </p:sp>
      <p:pic>
        <p:nvPicPr>
          <p:cNvPr id="9218" name="Picture 2" descr="Halka Topolojisi"/>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102299" y="2209800"/>
            <a:ext cx="4158293" cy="3786554"/>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Ağ Topolojileri Nedir - Mühendis Beyinl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2046" y="2209800"/>
            <a:ext cx="4158900" cy="3493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0716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YIĞIN(BUS) TOPOLOJİSİ</a:t>
            </a:r>
          </a:p>
        </p:txBody>
      </p:sp>
      <p:sp>
        <p:nvSpPr>
          <p:cNvPr id="3" name="İçerik Yer Tutucusu 2"/>
          <p:cNvSpPr>
            <a:spLocks noGrp="1"/>
          </p:cNvSpPr>
          <p:nvPr>
            <p:ph idx="1"/>
          </p:nvPr>
        </p:nvSpPr>
        <p:spPr/>
        <p:txBody>
          <a:bodyPr rtlCol="0"/>
          <a:lstStyle/>
          <a:p>
            <a:pPr algn="just"/>
            <a:r>
              <a:rPr lang="tr-TR" b="1" dirty="0"/>
              <a:t>Açıklama</a:t>
            </a:r>
            <a:r>
              <a:rPr lang="tr-TR" dirty="0"/>
              <a:t>: Tüm cihazlar, tek bir ana kabloya (</a:t>
            </a:r>
            <a:r>
              <a:rPr lang="tr-TR" dirty="0" err="1"/>
              <a:t>bus</a:t>
            </a:r>
            <a:r>
              <a:rPr lang="tr-TR" dirty="0"/>
              <a:t>) paralel olarak bağlanır. Veri, bu ana kablo üzerinden tüm cihazlara iletilir.</a:t>
            </a:r>
          </a:p>
          <a:p>
            <a:pPr algn="just"/>
            <a:r>
              <a:rPr lang="tr-TR" b="1" dirty="0"/>
              <a:t>Avantajlar</a:t>
            </a:r>
            <a:r>
              <a:rPr lang="tr-TR" dirty="0"/>
              <a:t>: Kurulumu ve genişletilmesi kolaydır. Maliyeti düşüktür.</a:t>
            </a:r>
          </a:p>
          <a:p>
            <a:pPr algn="just"/>
            <a:r>
              <a:rPr lang="tr-TR" b="1" dirty="0"/>
              <a:t>Dezavantajlar</a:t>
            </a:r>
            <a:r>
              <a:rPr lang="tr-TR" dirty="0"/>
              <a:t>: Tek bir kablo arızası, tüm ağı etkiler.</a:t>
            </a:r>
          </a:p>
        </p:txBody>
      </p:sp>
    </p:spTree>
    <p:extLst>
      <p:ext uri="{BB962C8B-B14F-4D97-AF65-F5344CB8AC3E}">
        <p14:creationId xmlns:p14="http://schemas.microsoft.com/office/powerpoint/2010/main" val="2356246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YIĞIN(BUS) TOPOLOJİSİ</a:t>
            </a:r>
          </a:p>
        </p:txBody>
      </p:sp>
      <p:pic>
        <p:nvPicPr>
          <p:cNvPr id="11266" name="Picture 2" descr="Network / Ağ Topolojileri (Ağ Topolojisi) | by Fırat Esatoğlu | Medium"/>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09600" y="2754923"/>
            <a:ext cx="4815254" cy="2737439"/>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Temel Ağ Topolojileri - ÇözümPark"/>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07523" y="2754923"/>
            <a:ext cx="5474877" cy="27374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5757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AĞAÇ(TREE) TOPOLOJİSİ</a:t>
            </a:r>
          </a:p>
        </p:txBody>
      </p:sp>
      <p:sp>
        <p:nvSpPr>
          <p:cNvPr id="3" name="İçerik Yer Tutucusu 2"/>
          <p:cNvSpPr>
            <a:spLocks noGrp="1"/>
          </p:cNvSpPr>
          <p:nvPr>
            <p:ph idx="1"/>
          </p:nvPr>
        </p:nvSpPr>
        <p:spPr/>
        <p:txBody>
          <a:bodyPr rtlCol="0"/>
          <a:lstStyle/>
          <a:p>
            <a:pPr algn="just"/>
            <a:r>
              <a:rPr lang="tr-TR" b="1" dirty="0"/>
              <a:t>Açıklama</a:t>
            </a:r>
            <a:r>
              <a:rPr lang="tr-TR" dirty="0"/>
              <a:t>: Yıldız topolojilerinin hiyerarşik bir yapıda birleştirilmesiyle oluşur. Ana </a:t>
            </a:r>
            <a:r>
              <a:rPr lang="tr-TR" dirty="0" err="1"/>
              <a:t>hub'lar</a:t>
            </a:r>
            <a:r>
              <a:rPr lang="tr-TR" dirty="0"/>
              <a:t>, alt </a:t>
            </a:r>
            <a:r>
              <a:rPr lang="tr-TR" dirty="0" err="1"/>
              <a:t>hub'lara</a:t>
            </a:r>
            <a:r>
              <a:rPr lang="tr-TR" dirty="0"/>
              <a:t> ve cihazlara bağlanır.</a:t>
            </a:r>
          </a:p>
          <a:p>
            <a:pPr algn="just"/>
            <a:r>
              <a:rPr lang="tr-TR" b="1" dirty="0"/>
              <a:t>Avantajlar</a:t>
            </a:r>
            <a:r>
              <a:rPr lang="tr-TR" dirty="0"/>
              <a:t>: </a:t>
            </a:r>
            <a:r>
              <a:rPr lang="tr-TR" dirty="0" err="1"/>
              <a:t>Genişletilebilirlik</a:t>
            </a:r>
            <a:r>
              <a:rPr lang="tr-TR" dirty="0"/>
              <a:t> ve yönetilebilirlik yüksektir. Hata tespiti ve düzeltme kolaydır.</a:t>
            </a:r>
          </a:p>
          <a:p>
            <a:pPr algn="just"/>
            <a:r>
              <a:rPr lang="tr-TR" b="1" dirty="0"/>
              <a:t>Dezavantajlar</a:t>
            </a:r>
            <a:r>
              <a:rPr lang="tr-TR" dirty="0"/>
              <a:t>: Merkezi </a:t>
            </a:r>
            <a:r>
              <a:rPr lang="tr-TR" dirty="0" err="1"/>
              <a:t>hub'ların</a:t>
            </a:r>
            <a:r>
              <a:rPr lang="tr-TR" dirty="0"/>
              <a:t> arızası, büyük bir bölümü etkileyebilir. Maliyeti yüksektir.</a:t>
            </a:r>
          </a:p>
        </p:txBody>
      </p:sp>
    </p:spTree>
    <p:extLst>
      <p:ext uri="{BB962C8B-B14F-4D97-AF65-F5344CB8AC3E}">
        <p14:creationId xmlns:p14="http://schemas.microsoft.com/office/powerpoint/2010/main" val="2053878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AĞAÇ(TREE) TOPOLOJİSİ</a:t>
            </a:r>
          </a:p>
        </p:txBody>
      </p:sp>
      <p:pic>
        <p:nvPicPr>
          <p:cNvPr id="13316" name="Picture 4" descr="Network / Ağ Topolojileri (Ağ Topolojisi) | by Fırat Esatoğlu | 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209800"/>
            <a:ext cx="5688624" cy="4097235"/>
          </a:xfrm>
          <a:prstGeom prst="rect">
            <a:avLst/>
          </a:prstGeom>
          <a:noFill/>
          <a:extLst>
            <a:ext uri="{909E8E84-426E-40DD-AFC4-6F175D3DCCD1}">
              <a14:hiddenFill xmlns:a14="http://schemas.microsoft.com/office/drawing/2010/main">
                <a:solidFill>
                  <a:srgbClr val="FFFFFF"/>
                </a:solidFill>
              </a14:hiddenFill>
            </a:ext>
          </a:extLst>
        </p:spPr>
      </p:pic>
      <p:pic>
        <p:nvPicPr>
          <p:cNvPr id="13318" name="Picture 6" descr="Ağ Topolojileri Nedir? Çeşitleri Nelerdi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8139" y="3217236"/>
            <a:ext cx="5164261" cy="2082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8689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MESH TOPOLOJİSİ</a:t>
            </a:r>
          </a:p>
        </p:txBody>
      </p:sp>
      <p:sp>
        <p:nvSpPr>
          <p:cNvPr id="3" name="İçerik Yer Tutucusu 2"/>
          <p:cNvSpPr>
            <a:spLocks noGrp="1"/>
          </p:cNvSpPr>
          <p:nvPr>
            <p:ph idx="1"/>
          </p:nvPr>
        </p:nvSpPr>
        <p:spPr/>
        <p:txBody>
          <a:bodyPr rtlCol="0"/>
          <a:lstStyle/>
          <a:p>
            <a:pPr algn="just"/>
            <a:r>
              <a:rPr lang="tr-TR" b="1" dirty="0"/>
              <a:t>Açıklama</a:t>
            </a:r>
            <a:r>
              <a:rPr lang="tr-TR" dirty="0"/>
              <a:t>: Tam mesh topolojisinde her cihaz, diğer tüm cihazlarla doğrudan bağlanır. Kısmi mesh topolojisinde ise sadece bazı cihazlar birbirine bağlanır.</a:t>
            </a:r>
          </a:p>
          <a:p>
            <a:pPr algn="just"/>
            <a:r>
              <a:rPr lang="tr-TR" b="1" dirty="0"/>
              <a:t>Avantajlar</a:t>
            </a:r>
            <a:r>
              <a:rPr lang="tr-TR" dirty="0"/>
              <a:t>: Yüksek güvenilirlik ve hata toleransı sunar. Tek bir bağlantının arızası fazla önem arz etmez çünkü diğer bağlantılar üzerinden iletişimi sağlanır.</a:t>
            </a:r>
          </a:p>
          <a:p>
            <a:pPr algn="just"/>
            <a:r>
              <a:rPr lang="tr-TR" b="1" dirty="0"/>
              <a:t>Dezavantajlar</a:t>
            </a:r>
            <a:r>
              <a:rPr lang="tr-TR" dirty="0"/>
              <a:t>: Kurulumu ve bakımı zordur. Maliyeti çok yüksektir.</a:t>
            </a:r>
          </a:p>
        </p:txBody>
      </p:sp>
    </p:spTree>
    <p:extLst>
      <p:ext uri="{BB962C8B-B14F-4D97-AF65-F5344CB8AC3E}">
        <p14:creationId xmlns:p14="http://schemas.microsoft.com/office/powerpoint/2010/main" val="2885636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MESH TOPOLOJİSİ</a:t>
            </a:r>
          </a:p>
        </p:txBody>
      </p:sp>
      <p:pic>
        <p:nvPicPr>
          <p:cNvPr id="15362" name="Picture 2" descr="Ağ Topolojileri Nedir? Çeşitleri Nelerdi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723900" y="2209800"/>
            <a:ext cx="5905500" cy="2476500"/>
          </a:xfrm>
          <a:prstGeom prst="rect">
            <a:avLst/>
          </a:prstGeom>
          <a:noFill/>
          <a:extLst>
            <a:ext uri="{909E8E84-426E-40DD-AFC4-6F175D3DCCD1}">
              <a14:hiddenFill xmlns:a14="http://schemas.microsoft.com/office/drawing/2010/main">
                <a:solidFill>
                  <a:srgbClr val="FFFFFF"/>
                </a:solidFill>
              </a14:hiddenFill>
            </a:ext>
          </a:extLst>
        </p:spPr>
      </p:pic>
      <p:pic>
        <p:nvPicPr>
          <p:cNvPr id="15364" name="Picture 4" descr="Yusuf Ömer NECİPOĞLU | Router &amp; Switch &amp; Access Point &amp; Firewal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30098" y="2209800"/>
            <a:ext cx="2570585" cy="25380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5396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HİBRİT(HYBRİD) TOPOLOJİSİ</a:t>
            </a:r>
          </a:p>
        </p:txBody>
      </p:sp>
      <p:sp>
        <p:nvSpPr>
          <p:cNvPr id="3" name="İçerik Yer Tutucusu 2"/>
          <p:cNvSpPr>
            <a:spLocks noGrp="1"/>
          </p:cNvSpPr>
          <p:nvPr>
            <p:ph idx="1"/>
          </p:nvPr>
        </p:nvSpPr>
        <p:spPr/>
        <p:txBody>
          <a:bodyPr rtlCol="0"/>
          <a:lstStyle/>
          <a:p>
            <a:pPr algn="just"/>
            <a:r>
              <a:rPr lang="tr-TR" b="1" dirty="0"/>
              <a:t>Açıklama</a:t>
            </a:r>
            <a:r>
              <a:rPr lang="tr-TR" dirty="0"/>
              <a:t>: İki veya daha fazla farklı topolojinin birleştirilmesiyle oluşur. Örneğin, yıldız ve halka topolojilerinin birleşimi.</a:t>
            </a:r>
          </a:p>
          <a:p>
            <a:pPr algn="just"/>
            <a:r>
              <a:rPr lang="tr-TR" b="1" dirty="0"/>
              <a:t>Avantajlar</a:t>
            </a:r>
            <a:r>
              <a:rPr lang="tr-TR" dirty="0"/>
              <a:t>: Esneklik ve ölçeklenebilirlik sunar. Farklı topolojilerin avantajlarını birleştirir.</a:t>
            </a:r>
          </a:p>
          <a:p>
            <a:pPr algn="just"/>
            <a:r>
              <a:rPr lang="tr-TR" b="1" dirty="0"/>
              <a:t>Dezavantajlar</a:t>
            </a:r>
            <a:r>
              <a:rPr lang="tr-TR" dirty="0"/>
              <a:t>: Kurulumu ve yönetimi daha karmaşık olabilir. Maliyeti yüksektir.</a:t>
            </a:r>
          </a:p>
        </p:txBody>
      </p:sp>
    </p:spTree>
    <p:extLst>
      <p:ext uri="{BB962C8B-B14F-4D97-AF65-F5344CB8AC3E}">
        <p14:creationId xmlns:p14="http://schemas.microsoft.com/office/powerpoint/2010/main" val="1923485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HİBRİT(HYBRİD) TOPOLOJİSİ</a:t>
            </a:r>
          </a:p>
        </p:txBody>
      </p:sp>
      <p:pic>
        <p:nvPicPr>
          <p:cNvPr id="18434" name="Picture 2" descr="What is Hybrid Topology? - GeeksforGeeks"/>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86806" y="2209800"/>
            <a:ext cx="5673318" cy="2958609"/>
          </a:xfrm>
          <a:prstGeom prst="rect">
            <a:avLst/>
          </a:prstGeom>
          <a:noFill/>
          <a:extLst>
            <a:ext uri="{909E8E84-426E-40DD-AFC4-6F175D3DCCD1}">
              <a14:hiddenFill xmlns:a14="http://schemas.microsoft.com/office/drawing/2010/main">
                <a:solidFill>
                  <a:srgbClr val="FFFFFF"/>
                </a:solidFill>
              </a14:hiddenFill>
            </a:ext>
          </a:extLst>
        </p:spPr>
      </p:pic>
      <p:pic>
        <p:nvPicPr>
          <p:cNvPr id="18438" name="Picture 6" descr="What is a hybrid topology with example - IT Releas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8682" y="2209800"/>
            <a:ext cx="5063718" cy="2962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9705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AĞ CİHAZLARI</a:t>
            </a:r>
          </a:p>
        </p:txBody>
      </p:sp>
      <p:sp>
        <p:nvSpPr>
          <p:cNvPr id="3" name="İçerik Yer Tutucusu 2"/>
          <p:cNvSpPr>
            <a:spLocks noGrp="1"/>
          </p:cNvSpPr>
          <p:nvPr>
            <p:ph idx="1"/>
          </p:nvPr>
        </p:nvSpPr>
        <p:spPr/>
        <p:txBody>
          <a:bodyPr rtlCol="0"/>
          <a:lstStyle/>
          <a:p>
            <a:pPr algn="just"/>
            <a:r>
              <a:rPr lang="tr-TR" dirty="0"/>
              <a:t>Ağlarda, cihazlar arasında veri iletişimini ve paylaşımını sağlamak için çeşitli donanım ve yazılım araçları kullanılır.</a:t>
            </a:r>
          </a:p>
        </p:txBody>
      </p:sp>
    </p:spTree>
    <p:extLst>
      <p:ext uri="{BB962C8B-B14F-4D97-AF65-F5344CB8AC3E}">
        <p14:creationId xmlns:p14="http://schemas.microsoft.com/office/powerpoint/2010/main" val="1124595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YÖNLENDİRİCİ(ROUTER)</a:t>
            </a:r>
          </a:p>
        </p:txBody>
      </p:sp>
      <p:sp>
        <p:nvSpPr>
          <p:cNvPr id="3" name="İçerik Yer Tutucusu 2"/>
          <p:cNvSpPr>
            <a:spLocks noGrp="1"/>
          </p:cNvSpPr>
          <p:nvPr>
            <p:ph idx="1"/>
          </p:nvPr>
        </p:nvSpPr>
        <p:spPr/>
        <p:txBody>
          <a:bodyPr rtlCol="0"/>
          <a:lstStyle/>
          <a:p>
            <a:pPr algn="just"/>
            <a:r>
              <a:rPr lang="tr-TR" b="1" dirty="0"/>
              <a:t>Açıklama</a:t>
            </a:r>
            <a:r>
              <a:rPr lang="tr-TR" dirty="0"/>
              <a:t>: Farklı ağlar arasında veri paketlerini yönlendirir ve yönlendirme tablolarına göre en uygun yolu seçer.</a:t>
            </a:r>
          </a:p>
          <a:p>
            <a:pPr algn="just"/>
            <a:r>
              <a:rPr lang="tr-TR" b="1" dirty="0"/>
              <a:t>Örnek Kullanım</a:t>
            </a:r>
            <a:r>
              <a:rPr lang="tr-TR" dirty="0"/>
              <a:t>: Ev ağınızı internet servis sağlayıcınıza (ISP) bağlamak veya şirket içi ağları birbirine bağlamak.</a:t>
            </a:r>
          </a:p>
        </p:txBody>
      </p:sp>
      <p:pic>
        <p:nvPicPr>
          <p:cNvPr id="20482" name="Picture 2" descr="Archer MR500 | 4G+ Cat6 AC1200 Kablosuz Çift Bantlı Gigabit Router |  TP-Link Türkiy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443141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20484" name="Picture 4" descr="TP-Link Archer AX10, AX1500 Mbps, Fiber Destekli, 4 Gigabit LAN Bağlantı  Noktası, Beamforming, OFDMA, MU-MIMO, Ebeveyn Denetimleri, Dual-Band Wi-Fi  6 ..."/>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08730" y="4430283"/>
            <a:ext cx="3273669" cy="2144253"/>
          </a:xfrm>
          <a:prstGeom prst="rect">
            <a:avLst/>
          </a:prstGeom>
          <a:noFill/>
          <a:extLst>
            <a:ext uri="{909E8E84-426E-40DD-AFC4-6F175D3DCCD1}">
              <a14:hiddenFill xmlns:a14="http://schemas.microsoft.com/office/drawing/2010/main">
                <a:solidFill>
                  <a:srgbClr val="FFFFFF"/>
                </a:solidFill>
              </a14:hiddenFill>
            </a:ext>
          </a:extLst>
        </p:spPr>
      </p:pic>
      <p:pic>
        <p:nvPicPr>
          <p:cNvPr id="20486" name="Picture 6" descr="TP-Link TL-MR100, N300 Mbps, 4G/3G SIM Yuvası, 32 Cihaza Kadar Bağlantı,  Yapılandırma Gerektirmez, Konuk Ağı ve Ebeveyn Kontrolü Desteği, Kablosuz  4G LTE Router : Amazon.com.tr: Bilgisaya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458601" y="4430283"/>
            <a:ext cx="2144253" cy="21442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3274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ANAHTAR(SWİTCH)</a:t>
            </a:r>
          </a:p>
        </p:txBody>
      </p:sp>
      <p:sp>
        <p:nvSpPr>
          <p:cNvPr id="3" name="İçerik Yer Tutucusu 2"/>
          <p:cNvSpPr>
            <a:spLocks noGrp="1"/>
          </p:cNvSpPr>
          <p:nvPr>
            <p:ph idx="1"/>
          </p:nvPr>
        </p:nvSpPr>
        <p:spPr/>
        <p:txBody>
          <a:bodyPr rtlCol="0"/>
          <a:lstStyle/>
          <a:p>
            <a:pPr algn="just"/>
            <a:r>
              <a:rPr lang="tr-TR" b="1" dirty="0"/>
              <a:t>Açıklama</a:t>
            </a:r>
            <a:r>
              <a:rPr lang="tr-TR" dirty="0"/>
              <a:t>: Aynı ağ içindeki cihazlar arasında veri iletişimini sağlar. MAC adreslerine göre paketleri doğru cihaza yönlendirir.</a:t>
            </a:r>
          </a:p>
          <a:p>
            <a:pPr algn="just"/>
            <a:r>
              <a:rPr lang="tr-TR" b="1" dirty="0"/>
              <a:t>Örnek Kullanım</a:t>
            </a:r>
            <a:r>
              <a:rPr lang="tr-TR" dirty="0"/>
              <a:t>: Ofis ağında bilgisayarları, yazıcıları ve diğer cihazları birbirine bağlamak.</a:t>
            </a:r>
          </a:p>
        </p:txBody>
      </p:sp>
      <p:pic>
        <p:nvPicPr>
          <p:cNvPr id="22530" name="Picture 2" descr="What Is a Network Switc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4311302"/>
            <a:ext cx="3568072" cy="1682941"/>
          </a:xfrm>
          <a:prstGeom prst="rect">
            <a:avLst/>
          </a:prstGeom>
          <a:noFill/>
          <a:extLst>
            <a:ext uri="{909E8E84-426E-40DD-AFC4-6F175D3DCCD1}">
              <a14:hiddenFill xmlns:a14="http://schemas.microsoft.com/office/drawing/2010/main">
                <a:solidFill>
                  <a:srgbClr val="FFFFFF"/>
                </a:solidFill>
              </a14:hiddenFill>
            </a:ext>
          </a:extLst>
        </p:spPr>
      </p:pic>
      <p:pic>
        <p:nvPicPr>
          <p:cNvPr id="22534" name="Picture 6" descr="Verge Yerli Network Switch Ailesi - Angora Network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3837" y="4311302"/>
            <a:ext cx="6368563" cy="16787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5717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HUB</a:t>
            </a:r>
          </a:p>
        </p:txBody>
      </p:sp>
      <p:sp>
        <p:nvSpPr>
          <p:cNvPr id="3" name="İçerik Yer Tutucusu 2"/>
          <p:cNvSpPr>
            <a:spLocks noGrp="1"/>
          </p:cNvSpPr>
          <p:nvPr>
            <p:ph idx="1"/>
          </p:nvPr>
        </p:nvSpPr>
        <p:spPr/>
        <p:txBody>
          <a:bodyPr rtlCol="0"/>
          <a:lstStyle/>
          <a:p>
            <a:pPr algn="just"/>
            <a:r>
              <a:rPr lang="tr-TR" b="1" dirty="0"/>
              <a:t>Açıklama</a:t>
            </a:r>
            <a:r>
              <a:rPr lang="tr-TR" dirty="0"/>
              <a:t>: Tüm bağlı cihazlara veri paketlerini yayar. Basit ve eski bir teknoloji olup, genellikle yerine anahtar (</a:t>
            </a:r>
            <a:r>
              <a:rPr lang="tr-TR" dirty="0" err="1"/>
              <a:t>switch</a:t>
            </a:r>
            <a:r>
              <a:rPr lang="tr-TR" dirty="0"/>
              <a:t>) almıştır.</a:t>
            </a:r>
          </a:p>
          <a:p>
            <a:pPr algn="just"/>
            <a:r>
              <a:rPr lang="tr-TR" b="1" dirty="0"/>
              <a:t>Örnek Kullanım</a:t>
            </a:r>
            <a:r>
              <a:rPr lang="tr-TR" dirty="0"/>
              <a:t>: Eski </a:t>
            </a:r>
            <a:r>
              <a:rPr lang="tr-TR"/>
              <a:t>ağlarda kullanılır modern </a:t>
            </a:r>
            <a:r>
              <a:rPr lang="tr-TR" dirty="0"/>
              <a:t>ağlarda nadiren kullanılır.</a:t>
            </a:r>
          </a:p>
        </p:txBody>
      </p:sp>
      <p:pic>
        <p:nvPicPr>
          <p:cNvPr id="23554" name="Picture 2" descr="Why We Don't Use Hubs Anymore – The Cybersecurity Ma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3334" y="4411183"/>
            <a:ext cx="3698631" cy="2163351"/>
          </a:xfrm>
          <a:prstGeom prst="rect">
            <a:avLst/>
          </a:prstGeom>
          <a:noFill/>
          <a:extLst>
            <a:ext uri="{909E8E84-426E-40DD-AFC4-6F175D3DCCD1}">
              <a14:hiddenFill xmlns:a14="http://schemas.microsoft.com/office/drawing/2010/main">
                <a:solidFill>
                  <a:srgbClr val="FFFFFF"/>
                </a:solidFill>
              </a14:hiddenFill>
            </a:ext>
          </a:extLst>
        </p:spPr>
      </p:pic>
      <p:pic>
        <p:nvPicPr>
          <p:cNvPr id="23556" name="Picture 4" descr="Hub, Switch Ve Router'a Yakından Bakış - Haberler - Focc Technology Co., Lt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14921" y="4411182"/>
            <a:ext cx="4326702" cy="2163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9585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MODEM</a:t>
            </a:r>
          </a:p>
        </p:txBody>
      </p:sp>
      <p:sp>
        <p:nvSpPr>
          <p:cNvPr id="3" name="İçerik Yer Tutucusu 2"/>
          <p:cNvSpPr>
            <a:spLocks noGrp="1"/>
          </p:cNvSpPr>
          <p:nvPr>
            <p:ph idx="1"/>
          </p:nvPr>
        </p:nvSpPr>
        <p:spPr/>
        <p:txBody>
          <a:bodyPr rtlCol="0"/>
          <a:lstStyle/>
          <a:p>
            <a:pPr algn="just"/>
            <a:r>
              <a:rPr lang="tr-TR" b="1" dirty="0"/>
              <a:t>Açıklama</a:t>
            </a:r>
            <a:r>
              <a:rPr lang="tr-TR" dirty="0"/>
              <a:t>: Dijital verileri analog sinyallere veya tam tersi şekilde dönüştürür. Bu, internet servis sağlayıcınızdan gelen sinyalleri bilgisayarınıza iletebilmenizi sağlar.</a:t>
            </a:r>
          </a:p>
          <a:p>
            <a:pPr algn="just"/>
            <a:r>
              <a:rPr lang="tr-TR" b="1" dirty="0"/>
              <a:t>Örnek Kullanım</a:t>
            </a:r>
            <a:r>
              <a:rPr lang="tr-TR" dirty="0"/>
              <a:t>: Ev ağınızı internete bağlamak için kullanılır.</a:t>
            </a:r>
          </a:p>
        </p:txBody>
      </p:sp>
      <p:pic>
        <p:nvPicPr>
          <p:cNvPr id="24578" name="Picture 2" descr="TP-Link TD-W9970V3 VDSL2-ADSL2 + Modem - VDSL Modem ilanları uygun  fiyatlarıyla sahibinden.com'da - 113069467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6260" y="4726685"/>
            <a:ext cx="2466975" cy="1847851"/>
          </a:xfrm>
          <a:prstGeom prst="rect">
            <a:avLst/>
          </a:prstGeom>
          <a:noFill/>
          <a:extLst>
            <a:ext uri="{909E8E84-426E-40DD-AFC4-6F175D3DCCD1}">
              <a14:hiddenFill xmlns:a14="http://schemas.microsoft.com/office/drawing/2010/main">
                <a:solidFill>
                  <a:srgbClr val="FFFFFF"/>
                </a:solidFill>
              </a14:hiddenFill>
            </a:ext>
          </a:extLst>
        </p:spPr>
      </p:pic>
      <p:pic>
        <p:nvPicPr>
          <p:cNvPr id="24580" name="Picture 4" descr="TP Link Td W9960 300Mbps Wireless N Vdsl Adsl Modem Rout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89895" y="4726685"/>
            <a:ext cx="1852490" cy="18524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4342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ERİŞİM NOKTASI(ACCESS POİNT)</a:t>
            </a:r>
          </a:p>
        </p:txBody>
      </p:sp>
      <p:sp>
        <p:nvSpPr>
          <p:cNvPr id="3" name="İçerik Yer Tutucusu 2"/>
          <p:cNvSpPr>
            <a:spLocks noGrp="1"/>
          </p:cNvSpPr>
          <p:nvPr>
            <p:ph idx="1"/>
          </p:nvPr>
        </p:nvSpPr>
        <p:spPr/>
        <p:txBody>
          <a:bodyPr rtlCol="0"/>
          <a:lstStyle/>
          <a:p>
            <a:pPr algn="just"/>
            <a:r>
              <a:rPr lang="tr-TR" b="1" dirty="0"/>
              <a:t>Açıklama</a:t>
            </a:r>
            <a:r>
              <a:rPr lang="tr-TR" dirty="0"/>
              <a:t>: Kablosuz ağ (</a:t>
            </a:r>
            <a:r>
              <a:rPr lang="tr-TR" dirty="0" err="1"/>
              <a:t>Wi</a:t>
            </a:r>
            <a:r>
              <a:rPr lang="tr-TR" dirty="0"/>
              <a:t>-Fi) oluşturmak için kullanılır. Kablosuz cihazların ağa bağlanmasını sağlar.</a:t>
            </a:r>
          </a:p>
          <a:p>
            <a:pPr algn="just"/>
            <a:r>
              <a:rPr lang="tr-TR" b="1" dirty="0"/>
              <a:t>Örnek Kullanım</a:t>
            </a:r>
            <a:r>
              <a:rPr lang="tr-TR" dirty="0"/>
              <a:t>: Ev veya ofiste kablosuz internet bağlantısı sağlamak.</a:t>
            </a:r>
          </a:p>
        </p:txBody>
      </p:sp>
      <p:pic>
        <p:nvPicPr>
          <p:cNvPr id="25602" name="Picture 2" descr="WIRELESS ACCESS POINT vs. WIRELESS RANGE EXTEND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 y="4044462"/>
            <a:ext cx="3640494" cy="2530074"/>
          </a:xfrm>
          <a:prstGeom prst="rect">
            <a:avLst/>
          </a:prstGeom>
          <a:noFill/>
          <a:extLst>
            <a:ext uri="{909E8E84-426E-40DD-AFC4-6F175D3DCCD1}">
              <a14:hiddenFill xmlns:a14="http://schemas.microsoft.com/office/drawing/2010/main">
                <a:solidFill>
                  <a:srgbClr val="FFFFFF"/>
                </a:solidFill>
              </a14:hiddenFill>
            </a:ext>
          </a:extLst>
        </p:spPr>
      </p:pic>
      <p:pic>
        <p:nvPicPr>
          <p:cNvPr id="25604" name="Picture 4" descr="Network access points: What are they &amp; why do you need them?"/>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63211" y="4044462"/>
            <a:ext cx="4819189" cy="2530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8890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GÜVENLİK DUVARI(FIREWALL)</a:t>
            </a:r>
          </a:p>
        </p:txBody>
      </p:sp>
      <p:sp>
        <p:nvSpPr>
          <p:cNvPr id="3" name="İçerik Yer Tutucusu 2"/>
          <p:cNvSpPr>
            <a:spLocks noGrp="1"/>
          </p:cNvSpPr>
          <p:nvPr>
            <p:ph idx="1"/>
          </p:nvPr>
        </p:nvSpPr>
        <p:spPr/>
        <p:txBody>
          <a:bodyPr rtlCol="0"/>
          <a:lstStyle/>
          <a:p>
            <a:pPr algn="just"/>
            <a:r>
              <a:rPr lang="tr-TR" b="1" dirty="0"/>
              <a:t>Açıklama</a:t>
            </a:r>
            <a:r>
              <a:rPr lang="tr-TR" dirty="0"/>
              <a:t>: Ağınıza gelen ve giden trafiği izler ve kötü amaçlı trafiği engeller. Güvenlik politikalarına göre trafiği filtreler.</a:t>
            </a:r>
          </a:p>
          <a:p>
            <a:pPr algn="just"/>
            <a:r>
              <a:rPr lang="tr-TR" b="1" dirty="0"/>
              <a:t>Örnek Kullanım</a:t>
            </a:r>
            <a:r>
              <a:rPr lang="tr-TR" dirty="0"/>
              <a:t>: Şirket ağını dış tehditlere karşı korumak.</a:t>
            </a:r>
          </a:p>
        </p:txBody>
      </p:sp>
      <p:pic>
        <p:nvPicPr>
          <p:cNvPr id="26626" name="Picture 2" descr="HUNSN Firewall Router PC, Intel Celeron, 8G RAM, Turkey | Ubu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4005072"/>
            <a:ext cx="4721390" cy="2569464"/>
          </a:xfrm>
          <a:prstGeom prst="rect">
            <a:avLst/>
          </a:prstGeom>
          <a:noFill/>
          <a:extLst>
            <a:ext uri="{909E8E84-426E-40DD-AFC4-6F175D3DCCD1}">
              <a14:hiddenFill xmlns:a14="http://schemas.microsoft.com/office/drawing/2010/main">
                <a:solidFill>
                  <a:srgbClr val="FFFFFF"/>
                </a:solidFill>
              </a14:hiddenFill>
            </a:ext>
          </a:extLst>
        </p:spPr>
      </p:pic>
      <p:pic>
        <p:nvPicPr>
          <p:cNvPr id="26628" name="Picture 4" descr="Network Firewall Device at Rs 24900 in Noida | ID: 168038079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50608" y="4004096"/>
            <a:ext cx="4431792" cy="2570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47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YÜK DENGELEYİCİ(LOAD BALANCER)</a:t>
            </a:r>
          </a:p>
        </p:txBody>
      </p:sp>
      <p:sp>
        <p:nvSpPr>
          <p:cNvPr id="3" name="İçerik Yer Tutucusu 2"/>
          <p:cNvSpPr>
            <a:spLocks noGrp="1"/>
          </p:cNvSpPr>
          <p:nvPr>
            <p:ph idx="1"/>
          </p:nvPr>
        </p:nvSpPr>
        <p:spPr/>
        <p:txBody>
          <a:bodyPr rtlCol="0"/>
          <a:lstStyle/>
          <a:p>
            <a:pPr algn="just"/>
            <a:r>
              <a:rPr lang="tr-TR" b="1" dirty="0"/>
              <a:t>Açıklama</a:t>
            </a:r>
            <a:r>
              <a:rPr lang="tr-TR" dirty="0"/>
              <a:t>: Ağ trafiğini birden fazla sunucuya dağıtarak yükü dengeleyerek performansı ve güvenilirliği artırır.</a:t>
            </a:r>
          </a:p>
          <a:p>
            <a:pPr algn="just"/>
            <a:r>
              <a:rPr lang="tr-TR" b="1" dirty="0"/>
              <a:t>Örnek Kullanım</a:t>
            </a:r>
            <a:r>
              <a:rPr lang="tr-TR" dirty="0"/>
              <a:t>: Web sitelerinde yüksek trafik durumlarında sunucu performansını optimize etmek.</a:t>
            </a:r>
          </a:p>
        </p:txBody>
      </p:sp>
      <p:pic>
        <p:nvPicPr>
          <p:cNvPr id="27650" name="Picture 2" descr="Enterprise Prime - Loadbalancer.or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4906108"/>
            <a:ext cx="5005284" cy="1668428"/>
          </a:xfrm>
          <a:prstGeom prst="rect">
            <a:avLst/>
          </a:prstGeom>
          <a:noFill/>
          <a:extLst>
            <a:ext uri="{909E8E84-426E-40DD-AFC4-6F175D3DCCD1}">
              <a14:hiddenFill xmlns:a14="http://schemas.microsoft.com/office/drawing/2010/main">
                <a:solidFill>
                  <a:srgbClr val="FFFFFF"/>
                </a:solidFill>
              </a14:hiddenFill>
            </a:ext>
          </a:extLst>
        </p:spPr>
      </p:pic>
      <p:pic>
        <p:nvPicPr>
          <p:cNvPr id="27652" name="Picture 4" descr="Hardware Load Balancer | Hardware ADC | Loadbalancer.or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46226" y="4906108"/>
            <a:ext cx="4936174" cy="16684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4443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VPN CİHAZI(VPN APPLIANCE)</a:t>
            </a:r>
          </a:p>
        </p:txBody>
      </p:sp>
      <p:sp>
        <p:nvSpPr>
          <p:cNvPr id="3" name="İçerik Yer Tutucusu 2"/>
          <p:cNvSpPr>
            <a:spLocks noGrp="1"/>
          </p:cNvSpPr>
          <p:nvPr>
            <p:ph idx="1"/>
          </p:nvPr>
        </p:nvSpPr>
        <p:spPr/>
        <p:txBody>
          <a:bodyPr rtlCol="0"/>
          <a:lstStyle/>
          <a:p>
            <a:pPr algn="just"/>
            <a:r>
              <a:rPr lang="tr-TR" b="1" dirty="0"/>
              <a:t>Açıklama</a:t>
            </a:r>
            <a:r>
              <a:rPr lang="tr-TR" dirty="0"/>
              <a:t>: Sanal Özel Ağ (VPN) bağlantıları oluşturmak için kullanılır. Uzak kullanıcıların güvenli bir şekilde ağa bağlanmasını sağlar.</a:t>
            </a:r>
          </a:p>
          <a:p>
            <a:pPr algn="just"/>
            <a:r>
              <a:rPr lang="tr-TR" b="1" dirty="0"/>
              <a:t>Örnek Kullanım</a:t>
            </a:r>
            <a:r>
              <a:rPr lang="tr-TR" dirty="0"/>
              <a:t>: Uzaktan çalışanların şirket ağına güvenli bir şekilde erişmesini sağlamak.</a:t>
            </a:r>
          </a:p>
        </p:txBody>
      </p:sp>
      <p:pic>
        <p:nvPicPr>
          <p:cNvPr id="28674" name="Picture 2" descr="Protect your online data with this decentralized VPN device | ZDNE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94438" y="4248976"/>
            <a:ext cx="3549162" cy="2365184"/>
          </a:xfrm>
          <a:prstGeom prst="rect">
            <a:avLst/>
          </a:prstGeom>
          <a:noFill/>
          <a:extLst>
            <a:ext uri="{909E8E84-426E-40DD-AFC4-6F175D3DCCD1}">
              <a14:hiddenFill xmlns:a14="http://schemas.microsoft.com/office/drawing/2010/main">
                <a:solidFill>
                  <a:srgbClr val="FFFFFF"/>
                </a:solidFill>
              </a14:hiddenFill>
            </a:ext>
          </a:extLst>
        </p:spPr>
      </p:pic>
      <p:pic>
        <p:nvPicPr>
          <p:cNvPr id="28676" name="Picture 4" descr="Online safety deal: protect your computer with this decentralized VPN device,  now under $200 | Mashabl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78462" y="4209352"/>
            <a:ext cx="2365184" cy="23651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7876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ETHERNET</a:t>
            </a:r>
          </a:p>
        </p:txBody>
      </p:sp>
      <p:sp>
        <p:nvSpPr>
          <p:cNvPr id="3" name="İçerik Yer Tutucusu 2"/>
          <p:cNvSpPr>
            <a:spLocks noGrp="1"/>
          </p:cNvSpPr>
          <p:nvPr>
            <p:ph idx="1"/>
          </p:nvPr>
        </p:nvSpPr>
        <p:spPr/>
        <p:txBody>
          <a:bodyPr rtlCol="0"/>
          <a:lstStyle/>
          <a:p>
            <a:pPr algn="just"/>
            <a:r>
              <a:rPr lang="tr-TR" dirty="0"/>
              <a:t>Ethernet, bilgisayar ağlarında kullanılan bir ağ teknolojisidir ve genellikle yerel alan ağları (LAN) oluşturmak için kullanılır. Ethernet, cihazlar arasında veri iletişimini sağlamak için standart bir yöntem sunar ve IEEE 802.3 standardı altında tanımlanmıştır.</a:t>
            </a:r>
          </a:p>
        </p:txBody>
      </p:sp>
    </p:spTree>
    <p:extLst>
      <p:ext uri="{BB962C8B-B14F-4D97-AF65-F5344CB8AC3E}">
        <p14:creationId xmlns:p14="http://schemas.microsoft.com/office/powerpoint/2010/main" val="4158071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ETHERNET KABLOLARI</a:t>
            </a:r>
          </a:p>
        </p:txBody>
      </p:sp>
      <p:graphicFrame>
        <p:nvGraphicFramePr>
          <p:cNvPr id="4" name="İçerik Yer Tutucusu 3"/>
          <p:cNvGraphicFramePr>
            <a:graphicFrameLocks noGrp="1"/>
          </p:cNvGraphicFramePr>
          <p:nvPr>
            <p:ph idx="1"/>
          </p:nvPr>
        </p:nvGraphicFramePr>
        <p:xfrm>
          <a:off x="690562" y="2221153"/>
          <a:ext cx="10810875" cy="4381020"/>
        </p:xfrm>
        <a:graphic>
          <a:graphicData uri="http://schemas.openxmlformats.org/drawingml/2006/table">
            <a:tbl>
              <a:tblPr/>
              <a:tblGrid>
                <a:gridCol w="2162175">
                  <a:extLst>
                    <a:ext uri="{9D8B030D-6E8A-4147-A177-3AD203B41FA5}">
                      <a16:colId xmlns:a16="http://schemas.microsoft.com/office/drawing/2014/main" val="3827161133"/>
                    </a:ext>
                  </a:extLst>
                </a:gridCol>
                <a:gridCol w="2162175">
                  <a:extLst>
                    <a:ext uri="{9D8B030D-6E8A-4147-A177-3AD203B41FA5}">
                      <a16:colId xmlns:a16="http://schemas.microsoft.com/office/drawing/2014/main" val="4041243775"/>
                    </a:ext>
                  </a:extLst>
                </a:gridCol>
                <a:gridCol w="2162175">
                  <a:extLst>
                    <a:ext uri="{9D8B030D-6E8A-4147-A177-3AD203B41FA5}">
                      <a16:colId xmlns:a16="http://schemas.microsoft.com/office/drawing/2014/main" val="1806297639"/>
                    </a:ext>
                  </a:extLst>
                </a:gridCol>
                <a:gridCol w="2162175">
                  <a:extLst>
                    <a:ext uri="{9D8B030D-6E8A-4147-A177-3AD203B41FA5}">
                      <a16:colId xmlns:a16="http://schemas.microsoft.com/office/drawing/2014/main" val="3798135520"/>
                    </a:ext>
                  </a:extLst>
                </a:gridCol>
                <a:gridCol w="2162175">
                  <a:extLst>
                    <a:ext uri="{9D8B030D-6E8A-4147-A177-3AD203B41FA5}">
                      <a16:colId xmlns:a16="http://schemas.microsoft.com/office/drawing/2014/main" val="2153802217"/>
                    </a:ext>
                  </a:extLst>
                </a:gridCol>
              </a:tblGrid>
              <a:tr h="360363">
                <a:tc>
                  <a:txBody>
                    <a:bodyPr/>
                    <a:lstStyle/>
                    <a:p>
                      <a:pPr algn="l"/>
                      <a:r>
                        <a:rPr lang="tr-TR" sz="1800" b="0">
                          <a:effectLst/>
                        </a:rPr>
                        <a:t>Kablo Türü</a:t>
                      </a:r>
                    </a:p>
                  </a:txBody>
                  <a:tcPr marL="90091" marR="90091" marT="45045" marB="45045" anchor="ctr">
                    <a:lnL>
                      <a:noFill/>
                    </a:lnL>
                    <a:lnR>
                      <a:noFill/>
                    </a:lnR>
                    <a:lnT>
                      <a:noFill/>
                    </a:lnT>
                    <a:lnB>
                      <a:noFill/>
                    </a:lnB>
                    <a:solidFill>
                      <a:srgbClr val="F7F7F7"/>
                    </a:solidFill>
                  </a:tcPr>
                </a:tc>
                <a:tc>
                  <a:txBody>
                    <a:bodyPr/>
                    <a:lstStyle/>
                    <a:p>
                      <a:pPr algn="l"/>
                      <a:r>
                        <a:rPr lang="tr-TR" sz="1800" b="0">
                          <a:effectLst/>
                        </a:rPr>
                        <a:t>Hız</a:t>
                      </a:r>
                    </a:p>
                  </a:txBody>
                  <a:tcPr marL="90091" marR="90091" marT="45045" marB="45045" anchor="ctr">
                    <a:lnL>
                      <a:noFill/>
                    </a:lnL>
                    <a:lnR>
                      <a:noFill/>
                    </a:lnR>
                    <a:lnT>
                      <a:noFill/>
                    </a:lnT>
                    <a:lnB>
                      <a:noFill/>
                    </a:lnB>
                    <a:solidFill>
                      <a:srgbClr val="F7F7F7"/>
                    </a:solidFill>
                  </a:tcPr>
                </a:tc>
                <a:tc>
                  <a:txBody>
                    <a:bodyPr/>
                    <a:lstStyle/>
                    <a:p>
                      <a:pPr algn="l"/>
                      <a:r>
                        <a:rPr lang="tr-TR" sz="1800" b="0">
                          <a:effectLst/>
                        </a:rPr>
                        <a:t>Maksimum Mesafe</a:t>
                      </a:r>
                    </a:p>
                  </a:txBody>
                  <a:tcPr marL="90091" marR="90091" marT="45045" marB="45045" anchor="ctr">
                    <a:lnL>
                      <a:noFill/>
                    </a:lnL>
                    <a:lnR>
                      <a:noFill/>
                    </a:lnR>
                    <a:lnT>
                      <a:noFill/>
                    </a:lnT>
                    <a:lnB>
                      <a:noFill/>
                    </a:lnB>
                    <a:solidFill>
                      <a:srgbClr val="F7F7F7"/>
                    </a:solidFill>
                  </a:tcPr>
                </a:tc>
                <a:tc>
                  <a:txBody>
                    <a:bodyPr/>
                    <a:lstStyle/>
                    <a:p>
                      <a:pPr algn="l"/>
                      <a:r>
                        <a:rPr lang="tr-TR" sz="1800" b="0">
                          <a:effectLst/>
                        </a:rPr>
                        <a:t>Kablo Türü</a:t>
                      </a:r>
                    </a:p>
                  </a:txBody>
                  <a:tcPr marL="90091" marR="90091" marT="45045" marB="45045" anchor="ctr">
                    <a:lnL>
                      <a:noFill/>
                    </a:lnL>
                    <a:lnR>
                      <a:noFill/>
                    </a:lnR>
                    <a:lnT>
                      <a:noFill/>
                    </a:lnT>
                    <a:lnB>
                      <a:noFill/>
                    </a:lnB>
                    <a:solidFill>
                      <a:srgbClr val="F7F7F7"/>
                    </a:solidFill>
                  </a:tcPr>
                </a:tc>
                <a:tc>
                  <a:txBody>
                    <a:bodyPr/>
                    <a:lstStyle/>
                    <a:p>
                      <a:pPr algn="l"/>
                      <a:r>
                        <a:rPr lang="tr-TR" sz="1800" b="0">
                          <a:effectLst/>
                        </a:rPr>
                        <a:t>Kullanım Alanları</a:t>
                      </a:r>
                    </a:p>
                  </a:txBody>
                  <a:tcPr marL="90091" marR="90091" marT="45045" marB="45045" anchor="ctr">
                    <a:lnL>
                      <a:noFill/>
                    </a:lnL>
                    <a:lnR>
                      <a:noFill/>
                    </a:lnR>
                    <a:lnT>
                      <a:noFill/>
                    </a:lnT>
                    <a:lnB>
                      <a:noFill/>
                    </a:lnB>
                    <a:solidFill>
                      <a:srgbClr val="F7F7F7"/>
                    </a:solidFill>
                  </a:tcPr>
                </a:tc>
                <a:extLst>
                  <a:ext uri="{0D108BD9-81ED-4DB2-BD59-A6C34878D82A}">
                    <a16:rowId xmlns:a16="http://schemas.microsoft.com/office/drawing/2014/main" val="1794253945"/>
                  </a:ext>
                </a:extLst>
              </a:tr>
              <a:tr h="630634">
                <a:tc>
                  <a:txBody>
                    <a:bodyPr/>
                    <a:lstStyle/>
                    <a:p>
                      <a:r>
                        <a:rPr lang="tr-TR" sz="1800">
                          <a:effectLst/>
                        </a:rPr>
                        <a:t>Cat 5e</a:t>
                      </a:r>
                    </a:p>
                  </a:txBody>
                  <a:tcPr marL="90091" marR="90091" marT="45045" marB="45045" anchor="ctr">
                    <a:lnL>
                      <a:noFill/>
                    </a:lnL>
                    <a:lnR>
                      <a:noFill/>
                    </a:lnR>
                    <a:lnT>
                      <a:noFill/>
                    </a:lnT>
                    <a:lnB>
                      <a:noFill/>
                    </a:lnB>
                    <a:solidFill>
                      <a:srgbClr val="F7F7F7"/>
                    </a:solidFill>
                  </a:tcPr>
                </a:tc>
                <a:tc>
                  <a:txBody>
                    <a:bodyPr/>
                    <a:lstStyle/>
                    <a:p>
                      <a:r>
                        <a:rPr lang="tr-TR" sz="1800">
                          <a:effectLst/>
                        </a:rPr>
                        <a:t>1 Gbps</a:t>
                      </a:r>
                    </a:p>
                  </a:txBody>
                  <a:tcPr marL="90091" marR="90091" marT="45045" marB="45045" anchor="ctr">
                    <a:lnL>
                      <a:noFill/>
                    </a:lnL>
                    <a:lnR>
                      <a:noFill/>
                    </a:lnR>
                    <a:lnT>
                      <a:noFill/>
                    </a:lnT>
                    <a:lnB>
                      <a:noFill/>
                    </a:lnB>
                    <a:solidFill>
                      <a:srgbClr val="F7F7F7"/>
                    </a:solidFill>
                  </a:tcPr>
                </a:tc>
                <a:tc>
                  <a:txBody>
                    <a:bodyPr/>
                    <a:lstStyle/>
                    <a:p>
                      <a:r>
                        <a:rPr lang="tr-TR" sz="1800">
                          <a:effectLst/>
                        </a:rPr>
                        <a:t>100 metre</a:t>
                      </a:r>
                    </a:p>
                  </a:txBody>
                  <a:tcPr marL="90091" marR="90091" marT="45045" marB="45045" anchor="ctr">
                    <a:lnL>
                      <a:noFill/>
                    </a:lnL>
                    <a:lnR>
                      <a:noFill/>
                    </a:lnR>
                    <a:lnT>
                      <a:noFill/>
                    </a:lnT>
                    <a:lnB>
                      <a:noFill/>
                    </a:lnB>
                    <a:solidFill>
                      <a:srgbClr val="F7F7F7"/>
                    </a:solidFill>
                  </a:tcPr>
                </a:tc>
                <a:tc>
                  <a:txBody>
                    <a:bodyPr/>
                    <a:lstStyle/>
                    <a:p>
                      <a:r>
                        <a:rPr lang="tr-TR" sz="1800">
                          <a:effectLst/>
                        </a:rPr>
                        <a:t>UTP</a:t>
                      </a:r>
                    </a:p>
                  </a:txBody>
                  <a:tcPr marL="90091" marR="90091" marT="45045" marB="45045" anchor="ctr">
                    <a:lnL>
                      <a:noFill/>
                    </a:lnL>
                    <a:lnR>
                      <a:noFill/>
                    </a:lnR>
                    <a:lnT>
                      <a:noFill/>
                    </a:lnT>
                    <a:lnB>
                      <a:noFill/>
                    </a:lnB>
                    <a:solidFill>
                      <a:srgbClr val="F7F7F7"/>
                    </a:solidFill>
                  </a:tcPr>
                </a:tc>
                <a:tc>
                  <a:txBody>
                    <a:bodyPr/>
                    <a:lstStyle/>
                    <a:p>
                      <a:r>
                        <a:rPr lang="tr-TR" sz="1800">
                          <a:effectLst/>
                        </a:rPr>
                        <a:t>Ev ağları, küçük ofis ağları</a:t>
                      </a:r>
                    </a:p>
                  </a:txBody>
                  <a:tcPr marL="90091" marR="90091" marT="45045" marB="45045" anchor="ctr">
                    <a:lnL>
                      <a:noFill/>
                    </a:lnL>
                    <a:lnR>
                      <a:noFill/>
                    </a:lnR>
                    <a:lnT>
                      <a:noFill/>
                    </a:lnT>
                    <a:lnB>
                      <a:noFill/>
                    </a:lnB>
                    <a:solidFill>
                      <a:srgbClr val="F7F7F7"/>
                    </a:solidFill>
                  </a:tcPr>
                </a:tc>
                <a:extLst>
                  <a:ext uri="{0D108BD9-81ED-4DB2-BD59-A6C34878D82A}">
                    <a16:rowId xmlns:a16="http://schemas.microsoft.com/office/drawing/2014/main" val="1700546274"/>
                  </a:ext>
                </a:extLst>
              </a:tr>
              <a:tr h="630634">
                <a:tc>
                  <a:txBody>
                    <a:bodyPr/>
                    <a:lstStyle/>
                    <a:p>
                      <a:r>
                        <a:rPr lang="tr-TR" sz="1800">
                          <a:effectLst/>
                        </a:rPr>
                        <a:t>Cat 6</a:t>
                      </a:r>
                    </a:p>
                  </a:txBody>
                  <a:tcPr marL="90091" marR="90091" marT="45045" marB="45045" anchor="ctr">
                    <a:lnL>
                      <a:noFill/>
                    </a:lnL>
                    <a:lnR>
                      <a:noFill/>
                    </a:lnR>
                    <a:lnT>
                      <a:noFill/>
                    </a:lnT>
                    <a:lnB>
                      <a:noFill/>
                    </a:lnB>
                    <a:solidFill>
                      <a:srgbClr val="F7F7F7"/>
                    </a:solidFill>
                  </a:tcPr>
                </a:tc>
                <a:tc>
                  <a:txBody>
                    <a:bodyPr/>
                    <a:lstStyle/>
                    <a:p>
                      <a:r>
                        <a:rPr lang="tr-TR" sz="1800">
                          <a:effectLst/>
                        </a:rPr>
                        <a:t>10 Gbps</a:t>
                      </a:r>
                    </a:p>
                  </a:txBody>
                  <a:tcPr marL="90091" marR="90091" marT="45045" marB="45045" anchor="ctr">
                    <a:lnL>
                      <a:noFill/>
                    </a:lnL>
                    <a:lnR>
                      <a:noFill/>
                    </a:lnR>
                    <a:lnT>
                      <a:noFill/>
                    </a:lnT>
                    <a:lnB>
                      <a:noFill/>
                    </a:lnB>
                    <a:solidFill>
                      <a:srgbClr val="F7F7F7"/>
                    </a:solidFill>
                  </a:tcPr>
                </a:tc>
                <a:tc>
                  <a:txBody>
                    <a:bodyPr/>
                    <a:lstStyle/>
                    <a:p>
                      <a:r>
                        <a:rPr lang="tr-TR" sz="1800">
                          <a:effectLst/>
                        </a:rPr>
                        <a:t>100 metre</a:t>
                      </a:r>
                    </a:p>
                  </a:txBody>
                  <a:tcPr marL="90091" marR="90091" marT="45045" marB="45045" anchor="ctr">
                    <a:lnL>
                      <a:noFill/>
                    </a:lnL>
                    <a:lnR>
                      <a:noFill/>
                    </a:lnR>
                    <a:lnT>
                      <a:noFill/>
                    </a:lnT>
                    <a:lnB>
                      <a:noFill/>
                    </a:lnB>
                    <a:solidFill>
                      <a:srgbClr val="F7F7F7"/>
                    </a:solidFill>
                  </a:tcPr>
                </a:tc>
                <a:tc>
                  <a:txBody>
                    <a:bodyPr/>
                    <a:lstStyle/>
                    <a:p>
                      <a:r>
                        <a:rPr lang="tr-TR" sz="1800">
                          <a:effectLst/>
                        </a:rPr>
                        <a:t>UTP</a:t>
                      </a:r>
                    </a:p>
                  </a:txBody>
                  <a:tcPr marL="90091" marR="90091" marT="45045" marB="45045" anchor="ctr">
                    <a:lnL>
                      <a:noFill/>
                    </a:lnL>
                    <a:lnR>
                      <a:noFill/>
                    </a:lnR>
                    <a:lnT>
                      <a:noFill/>
                    </a:lnT>
                    <a:lnB>
                      <a:noFill/>
                    </a:lnB>
                    <a:solidFill>
                      <a:srgbClr val="F7F7F7"/>
                    </a:solidFill>
                  </a:tcPr>
                </a:tc>
                <a:tc>
                  <a:txBody>
                    <a:bodyPr/>
                    <a:lstStyle/>
                    <a:p>
                      <a:r>
                        <a:rPr lang="tr-TR" sz="1800">
                          <a:effectLst/>
                        </a:rPr>
                        <a:t>Orta ölçekli ofis ağları, kampüs ağları</a:t>
                      </a:r>
                    </a:p>
                  </a:txBody>
                  <a:tcPr marL="90091" marR="90091" marT="45045" marB="45045" anchor="ctr">
                    <a:lnL>
                      <a:noFill/>
                    </a:lnL>
                    <a:lnR>
                      <a:noFill/>
                    </a:lnR>
                    <a:lnT>
                      <a:noFill/>
                    </a:lnT>
                    <a:lnB>
                      <a:noFill/>
                    </a:lnB>
                    <a:solidFill>
                      <a:srgbClr val="F7F7F7"/>
                    </a:solidFill>
                  </a:tcPr>
                </a:tc>
                <a:extLst>
                  <a:ext uri="{0D108BD9-81ED-4DB2-BD59-A6C34878D82A}">
                    <a16:rowId xmlns:a16="http://schemas.microsoft.com/office/drawing/2014/main" val="2154992067"/>
                  </a:ext>
                </a:extLst>
              </a:tr>
              <a:tr h="630634">
                <a:tc>
                  <a:txBody>
                    <a:bodyPr/>
                    <a:lstStyle/>
                    <a:p>
                      <a:r>
                        <a:rPr lang="tr-TR" sz="1800">
                          <a:effectLst/>
                        </a:rPr>
                        <a:t>Cat 6a</a:t>
                      </a:r>
                    </a:p>
                  </a:txBody>
                  <a:tcPr marL="90091" marR="90091" marT="45045" marB="45045" anchor="ctr">
                    <a:lnL>
                      <a:noFill/>
                    </a:lnL>
                    <a:lnR>
                      <a:noFill/>
                    </a:lnR>
                    <a:lnT>
                      <a:noFill/>
                    </a:lnT>
                    <a:lnB>
                      <a:noFill/>
                    </a:lnB>
                    <a:solidFill>
                      <a:srgbClr val="F7F7F7"/>
                    </a:solidFill>
                  </a:tcPr>
                </a:tc>
                <a:tc>
                  <a:txBody>
                    <a:bodyPr/>
                    <a:lstStyle/>
                    <a:p>
                      <a:r>
                        <a:rPr lang="tr-TR" sz="1800">
                          <a:effectLst/>
                        </a:rPr>
                        <a:t>10 Gbps</a:t>
                      </a:r>
                    </a:p>
                  </a:txBody>
                  <a:tcPr marL="90091" marR="90091" marT="45045" marB="45045" anchor="ctr">
                    <a:lnL>
                      <a:noFill/>
                    </a:lnL>
                    <a:lnR>
                      <a:noFill/>
                    </a:lnR>
                    <a:lnT>
                      <a:noFill/>
                    </a:lnT>
                    <a:lnB>
                      <a:noFill/>
                    </a:lnB>
                    <a:solidFill>
                      <a:srgbClr val="F7F7F7"/>
                    </a:solidFill>
                  </a:tcPr>
                </a:tc>
                <a:tc>
                  <a:txBody>
                    <a:bodyPr/>
                    <a:lstStyle/>
                    <a:p>
                      <a:r>
                        <a:rPr lang="tr-TR" sz="1800">
                          <a:effectLst/>
                        </a:rPr>
                        <a:t>100 metre</a:t>
                      </a:r>
                    </a:p>
                  </a:txBody>
                  <a:tcPr marL="90091" marR="90091" marT="45045" marB="45045" anchor="ctr">
                    <a:lnL>
                      <a:noFill/>
                    </a:lnL>
                    <a:lnR>
                      <a:noFill/>
                    </a:lnR>
                    <a:lnT>
                      <a:noFill/>
                    </a:lnT>
                    <a:lnB>
                      <a:noFill/>
                    </a:lnB>
                    <a:solidFill>
                      <a:srgbClr val="F7F7F7"/>
                    </a:solidFill>
                  </a:tcPr>
                </a:tc>
                <a:tc>
                  <a:txBody>
                    <a:bodyPr/>
                    <a:lstStyle/>
                    <a:p>
                      <a:r>
                        <a:rPr lang="tr-TR" sz="1800">
                          <a:effectLst/>
                        </a:rPr>
                        <a:t>UTP</a:t>
                      </a:r>
                    </a:p>
                  </a:txBody>
                  <a:tcPr marL="90091" marR="90091" marT="45045" marB="45045" anchor="ctr">
                    <a:lnL>
                      <a:noFill/>
                    </a:lnL>
                    <a:lnR>
                      <a:noFill/>
                    </a:lnR>
                    <a:lnT>
                      <a:noFill/>
                    </a:lnT>
                    <a:lnB>
                      <a:noFill/>
                    </a:lnB>
                    <a:solidFill>
                      <a:srgbClr val="F7F7F7"/>
                    </a:solidFill>
                  </a:tcPr>
                </a:tc>
                <a:tc>
                  <a:txBody>
                    <a:bodyPr/>
                    <a:lstStyle/>
                    <a:p>
                      <a:r>
                        <a:rPr lang="tr-TR" sz="1800">
                          <a:effectLst/>
                        </a:rPr>
                        <a:t>Büyük ofis ağları, veri merkezi ağları</a:t>
                      </a:r>
                    </a:p>
                  </a:txBody>
                  <a:tcPr marL="90091" marR="90091" marT="45045" marB="45045" anchor="ctr">
                    <a:lnL>
                      <a:noFill/>
                    </a:lnL>
                    <a:lnR>
                      <a:noFill/>
                    </a:lnR>
                    <a:lnT>
                      <a:noFill/>
                    </a:lnT>
                    <a:lnB>
                      <a:noFill/>
                    </a:lnB>
                    <a:solidFill>
                      <a:srgbClr val="F7F7F7"/>
                    </a:solidFill>
                  </a:tcPr>
                </a:tc>
                <a:extLst>
                  <a:ext uri="{0D108BD9-81ED-4DB2-BD59-A6C34878D82A}">
                    <a16:rowId xmlns:a16="http://schemas.microsoft.com/office/drawing/2014/main" val="3256017727"/>
                  </a:ext>
                </a:extLst>
              </a:tr>
              <a:tr h="900906">
                <a:tc>
                  <a:txBody>
                    <a:bodyPr/>
                    <a:lstStyle/>
                    <a:p>
                      <a:r>
                        <a:rPr lang="tr-TR" sz="1800">
                          <a:effectLst/>
                        </a:rPr>
                        <a:t>Cat 7</a:t>
                      </a:r>
                    </a:p>
                  </a:txBody>
                  <a:tcPr marL="90091" marR="90091" marT="45045" marB="45045" anchor="ctr">
                    <a:lnL>
                      <a:noFill/>
                    </a:lnL>
                    <a:lnR>
                      <a:noFill/>
                    </a:lnR>
                    <a:lnT>
                      <a:noFill/>
                    </a:lnT>
                    <a:lnB>
                      <a:noFill/>
                    </a:lnB>
                    <a:solidFill>
                      <a:srgbClr val="F7F7F7"/>
                    </a:solidFill>
                  </a:tcPr>
                </a:tc>
                <a:tc>
                  <a:txBody>
                    <a:bodyPr/>
                    <a:lstStyle/>
                    <a:p>
                      <a:r>
                        <a:rPr lang="tr-TR" sz="1800">
                          <a:effectLst/>
                        </a:rPr>
                        <a:t>10 Gbps</a:t>
                      </a:r>
                    </a:p>
                  </a:txBody>
                  <a:tcPr marL="90091" marR="90091" marT="45045" marB="45045" anchor="ctr">
                    <a:lnL>
                      <a:noFill/>
                    </a:lnL>
                    <a:lnR>
                      <a:noFill/>
                    </a:lnR>
                    <a:lnT>
                      <a:noFill/>
                    </a:lnT>
                    <a:lnB>
                      <a:noFill/>
                    </a:lnB>
                    <a:solidFill>
                      <a:srgbClr val="F7F7F7"/>
                    </a:solidFill>
                  </a:tcPr>
                </a:tc>
                <a:tc>
                  <a:txBody>
                    <a:bodyPr/>
                    <a:lstStyle/>
                    <a:p>
                      <a:r>
                        <a:rPr lang="tr-TR" sz="1800">
                          <a:effectLst/>
                        </a:rPr>
                        <a:t>100 metre</a:t>
                      </a:r>
                    </a:p>
                  </a:txBody>
                  <a:tcPr marL="90091" marR="90091" marT="45045" marB="45045" anchor="ctr">
                    <a:lnL>
                      <a:noFill/>
                    </a:lnL>
                    <a:lnR>
                      <a:noFill/>
                    </a:lnR>
                    <a:lnT>
                      <a:noFill/>
                    </a:lnT>
                    <a:lnB>
                      <a:noFill/>
                    </a:lnB>
                    <a:solidFill>
                      <a:srgbClr val="F7F7F7"/>
                    </a:solidFill>
                  </a:tcPr>
                </a:tc>
                <a:tc>
                  <a:txBody>
                    <a:bodyPr/>
                    <a:lstStyle/>
                    <a:p>
                      <a:r>
                        <a:rPr lang="tr-TR" sz="1800">
                          <a:effectLst/>
                        </a:rPr>
                        <a:t>STP</a:t>
                      </a:r>
                    </a:p>
                  </a:txBody>
                  <a:tcPr marL="90091" marR="90091" marT="45045" marB="45045" anchor="ctr">
                    <a:lnL>
                      <a:noFill/>
                    </a:lnL>
                    <a:lnR>
                      <a:noFill/>
                    </a:lnR>
                    <a:lnT>
                      <a:noFill/>
                    </a:lnT>
                    <a:lnB>
                      <a:noFill/>
                    </a:lnB>
                    <a:solidFill>
                      <a:srgbClr val="F7F7F7"/>
                    </a:solidFill>
                  </a:tcPr>
                </a:tc>
                <a:tc>
                  <a:txBody>
                    <a:bodyPr/>
                    <a:lstStyle/>
                    <a:p>
                      <a:r>
                        <a:rPr lang="tr-TR" sz="1800">
                          <a:effectLst/>
                        </a:rPr>
                        <a:t>Yüksek performans gerektiren ağlar, veri merkezi ağları</a:t>
                      </a:r>
                    </a:p>
                  </a:txBody>
                  <a:tcPr marL="90091" marR="90091" marT="45045" marB="45045" anchor="ctr">
                    <a:lnL>
                      <a:noFill/>
                    </a:lnL>
                    <a:lnR>
                      <a:noFill/>
                    </a:lnR>
                    <a:lnT>
                      <a:noFill/>
                    </a:lnT>
                    <a:lnB>
                      <a:noFill/>
                    </a:lnB>
                    <a:solidFill>
                      <a:srgbClr val="F7F7F7"/>
                    </a:solidFill>
                  </a:tcPr>
                </a:tc>
                <a:extLst>
                  <a:ext uri="{0D108BD9-81ED-4DB2-BD59-A6C34878D82A}">
                    <a16:rowId xmlns:a16="http://schemas.microsoft.com/office/drawing/2014/main" val="3154348181"/>
                  </a:ext>
                </a:extLst>
              </a:tr>
              <a:tr h="1171178">
                <a:tc>
                  <a:txBody>
                    <a:bodyPr/>
                    <a:lstStyle/>
                    <a:p>
                      <a:r>
                        <a:rPr lang="tr-TR" sz="1800">
                          <a:effectLst/>
                        </a:rPr>
                        <a:t>Cat 8</a:t>
                      </a:r>
                    </a:p>
                  </a:txBody>
                  <a:tcPr marL="90091" marR="90091" marT="45045" marB="45045" anchor="ctr">
                    <a:lnL>
                      <a:noFill/>
                    </a:lnL>
                    <a:lnR>
                      <a:noFill/>
                    </a:lnR>
                    <a:lnT>
                      <a:noFill/>
                    </a:lnT>
                    <a:lnB>
                      <a:noFill/>
                    </a:lnB>
                    <a:solidFill>
                      <a:srgbClr val="F7F7F7"/>
                    </a:solidFill>
                  </a:tcPr>
                </a:tc>
                <a:tc>
                  <a:txBody>
                    <a:bodyPr/>
                    <a:lstStyle/>
                    <a:p>
                      <a:r>
                        <a:rPr lang="tr-TR" sz="1800">
                          <a:effectLst/>
                        </a:rPr>
                        <a:t>40 Gbps</a:t>
                      </a:r>
                    </a:p>
                  </a:txBody>
                  <a:tcPr marL="90091" marR="90091" marT="45045" marB="45045" anchor="ctr">
                    <a:lnL>
                      <a:noFill/>
                    </a:lnL>
                    <a:lnR>
                      <a:noFill/>
                    </a:lnR>
                    <a:lnT>
                      <a:noFill/>
                    </a:lnT>
                    <a:lnB>
                      <a:noFill/>
                    </a:lnB>
                    <a:solidFill>
                      <a:srgbClr val="F7F7F7"/>
                    </a:solidFill>
                  </a:tcPr>
                </a:tc>
                <a:tc>
                  <a:txBody>
                    <a:bodyPr/>
                    <a:lstStyle/>
                    <a:p>
                      <a:r>
                        <a:rPr lang="tr-TR" sz="1800">
                          <a:effectLst/>
                        </a:rPr>
                        <a:t>30 metre</a:t>
                      </a:r>
                    </a:p>
                  </a:txBody>
                  <a:tcPr marL="90091" marR="90091" marT="45045" marB="45045" anchor="ctr">
                    <a:lnL>
                      <a:noFill/>
                    </a:lnL>
                    <a:lnR>
                      <a:noFill/>
                    </a:lnR>
                    <a:lnT>
                      <a:noFill/>
                    </a:lnT>
                    <a:lnB>
                      <a:noFill/>
                    </a:lnB>
                    <a:solidFill>
                      <a:srgbClr val="F7F7F7"/>
                    </a:solidFill>
                  </a:tcPr>
                </a:tc>
                <a:tc>
                  <a:txBody>
                    <a:bodyPr/>
                    <a:lstStyle/>
                    <a:p>
                      <a:r>
                        <a:rPr lang="tr-TR" sz="1800">
                          <a:effectLst/>
                        </a:rPr>
                        <a:t>STP</a:t>
                      </a:r>
                    </a:p>
                  </a:txBody>
                  <a:tcPr marL="90091" marR="90091" marT="45045" marB="45045" anchor="ctr">
                    <a:lnL>
                      <a:noFill/>
                    </a:lnL>
                    <a:lnR>
                      <a:noFill/>
                    </a:lnR>
                    <a:lnT>
                      <a:noFill/>
                    </a:lnT>
                    <a:lnB>
                      <a:noFill/>
                    </a:lnB>
                    <a:solidFill>
                      <a:srgbClr val="F7F7F7"/>
                    </a:solidFill>
                  </a:tcPr>
                </a:tc>
                <a:tc>
                  <a:txBody>
                    <a:bodyPr/>
                    <a:lstStyle/>
                    <a:p>
                      <a:r>
                        <a:rPr lang="tr-TR" sz="1800" dirty="0">
                          <a:effectLst/>
                        </a:rPr>
                        <a:t>Çok yüksek performans gerektiren ağlar, veri merkezi ağları</a:t>
                      </a:r>
                    </a:p>
                  </a:txBody>
                  <a:tcPr marL="90091" marR="90091" marT="45045" marB="45045" anchor="ctr">
                    <a:lnL>
                      <a:noFill/>
                    </a:lnL>
                    <a:lnR>
                      <a:noFill/>
                    </a:lnR>
                    <a:lnT>
                      <a:noFill/>
                    </a:lnT>
                    <a:lnB>
                      <a:noFill/>
                    </a:lnB>
                    <a:solidFill>
                      <a:srgbClr val="F7F7F7"/>
                    </a:solidFill>
                  </a:tcPr>
                </a:tc>
                <a:extLst>
                  <a:ext uri="{0D108BD9-81ED-4DB2-BD59-A6C34878D82A}">
                    <a16:rowId xmlns:a16="http://schemas.microsoft.com/office/drawing/2014/main" val="4082170029"/>
                  </a:ext>
                </a:extLst>
              </a:tr>
            </a:tbl>
          </a:graphicData>
        </a:graphic>
      </p:graphicFrame>
    </p:spTree>
    <p:extLst>
      <p:ext uri="{BB962C8B-B14F-4D97-AF65-F5344CB8AC3E}">
        <p14:creationId xmlns:p14="http://schemas.microsoft.com/office/powerpoint/2010/main" val="960084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ETHERNET KABLOLARI</a:t>
            </a:r>
          </a:p>
        </p:txBody>
      </p:sp>
      <p:pic>
        <p:nvPicPr>
          <p:cNvPr id="35842" name="Picture 2" descr="Prolink Ethernet Kablosu (2 Met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209800"/>
            <a:ext cx="5559426" cy="3492015"/>
          </a:xfrm>
          <a:prstGeom prst="rect">
            <a:avLst/>
          </a:prstGeom>
          <a:noFill/>
          <a:extLst>
            <a:ext uri="{909E8E84-426E-40DD-AFC4-6F175D3DCCD1}">
              <a14:hiddenFill xmlns:a14="http://schemas.microsoft.com/office/drawing/2010/main">
                <a:solidFill>
                  <a:srgbClr val="FFFFFF"/>
                </a:solidFill>
              </a14:hiddenFill>
            </a:ext>
          </a:extLst>
        </p:spPr>
      </p:pic>
      <p:pic>
        <p:nvPicPr>
          <p:cNvPr id="35846" name="Picture 6" descr="What is UTP, FTP and STP Copper Network Cabl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60298" y="2209800"/>
            <a:ext cx="4022102" cy="34920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3769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FİBER OPTİK KABLOLAR</a:t>
            </a:r>
          </a:p>
        </p:txBody>
      </p:sp>
      <p:graphicFrame>
        <p:nvGraphicFramePr>
          <p:cNvPr id="5" name="İçerik Yer Tutucusu 4"/>
          <p:cNvGraphicFramePr>
            <a:graphicFrameLocks noGrp="1"/>
          </p:cNvGraphicFramePr>
          <p:nvPr>
            <p:ph idx="1"/>
          </p:nvPr>
        </p:nvGraphicFramePr>
        <p:xfrm>
          <a:off x="609600" y="3177223"/>
          <a:ext cx="10972800" cy="2468880"/>
        </p:xfrm>
        <a:graphic>
          <a:graphicData uri="http://schemas.openxmlformats.org/drawingml/2006/table">
            <a:tbl>
              <a:tblPr/>
              <a:tblGrid>
                <a:gridCol w="2194560">
                  <a:extLst>
                    <a:ext uri="{9D8B030D-6E8A-4147-A177-3AD203B41FA5}">
                      <a16:colId xmlns:a16="http://schemas.microsoft.com/office/drawing/2014/main" val="719085970"/>
                    </a:ext>
                  </a:extLst>
                </a:gridCol>
                <a:gridCol w="2194560">
                  <a:extLst>
                    <a:ext uri="{9D8B030D-6E8A-4147-A177-3AD203B41FA5}">
                      <a16:colId xmlns:a16="http://schemas.microsoft.com/office/drawing/2014/main" val="2152704126"/>
                    </a:ext>
                  </a:extLst>
                </a:gridCol>
                <a:gridCol w="2194560">
                  <a:extLst>
                    <a:ext uri="{9D8B030D-6E8A-4147-A177-3AD203B41FA5}">
                      <a16:colId xmlns:a16="http://schemas.microsoft.com/office/drawing/2014/main" val="618428031"/>
                    </a:ext>
                  </a:extLst>
                </a:gridCol>
                <a:gridCol w="2194560">
                  <a:extLst>
                    <a:ext uri="{9D8B030D-6E8A-4147-A177-3AD203B41FA5}">
                      <a16:colId xmlns:a16="http://schemas.microsoft.com/office/drawing/2014/main" val="520852860"/>
                    </a:ext>
                  </a:extLst>
                </a:gridCol>
                <a:gridCol w="2194560">
                  <a:extLst>
                    <a:ext uri="{9D8B030D-6E8A-4147-A177-3AD203B41FA5}">
                      <a16:colId xmlns:a16="http://schemas.microsoft.com/office/drawing/2014/main" val="72854553"/>
                    </a:ext>
                  </a:extLst>
                </a:gridCol>
              </a:tblGrid>
              <a:tr h="0">
                <a:tc>
                  <a:txBody>
                    <a:bodyPr/>
                    <a:lstStyle/>
                    <a:p>
                      <a:pPr algn="l"/>
                      <a:r>
                        <a:rPr lang="tr-TR" b="0">
                          <a:effectLst/>
                        </a:rPr>
                        <a:t>Kablo Türü</a:t>
                      </a:r>
                    </a:p>
                  </a:txBody>
                  <a:tcPr anchor="ctr">
                    <a:lnL>
                      <a:noFill/>
                    </a:lnL>
                    <a:lnR>
                      <a:noFill/>
                    </a:lnR>
                    <a:lnT>
                      <a:noFill/>
                    </a:lnT>
                    <a:lnB>
                      <a:noFill/>
                    </a:lnB>
                    <a:solidFill>
                      <a:srgbClr val="F7F7F7"/>
                    </a:solidFill>
                  </a:tcPr>
                </a:tc>
                <a:tc>
                  <a:txBody>
                    <a:bodyPr/>
                    <a:lstStyle/>
                    <a:p>
                      <a:pPr algn="l"/>
                      <a:r>
                        <a:rPr lang="tr-TR" b="0">
                          <a:effectLst/>
                        </a:rPr>
                        <a:t>Hız</a:t>
                      </a:r>
                    </a:p>
                  </a:txBody>
                  <a:tcPr anchor="ctr">
                    <a:lnL>
                      <a:noFill/>
                    </a:lnL>
                    <a:lnR>
                      <a:noFill/>
                    </a:lnR>
                    <a:lnT>
                      <a:noFill/>
                    </a:lnT>
                    <a:lnB>
                      <a:noFill/>
                    </a:lnB>
                    <a:solidFill>
                      <a:srgbClr val="F7F7F7"/>
                    </a:solidFill>
                  </a:tcPr>
                </a:tc>
                <a:tc>
                  <a:txBody>
                    <a:bodyPr/>
                    <a:lstStyle/>
                    <a:p>
                      <a:pPr algn="l"/>
                      <a:r>
                        <a:rPr lang="tr-TR" b="0">
                          <a:effectLst/>
                        </a:rPr>
                        <a:t>Maksimum Mesafe</a:t>
                      </a:r>
                    </a:p>
                  </a:txBody>
                  <a:tcPr anchor="ctr">
                    <a:lnL>
                      <a:noFill/>
                    </a:lnL>
                    <a:lnR>
                      <a:noFill/>
                    </a:lnR>
                    <a:lnT>
                      <a:noFill/>
                    </a:lnT>
                    <a:lnB>
                      <a:noFill/>
                    </a:lnB>
                    <a:solidFill>
                      <a:srgbClr val="F7F7F7"/>
                    </a:solidFill>
                  </a:tcPr>
                </a:tc>
                <a:tc>
                  <a:txBody>
                    <a:bodyPr/>
                    <a:lstStyle/>
                    <a:p>
                      <a:pPr algn="l"/>
                      <a:r>
                        <a:rPr lang="tr-TR" b="0">
                          <a:effectLst/>
                        </a:rPr>
                        <a:t>Kablo Türü</a:t>
                      </a:r>
                    </a:p>
                  </a:txBody>
                  <a:tcPr anchor="ctr">
                    <a:lnL>
                      <a:noFill/>
                    </a:lnL>
                    <a:lnR>
                      <a:noFill/>
                    </a:lnR>
                    <a:lnT>
                      <a:noFill/>
                    </a:lnT>
                    <a:lnB>
                      <a:noFill/>
                    </a:lnB>
                    <a:solidFill>
                      <a:srgbClr val="F7F7F7"/>
                    </a:solidFill>
                  </a:tcPr>
                </a:tc>
                <a:tc>
                  <a:txBody>
                    <a:bodyPr/>
                    <a:lstStyle/>
                    <a:p>
                      <a:pPr algn="l"/>
                      <a:r>
                        <a:rPr lang="tr-TR" b="0">
                          <a:effectLst/>
                        </a:rPr>
                        <a:t>Kullanım Alanları</a:t>
                      </a:r>
                    </a:p>
                  </a:txBody>
                  <a:tcPr anchor="ctr">
                    <a:lnL>
                      <a:noFill/>
                    </a:lnL>
                    <a:lnR>
                      <a:noFill/>
                    </a:lnR>
                    <a:lnT>
                      <a:noFill/>
                    </a:lnT>
                    <a:lnB>
                      <a:noFill/>
                    </a:lnB>
                    <a:solidFill>
                      <a:srgbClr val="F7F7F7"/>
                    </a:solidFill>
                  </a:tcPr>
                </a:tc>
                <a:extLst>
                  <a:ext uri="{0D108BD9-81ED-4DB2-BD59-A6C34878D82A}">
                    <a16:rowId xmlns:a16="http://schemas.microsoft.com/office/drawing/2014/main" val="2220151334"/>
                  </a:ext>
                </a:extLst>
              </a:tr>
              <a:tr h="0">
                <a:tc>
                  <a:txBody>
                    <a:bodyPr/>
                    <a:lstStyle/>
                    <a:p>
                      <a:r>
                        <a:rPr lang="tr-TR">
                          <a:effectLst/>
                        </a:rPr>
                        <a:t>Tek Modlu Fiber (Single Mode Fiber - SMF)</a:t>
                      </a:r>
                    </a:p>
                  </a:txBody>
                  <a:tcPr anchor="ctr">
                    <a:lnL>
                      <a:noFill/>
                    </a:lnL>
                    <a:lnR>
                      <a:noFill/>
                    </a:lnR>
                    <a:lnT>
                      <a:noFill/>
                    </a:lnT>
                    <a:lnB>
                      <a:noFill/>
                    </a:lnB>
                    <a:solidFill>
                      <a:srgbClr val="F7F7F7"/>
                    </a:solidFill>
                  </a:tcPr>
                </a:tc>
                <a:tc>
                  <a:txBody>
                    <a:bodyPr/>
                    <a:lstStyle/>
                    <a:p>
                      <a:r>
                        <a:rPr lang="tr-TR">
                          <a:effectLst/>
                        </a:rPr>
                        <a:t>10 Gbps ve üzeri</a:t>
                      </a:r>
                    </a:p>
                  </a:txBody>
                  <a:tcPr anchor="ctr">
                    <a:lnL>
                      <a:noFill/>
                    </a:lnL>
                    <a:lnR>
                      <a:noFill/>
                    </a:lnR>
                    <a:lnT>
                      <a:noFill/>
                    </a:lnT>
                    <a:lnB>
                      <a:noFill/>
                    </a:lnB>
                    <a:solidFill>
                      <a:srgbClr val="F7F7F7"/>
                    </a:solidFill>
                  </a:tcPr>
                </a:tc>
                <a:tc>
                  <a:txBody>
                    <a:bodyPr/>
                    <a:lstStyle/>
                    <a:p>
                      <a:r>
                        <a:rPr lang="tr-TR">
                          <a:effectLst/>
                        </a:rPr>
                        <a:t>100 km'ye kadar</a:t>
                      </a:r>
                    </a:p>
                  </a:txBody>
                  <a:tcPr anchor="ctr">
                    <a:lnL>
                      <a:noFill/>
                    </a:lnL>
                    <a:lnR>
                      <a:noFill/>
                    </a:lnR>
                    <a:lnT>
                      <a:noFill/>
                    </a:lnT>
                    <a:lnB>
                      <a:noFill/>
                    </a:lnB>
                    <a:solidFill>
                      <a:srgbClr val="F7F7F7"/>
                    </a:solidFill>
                  </a:tcPr>
                </a:tc>
                <a:tc>
                  <a:txBody>
                    <a:bodyPr/>
                    <a:lstStyle/>
                    <a:p>
                      <a:r>
                        <a:rPr lang="tr-TR">
                          <a:effectLst/>
                        </a:rPr>
                        <a:t>Fiber Optik</a:t>
                      </a:r>
                    </a:p>
                  </a:txBody>
                  <a:tcPr anchor="ctr">
                    <a:lnL>
                      <a:noFill/>
                    </a:lnL>
                    <a:lnR>
                      <a:noFill/>
                    </a:lnR>
                    <a:lnT>
                      <a:noFill/>
                    </a:lnT>
                    <a:lnB>
                      <a:noFill/>
                    </a:lnB>
                    <a:solidFill>
                      <a:srgbClr val="F7F7F7"/>
                    </a:solidFill>
                  </a:tcPr>
                </a:tc>
                <a:tc>
                  <a:txBody>
                    <a:bodyPr/>
                    <a:lstStyle/>
                    <a:p>
                      <a:r>
                        <a:rPr lang="tr-TR">
                          <a:effectLst/>
                        </a:rPr>
                        <a:t>Uzun mesafe telekomünikasyon ağları, veri merkezleri arası bağlantılar</a:t>
                      </a:r>
                    </a:p>
                  </a:txBody>
                  <a:tcPr anchor="ctr">
                    <a:lnL>
                      <a:noFill/>
                    </a:lnL>
                    <a:lnR>
                      <a:noFill/>
                    </a:lnR>
                    <a:lnT>
                      <a:noFill/>
                    </a:lnT>
                    <a:lnB>
                      <a:noFill/>
                    </a:lnB>
                    <a:solidFill>
                      <a:srgbClr val="F7F7F7"/>
                    </a:solidFill>
                  </a:tcPr>
                </a:tc>
                <a:extLst>
                  <a:ext uri="{0D108BD9-81ED-4DB2-BD59-A6C34878D82A}">
                    <a16:rowId xmlns:a16="http://schemas.microsoft.com/office/drawing/2014/main" val="357257538"/>
                  </a:ext>
                </a:extLst>
              </a:tr>
              <a:tr h="0">
                <a:tc>
                  <a:txBody>
                    <a:bodyPr/>
                    <a:lstStyle/>
                    <a:p>
                      <a:r>
                        <a:rPr lang="tr-TR">
                          <a:effectLst/>
                        </a:rPr>
                        <a:t>Çok Modlu Fiber (Multi Mode Fiber - MMF)</a:t>
                      </a:r>
                    </a:p>
                  </a:txBody>
                  <a:tcPr anchor="ctr">
                    <a:lnL>
                      <a:noFill/>
                    </a:lnL>
                    <a:lnR>
                      <a:noFill/>
                    </a:lnR>
                    <a:lnT>
                      <a:noFill/>
                    </a:lnT>
                    <a:lnB>
                      <a:noFill/>
                    </a:lnB>
                    <a:solidFill>
                      <a:srgbClr val="F7F7F7"/>
                    </a:solidFill>
                  </a:tcPr>
                </a:tc>
                <a:tc>
                  <a:txBody>
                    <a:bodyPr/>
                    <a:lstStyle/>
                    <a:p>
                      <a:r>
                        <a:rPr lang="es-ES">
                          <a:effectLst/>
                        </a:rPr>
                        <a:t>1 Gbps ve 10 Gbps</a:t>
                      </a:r>
                    </a:p>
                  </a:txBody>
                  <a:tcPr anchor="ctr">
                    <a:lnL>
                      <a:noFill/>
                    </a:lnL>
                    <a:lnR>
                      <a:noFill/>
                    </a:lnR>
                    <a:lnT>
                      <a:noFill/>
                    </a:lnT>
                    <a:lnB>
                      <a:noFill/>
                    </a:lnB>
                    <a:solidFill>
                      <a:srgbClr val="F7F7F7"/>
                    </a:solidFill>
                  </a:tcPr>
                </a:tc>
                <a:tc>
                  <a:txBody>
                    <a:bodyPr/>
                    <a:lstStyle/>
                    <a:p>
                      <a:r>
                        <a:rPr lang="tr-TR">
                          <a:effectLst/>
                        </a:rPr>
                        <a:t>2 km'ye kadar</a:t>
                      </a:r>
                    </a:p>
                  </a:txBody>
                  <a:tcPr anchor="ctr">
                    <a:lnL>
                      <a:noFill/>
                    </a:lnL>
                    <a:lnR>
                      <a:noFill/>
                    </a:lnR>
                    <a:lnT>
                      <a:noFill/>
                    </a:lnT>
                    <a:lnB>
                      <a:noFill/>
                    </a:lnB>
                    <a:solidFill>
                      <a:srgbClr val="F7F7F7"/>
                    </a:solidFill>
                  </a:tcPr>
                </a:tc>
                <a:tc>
                  <a:txBody>
                    <a:bodyPr/>
                    <a:lstStyle/>
                    <a:p>
                      <a:r>
                        <a:rPr lang="tr-TR">
                          <a:effectLst/>
                        </a:rPr>
                        <a:t>Fiber Optik</a:t>
                      </a:r>
                    </a:p>
                  </a:txBody>
                  <a:tcPr anchor="ctr">
                    <a:lnL>
                      <a:noFill/>
                    </a:lnL>
                    <a:lnR>
                      <a:noFill/>
                    </a:lnR>
                    <a:lnT>
                      <a:noFill/>
                    </a:lnT>
                    <a:lnB>
                      <a:noFill/>
                    </a:lnB>
                    <a:solidFill>
                      <a:srgbClr val="F7F7F7"/>
                    </a:solidFill>
                  </a:tcPr>
                </a:tc>
                <a:tc>
                  <a:txBody>
                    <a:bodyPr/>
                    <a:lstStyle/>
                    <a:p>
                      <a:r>
                        <a:rPr lang="tr-TR" dirty="0">
                          <a:effectLst/>
                        </a:rPr>
                        <a:t>Ofis ağları, kampüs ağları, veri merkezi içi bağlantılar</a:t>
                      </a:r>
                    </a:p>
                  </a:txBody>
                  <a:tcPr anchor="ctr">
                    <a:lnL>
                      <a:noFill/>
                    </a:lnL>
                    <a:lnR>
                      <a:noFill/>
                    </a:lnR>
                    <a:lnT>
                      <a:noFill/>
                    </a:lnT>
                    <a:lnB>
                      <a:noFill/>
                    </a:lnB>
                    <a:solidFill>
                      <a:srgbClr val="F7F7F7"/>
                    </a:solidFill>
                  </a:tcPr>
                </a:tc>
                <a:extLst>
                  <a:ext uri="{0D108BD9-81ED-4DB2-BD59-A6C34878D82A}">
                    <a16:rowId xmlns:a16="http://schemas.microsoft.com/office/drawing/2014/main" val="2906441869"/>
                  </a:ext>
                </a:extLst>
              </a:tr>
            </a:tbl>
          </a:graphicData>
        </a:graphic>
      </p:graphicFrame>
    </p:spTree>
    <p:extLst>
      <p:ext uri="{BB962C8B-B14F-4D97-AF65-F5344CB8AC3E}">
        <p14:creationId xmlns:p14="http://schemas.microsoft.com/office/powerpoint/2010/main" val="1284893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FİBER OPTİK KABLOLAR</a:t>
            </a:r>
          </a:p>
        </p:txBody>
      </p:sp>
      <p:pic>
        <p:nvPicPr>
          <p:cNvPr id="36866" name="Picture 2" descr="Single Mode vs Multimode Fiber Cable Guide | FS Commun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3652" y="2209800"/>
            <a:ext cx="7620000" cy="2543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3754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KOAKSİYEL KABLOLAR</a:t>
            </a:r>
          </a:p>
        </p:txBody>
      </p:sp>
      <p:graphicFrame>
        <p:nvGraphicFramePr>
          <p:cNvPr id="4" name="İçerik Yer Tutucusu 3"/>
          <p:cNvGraphicFramePr>
            <a:graphicFrameLocks noGrp="1"/>
          </p:cNvGraphicFramePr>
          <p:nvPr>
            <p:ph idx="1"/>
          </p:nvPr>
        </p:nvGraphicFramePr>
        <p:xfrm>
          <a:off x="609600" y="3314383"/>
          <a:ext cx="10972800" cy="2194560"/>
        </p:xfrm>
        <a:graphic>
          <a:graphicData uri="http://schemas.openxmlformats.org/drawingml/2006/table">
            <a:tbl>
              <a:tblPr/>
              <a:tblGrid>
                <a:gridCol w="2194560">
                  <a:extLst>
                    <a:ext uri="{9D8B030D-6E8A-4147-A177-3AD203B41FA5}">
                      <a16:colId xmlns:a16="http://schemas.microsoft.com/office/drawing/2014/main" val="2647730543"/>
                    </a:ext>
                  </a:extLst>
                </a:gridCol>
                <a:gridCol w="2194560">
                  <a:extLst>
                    <a:ext uri="{9D8B030D-6E8A-4147-A177-3AD203B41FA5}">
                      <a16:colId xmlns:a16="http://schemas.microsoft.com/office/drawing/2014/main" val="1190664887"/>
                    </a:ext>
                  </a:extLst>
                </a:gridCol>
                <a:gridCol w="2194560">
                  <a:extLst>
                    <a:ext uri="{9D8B030D-6E8A-4147-A177-3AD203B41FA5}">
                      <a16:colId xmlns:a16="http://schemas.microsoft.com/office/drawing/2014/main" val="3747727675"/>
                    </a:ext>
                  </a:extLst>
                </a:gridCol>
                <a:gridCol w="2194560">
                  <a:extLst>
                    <a:ext uri="{9D8B030D-6E8A-4147-A177-3AD203B41FA5}">
                      <a16:colId xmlns:a16="http://schemas.microsoft.com/office/drawing/2014/main" val="3467651963"/>
                    </a:ext>
                  </a:extLst>
                </a:gridCol>
                <a:gridCol w="2194560">
                  <a:extLst>
                    <a:ext uri="{9D8B030D-6E8A-4147-A177-3AD203B41FA5}">
                      <a16:colId xmlns:a16="http://schemas.microsoft.com/office/drawing/2014/main" val="278436764"/>
                    </a:ext>
                  </a:extLst>
                </a:gridCol>
              </a:tblGrid>
              <a:tr h="0">
                <a:tc>
                  <a:txBody>
                    <a:bodyPr/>
                    <a:lstStyle/>
                    <a:p>
                      <a:pPr algn="l"/>
                      <a:r>
                        <a:rPr lang="tr-TR" b="0">
                          <a:effectLst/>
                        </a:rPr>
                        <a:t>Kablo Türü</a:t>
                      </a:r>
                    </a:p>
                  </a:txBody>
                  <a:tcPr anchor="ctr">
                    <a:lnL>
                      <a:noFill/>
                    </a:lnL>
                    <a:lnR>
                      <a:noFill/>
                    </a:lnR>
                    <a:lnT>
                      <a:noFill/>
                    </a:lnT>
                    <a:lnB>
                      <a:noFill/>
                    </a:lnB>
                    <a:solidFill>
                      <a:srgbClr val="F7F7F7"/>
                    </a:solidFill>
                  </a:tcPr>
                </a:tc>
                <a:tc>
                  <a:txBody>
                    <a:bodyPr/>
                    <a:lstStyle/>
                    <a:p>
                      <a:pPr algn="l"/>
                      <a:r>
                        <a:rPr lang="tr-TR" b="0">
                          <a:effectLst/>
                        </a:rPr>
                        <a:t>Hız</a:t>
                      </a:r>
                    </a:p>
                  </a:txBody>
                  <a:tcPr anchor="ctr">
                    <a:lnL>
                      <a:noFill/>
                    </a:lnL>
                    <a:lnR>
                      <a:noFill/>
                    </a:lnR>
                    <a:lnT>
                      <a:noFill/>
                    </a:lnT>
                    <a:lnB>
                      <a:noFill/>
                    </a:lnB>
                    <a:solidFill>
                      <a:srgbClr val="F7F7F7"/>
                    </a:solidFill>
                  </a:tcPr>
                </a:tc>
                <a:tc>
                  <a:txBody>
                    <a:bodyPr/>
                    <a:lstStyle/>
                    <a:p>
                      <a:pPr algn="l"/>
                      <a:r>
                        <a:rPr lang="tr-TR" b="0">
                          <a:effectLst/>
                        </a:rPr>
                        <a:t>Maksimum Mesafe</a:t>
                      </a:r>
                    </a:p>
                  </a:txBody>
                  <a:tcPr anchor="ctr">
                    <a:lnL>
                      <a:noFill/>
                    </a:lnL>
                    <a:lnR>
                      <a:noFill/>
                    </a:lnR>
                    <a:lnT>
                      <a:noFill/>
                    </a:lnT>
                    <a:lnB>
                      <a:noFill/>
                    </a:lnB>
                    <a:solidFill>
                      <a:srgbClr val="F7F7F7"/>
                    </a:solidFill>
                  </a:tcPr>
                </a:tc>
                <a:tc>
                  <a:txBody>
                    <a:bodyPr/>
                    <a:lstStyle/>
                    <a:p>
                      <a:pPr algn="l"/>
                      <a:r>
                        <a:rPr lang="tr-TR" b="0">
                          <a:effectLst/>
                        </a:rPr>
                        <a:t>Kablo Türü</a:t>
                      </a:r>
                    </a:p>
                  </a:txBody>
                  <a:tcPr anchor="ctr">
                    <a:lnL>
                      <a:noFill/>
                    </a:lnL>
                    <a:lnR>
                      <a:noFill/>
                    </a:lnR>
                    <a:lnT>
                      <a:noFill/>
                    </a:lnT>
                    <a:lnB>
                      <a:noFill/>
                    </a:lnB>
                    <a:solidFill>
                      <a:srgbClr val="F7F7F7"/>
                    </a:solidFill>
                  </a:tcPr>
                </a:tc>
                <a:tc>
                  <a:txBody>
                    <a:bodyPr/>
                    <a:lstStyle/>
                    <a:p>
                      <a:pPr algn="l"/>
                      <a:r>
                        <a:rPr lang="tr-TR" b="0">
                          <a:effectLst/>
                        </a:rPr>
                        <a:t>Kullanım Alanları</a:t>
                      </a:r>
                    </a:p>
                  </a:txBody>
                  <a:tcPr anchor="ctr">
                    <a:lnL>
                      <a:noFill/>
                    </a:lnL>
                    <a:lnR>
                      <a:noFill/>
                    </a:lnR>
                    <a:lnT>
                      <a:noFill/>
                    </a:lnT>
                    <a:lnB>
                      <a:noFill/>
                    </a:lnB>
                    <a:solidFill>
                      <a:srgbClr val="F7F7F7"/>
                    </a:solidFill>
                  </a:tcPr>
                </a:tc>
                <a:extLst>
                  <a:ext uri="{0D108BD9-81ED-4DB2-BD59-A6C34878D82A}">
                    <a16:rowId xmlns:a16="http://schemas.microsoft.com/office/drawing/2014/main" val="3704428810"/>
                  </a:ext>
                </a:extLst>
              </a:tr>
              <a:tr h="0">
                <a:tc>
                  <a:txBody>
                    <a:bodyPr/>
                    <a:lstStyle/>
                    <a:p>
                      <a:r>
                        <a:rPr lang="tr-TR">
                          <a:effectLst/>
                        </a:rPr>
                        <a:t>Thinnet (10BASE2)</a:t>
                      </a:r>
                    </a:p>
                  </a:txBody>
                  <a:tcPr anchor="ctr">
                    <a:lnL>
                      <a:noFill/>
                    </a:lnL>
                    <a:lnR>
                      <a:noFill/>
                    </a:lnR>
                    <a:lnT>
                      <a:noFill/>
                    </a:lnT>
                    <a:lnB>
                      <a:noFill/>
                    </a:lnB>
                    <a:solidFill>
                      <a:srgbClr val="F7F7F7"/>
                    </a:solidFill>
                  </a:tcPr>
                </a:tc>
                <a:tc>
                  <a:txBody>
                    <a:bodyPr/>
                    <a:lstStyle/>
                    <a:p>
                      <a:r>
                        <a:rPr lang="tr-TR">
                          <a:effectLst/>
                        </a:rPr>
                        <a:t>10 Mbps</a:t>
                      </a:r>
                    </a:p>
                  </a:txBody>
                  <a:tcPr anchor="ctr">
                    <a:lnL>
                      <a:noFill/>
                    </a:lnL>
                    <a:lnR>
                      <a:noFill/>
                    </a:lnR>
                    <a:lnT>
                      <a:noFill/>
                    </a:lnT>
                    <a:lnB>
                      <a:noFill/>
                    </a:lnB>
                    <a:solidFill>
                      <a:srgbClr val="F7F7F7"/>
                    </a:solidFill>
                  </a:tcPr>
                </a:tc>
                <a:tc>
                  <a:txBody>
                    <a:bodyPr/>
                    <a:lstStyle/>
                    <a:p>
                      <a:r>
                        <a:rPr lang="tr-TR">
                          <a:effectLst/>
                        </a:rPr>
                        <a:t>185 metre</a:t>
                      </a:r>
                    </a:p>
                  </a:txBody>
                  <a:tcPr anchor="ctr">
                    <a:lnL>
                      <a:noFill/>
                    </a:lnL>
                    <a:lnR>
                      <a:noFill/>
                    </a:lnR>
                    <a:lnT>
                      <a:noFill/>
                    </a:lnT>
                    <a:lnB>
                      <a:noFill/>
                    </a:lnB>
                    <a:solidFill>
                      <a:srgbClr val="F7F7F7"/>
                    </a:solidFill>
                  </a:tcPr>
                </a:tc>
                <a:tc>
                  <a:txBody>
                    <a:bodyPr/>
                    <a:lstStyle/>
                    <a:p>
                      <a:r>
                        <a:rPr lang="tr-TR">
                          <a:effectLst/>
                        </a:rPr>
                        <a:t>Koaksiyel</a:t>
                      </a:r>
                    </a:p>
                  </a:txBody>
                  <a:tcPr anchor="ctr">
                    <a:lnL>
                      <a:noFill/>
                    </a:lnL>
                    <a:lnR>
                      <a:noFill/>
                    </a:lnR>
                    <a:lnT>
                      <a:noFill/>
                    </a:lnT>
                    <a:lnB>
                      <a:noFill/>
                    </a:lnB>
                    <a:solidFill>
                      <a:srgbClr val="F7F7F7"/>
                    </a:solidFill>
                  </a:tcPr>
                </a:tc>
                <a:tc>
                  <a:txBody>
                    <a:bodyPr/>
                    <a:lstStyle/>
                    <a:p>
                      <a:r>
                        <a:rPr lang="tr-TR">
                          <a:effectLst/>
                        </a:rPr>
                        <a:t>Eski ağlarda kullanılır, modern ağlarda nadiren kullanılır</a:t>
                      </a:r>
                    </a:p>
                  </a:txBody>
                  <a:tcPr anchor="ctr">
                    <a:lnL>
                      <a:noFill/>
                    </a:lnL>
                    <a:lnR>
                      <a:noFill/>
                    </a:lnR>
                    <a:lnT>
                      <a:noFill/>
                    </a:lnT>
                    <a:lnB>
                      <a:noFill/>
                    </a:lnB>
                    <a:solidFill>
                      <a:srgbClr val="F7F7F7"/>
                    </a:solidFill>
                  </a:tcPr>
                </a:tc>
                <a:extLst>
                  <a:ext uri="{0D108BD9-81ED-4DB2-BD59-A6C34878D82A}">
                    <a16:rowId xmlns:a16="http://schemas.microsoft.com/office/drawing/2014/main" val="2043986845"/>
                  </a:ext>
                </a:extLst>
              </a:tr>
              <a:tr h="0">
                <a:tc>
                  <a:txBody>
                    <a:bodyPr/>
                    <a:lstStyle/>
                    <a:p>
                      <a:r>
                        <a:rPr lang="tr-TR">
                          <a:effectLst/>
                        </a:rPr>
                        <a:t>Thicknet (10BASE5)</a:t>
                      </a:r>
                    </a:p>
                  </a:txBody>
                  <a:tcPr anchor="ctr">
                    <a:lnL>
                      <a:noFill/>
                    </a:lnL>
                    <a:lnR>
                      <a:noFill/>
                    </a:lnR>
                    <a:lnT>
                      <a:noFill/>
                    </a:lnT>
                    <a:lnB>
                      <a:noFill/>
                    </a:lnB>
                    <a:solidFill>
                      <a:srgbClr val="F7F7F7"/>
                    </a:solidFill>
                  </a:tcPr>
                </a:tc>
                <a:tc>
                  <a:txBody>
                    <a:bodyPr/>
                    <a:lstStyle/>
                    <a:p>
                      <a:r>
                        <a:rPr lang="tr-TR">
                          <a:effectLst/>
                        </a:rPr>
                        <a:t>10 Mbps</a:t>
                      </a:r>
                    </a:p>
                  </a:txBody>
                  <a:tcPr anchor="ctr">
                    <a:lnL>
                      <a:noFill/>
                    </a:lnL>
                    <a:lnR>
                      <a:noFill/>
                    </a:lnR>
                    <a:lnT>
                      <a:noFill/>
                    </a:lnT>
                    <a:lnB>
                      <a:noFill/>
                    </a:lnB>
                    <a:solidFill>
                      <a:srgbClr val="F7F7F7"/>
                    </a:solidFill>
                  </a:tcPr>
                </a:tc>
                <a:tc>
                  <a:txBody>
                    <a:bodyPr/>
                    <a:lstStyle/>
                    <a:p>
                      <a:r>
                        <a:rPr lang="tr-TR">
                          <a:effectLst/>
                        </a:rPr>
                        <a:t>500 metre</a:t>
                      </a:r>
                    </a:p>
                  </a:txBody>
                  <a:tcPr anchor="ctr">
                    <a:lnL>
                      <a:noFill/>
                    </a:lnL>
                    <a:lnR>
                      <a:noFill/>
                    </a:lnR>
                    <a:lnT>
                      <a:noFill/>
                    </a:lnT>
                    <a:lnB>
                      <a:noFill/>
                    </a:lnB>
                    <a:solidFill>
                      <a:srgbClr val="F7F7F7"/>
                    </a:solidFill>
                  </a:tcPr>
                </a:tc>
                <a:tc>
                  <a:txBody>
                    <a:bodyPr/>
                    <a:lstStyle/>
                    <a:p>
                      <a:r>
                        <a:rPr lang="tr-TR">
                          <a:effectLst/>
                        </a:rPr>
                        <a:t>Koaksiyel</a:t>
                      </a:r>
                    </a:p>
                  </a:txBody>
                  <a:tcPr anchor="ctr">
                    <a:lnL>
                      <a:noFill/>
                    </a:lnL>
                    <a:lnR>
                      <a:noFill/>
                    </a:lnR>
                    <a:lnT>
                      <a:noFill/>
                    </a:lnT>
                    <a:lnB>
                      <a:noFill/>
                    </a:lnB>
                    <a:solidFill>
                      <a:srgbClr val="F7F7F7"/>
                    </a:solidFill>
                  </a:tcPr>
                </a:tc>
                <a:tc>
                  <a:txBody>
                    <a:bodyPr/>
                    <a:lstStyle/>
                    <a:p>
                      <a:r>
                        <a:rPr lang="tr-TR" dirty="0">
                          <a:effectLst/>
                        </a:rPr>
                        <a:t>Eski ağlarda kullanılır, modern ağlarda nadiren kullanılır</a:t>
                      </a:r>
                    </a:p>
                  </a:txBody>
                  <a:tcPr anchor="ctr">
                    <a:lnL>
                      <a:noFill/>
                    </a:lnL>
                    <a:lnR>
                      <a:noFill/>
                    </a:lnR>
                    <a:lnT>
                      <a:noFill/>
                    </a:lnT>
                    <a:lnB>
                      <a:noFill/>
                    </a:lnB>
                    <a:solidFill>
                      <a:srgbClr val="F7F7F7"/>
                    </a:solidFill>
                  </a:tcPr>
                </a:tc>
                <a:extLst>
                  <a:ext uri="{0D108BD9-81ED-4DB2-BD59-A6C34878D82A}">
                    <a16:rowId xmlns:a16="http://schemas.microsoft.com/office/drawing/2014/main" val="2154260840"/>
                  </a:ext>
                </a:extLst>
              </a:tr>
            </a:tbl>
          </a:graphicData>
        </a:graphic>
      </p:graphicFrame>
    </p:spTree>
    <p:extLst>
      <p:ext uri="{BB962C8B-B14F-4D97-AF65-F5344CB8AC3E}">
        <p14:creationId xmlns:p14="http://schemas.microsoft.com/office/powerpoint/2010/main" val="1225288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KOAKSİYEL KABLOLAR</a:t>
            </a:r>
          </a:p>
        </p:txBody>
      </p:sp>
      <p:pic>
        <p:nvPicPr>
          <p:cNvPr id="37890" name="Picture 2" descr="What is a coaxial cable? A definition from WhatIs.c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209800"/>
            <a:ext cx="4953000" cy="2800351"/>
          </a:xfrm>
          <a:prstGeom prst="rect">
            <a:avLst/>
          </a:prstGeom>
          <a:noFill/>
          <a:extLst>
            <a:ext uri="{909E8E84-426E-40DD-AFC4-6F175D3DCCD1}">
              <a14:hiddenFill xmlns:a14="http://schemas.microsoft.com/office/drawing/2010/main">
                <a:solidFill>
                  <a:srgbClr val="FFFFFF"/>
                </a:solidFill>
              </a14:hiddenFill>
            </a:ext>
          </a:extLst>
        </p:spPr>
      </p:pic>
      <p:pic>
        <p:nvPicPr>
          <p:cNvPr id="37892" name="Picture 4" descr="BELDEN URM67.0050 Coaxial Cable, URM67, 6.8 mm², 50 ohm, 164 ft, 50 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84834" y="2209799"/>
            <a:ext cx="4197566" cy="2800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4595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KABLOSUZ BAĞLANTILAR</a:t>
            </a:r>
          </a:p>
        </p:txBody>
      </p:sp>
      <p:graphicFrame>
        <p:nvGraphicFramePr>
          <p:cNvPr id="7" name="Tablo 6"/>
          <p:cNvGraphicFramePr>
            <a:graphicFrameLocks noGrp="1"/>
          </p:cNvGraphicFramePr>
          <p:nvPr/>
        </p:nvGraphicFramePr>
        <p:xfrm>
          <a:off x="2041922" y="2249487"/>
          <a:ext cx="8108155" cy="4324352"/>
        </p:xfrm>
        <a:graphic>
          <a:graphicData uri="http://schemas.openxmlformats.org/drawingml/2006/table">
            <a:tbl>
              <a:tblPr/>
              <a:tblGrid>
                <a:gridCol w="1621631">
                  <a:extLst>
                    <a:ext uri="{9D8B030D-6E8A-4147-A177-3AD203B41FA5}">
                      <a16:colId xmlns:a16="http://schemas.microsoft.com/office/drawing/2014/main" val="2993507801"/>
                    </a:ext>
                  </a:extLst>
                </a:gridCol>
                <a:gridCol w="1621631">
                  <a:extLst>
                    <a:ext uri="{9D8B030D-6E8A-4147-A177-3AD203B41FA5}">
                      <a16:colId xmlns:a16="http://schemas.microsoft.com/office/drawing/2014/main" val="3371501798"/>
                    </a:ext>
                  </a:extLst>
                </a:gridCol>
                <a:gridCol w="1621631">
                  <a:extLst>
                    <a:ext uri="{9D8B030D-6E8A-4147-A177-3AD203B41FA5}">
                      <a16:colId xmlns:a16="http://schemas.microsoft.com/office/drawing/2014/main" val="2392490629"/>
                    </a:ext>
                  </a:extLst>
                </a:gridCol>
                <a:gridCol w="1621631">
                  <a:extLst>
                    <a:ext uri="{9D8B030D-6E8A-4147-A177-3AD203B41FA5}">
                      <a16:colId xmlns:a16="http://schemas.microsoft.com/office/drawing/2014/main" val="3505775246"/>
                    </a:ext>
                  </a:extLst>
                </a:gridCol>
                <a:gridCol w="1621631">
                  <a:extLst>
                    <a:ext uri="{9D8B030D-6E8A-4147-A177-3AD203B41FA5}">
                      <a16:colId xmlns:a16="http://schemas.microsoft.com/office/drawing/2014/main" val="4142456054"/>
                    </a:ext>
                  </a:extLst>
                </a:gridCol>
              </a:tblGrid>
              <a:tr h="270272">
                <a:tc>
                  <a:txBody>
                    <a:bodyPr/>
                    <a:lstStyle/>
                    <a:p>
                      <a:pPr algn="l"/>
                      <a:r>
                        <a:rPr lang="tr-TR" sz="1300" b="0">
                          <a:effectLst/>
                        </a:rPr>
                        <a:t>Wi-Fi Standartı</a:t>
                      </a:r>
                    </a:p>
                  </a:txBody>
                  <a:tcPr marL="67568" marR="67568" marT="33784" marB="33784" anchor="ctr">
                    <a:lnL>
                      <a:noFill/>
                    </a:lnL>
                    <a:lnR>
                      <a:noFill/>
                    </a:lnR>
                    <a:lnT>
                      <a:noFill/>
                    </a:lnT>
                    <a:lnB>
                      <a:noFill/>
                    </a:lnB>
                    <a:solidFill>
                      <a:srgbClr val="F7F7F7"/>
                    </a:solidFill>
                  </a:tcPr>
                </a:tc>
                <a:tc>
                  <a:txBody>
                    <a:bodyPr/>
                    <a:lstStyle/>
                    <a:p>
                      <a:pPr algn="l"/>
                      <a:r>
                        <a:rPr lang="tr-TR" sz="1300" b="0">
                          <a:effectLst/>
                        </a:rPr>
                        <a:t>IEEE 802.11 Eşdeğeri</a:t>
                      </a:r>
                    </a:p>
                  </a:txBody>
                  <a:tcPr marL="67568" marR="67568" marT="33784" marB="33784" anchor="ctr">
                    <a:lnL>
                      <a:noFill/>
                    </a:lnL>
                    <a:lnR>
                      <a:noFill/>
                    </a:lnR>
                    <a:lnT>
                      <a:noFill/>
                    </a:lnT>
                    <a:lnB>
                      <a:noFill/>
                    </a:lnB>
                    <a:solidFill>
                      <a:srgbClr val="F7F7F7"/>
                    </a:solidFill>
                  </a:tcPr>
                </a:tc>
                <a:tc>
                  <a:txBody>
                    <a:bodyPr/>
                    <a:lstStyle/>
                    <a:p>
                      <a:pPr algn="l"/>
                      <a:r>
                        <a:rPr lang="tr-TR" sz="1300" b="0">
                          <a:effectLst/>
                        </a:rPr>
                        <a:t>Hız</a:t>
                      </a:r>
                    </a:p>
                  </a:txBody>
                  <a:tcPr marL="67568" marR="67568" marT="33784" marB="33784" anchor="ctr">
                    <a:lnL>
                      <a:noFill/>
                    </a:lnL>
                    <a:lnR>
                      <a:noFill/>
                    </a:lnR>
                    <a:lnT>
                      <a:noFill/>
                    </a:lnT>
                    <a:lnB>
                      <a:noFill/>
                    </a:lnB>
                    <a:solidFill>
                      <a:srgbClr val="F7F7F7"/>
                    </a:solidFill>
                  </a:tcPr>
                </a:tc>
                <a:tc>
                  <a:txBody>
                    <a:bodyPr/>
                    <a:lstStyle/>
                    <a:p>
                      <a:pPr algn="l"/>
                      <a:r>
                        <a:rPr lang="tr-TR" sz="1300" b="0">
                          <a:effectLst/>
                        </a:rPr>
                        <a:t>Maksimum Mesafe</a:t>
                      </a:r>
                    </a:p>
                  </a:txBody>
                  <a:tcPr marL="67568" marR="67568" marT="33784" marB="33784" anchor="ctr">
                    <a:lnL>
                      <a:noFill/>
                    </a:lnL>
                    <a:lnR>
                      <a:noFill/>
                    </a:lnR>
                    <a:lnT>
                      <a:noFill/>
                    </a:lnT>
                    <a:lnB>
                      <a:noFill/>
                    </a:lnB>
                    <a:solidFill>
                      <a:srgbClr val="F7F7F7"/>
                    </a:solidFill>
                  </a:tcPr>
                </a:tc>
                <a:tc>
                  <a:txBody>
                    <a:bodyPr/>
                    <a:lstStyle/>
                    <a:p>
                      <a:pPr algn="l"/>
                      <a:r>
                        <a:rPr lang="tr-TR" sz="1300" b="0">
                          <a:effectLst/>
                        </a:rPr>
                        <a:t>Kullanım Alanları</a:t>
                      </a:r>
                    </a:p>
                  </a:txBody>
                  <a:tcPr marL="67568" marR="67568" marT="33784" marB="33784" anchor="ctr">
                    <a:lnL>
                      <a:noFill/>
                    </a:lnL>
                    <a:lnR>
                      <a:noFill/>
                    </a:lnR>
                    <a:lnT>
                      <a:noFill/>
                    </a:lnT>
                    <a:lnB>
                      <a:noFill/>
                    </a:lnB>
                    <a:solidFill>
                      <a:srgbClr val="F7F7F7"/>
                    </a:solidFill>
                  </a:tcPr>
                </a:tc>
                <a:extLst>
                  <a:ext uri="{0D108BD9-81ED-4DB2-BD59-A6C34878D82A}">
                    <a16:rowId xmlns:a16="http://schemas.microsoft.com/office/drawing/2014/main" val="780497520"/>
                  </a:ext>
                </a:extLst>
              </a:tr>
              <a:tr h="675680">
                <a:tc>
                  <a:txBody>
                    <a:bodyPr/>
                    <a:lstStyle/>
                    <a:p>
                      <a:r>
                        <a:rPr lang="tr-TR" sz="1300">
                          <a:effectLst/>
                        </a:rPr>
                        <a:t>Wi-Fi 1</a:t>
                      </a:r>
                    </a:p>
                  </a:txBody>
                  <a:tcPr marL="67568" marR="67568" marT="33784" marB="33784" anchor="ctr">
                    <a:lnL>
                      <a:noFill/>
                    </a:lnL>
                    <a:lnR>
                      <a:noFill/>
                    </a:lnR>
                    <a:lnT>
                      <a:noFill/>
                    </a:lnT>
                    <a:lnB>
                      <a:noFill/>
                    </a:lnB>
                    <a:solidFill>
                      <a:srgbClr val="F7F7F7"/>
                    </a:solidFill>
                  </a:tcPr>
                </a:tc>
                <a:tc>
                  <a:txBody>
                    <a:bodyPr/>
                    <a:lstStyle/>
                    <a:p>
                      <a:r>
                        <a:rPr lang="tr-TR" sz="1300">
                          <a:effectLst/>
                        </a:rPr>
                        <a:t>802.11b</a:t>
                      </a:r>
                    </a:p>
                  </a:txBody>
                  <a:tcPr marL="67568" marR="67568" marT="33784" marB="33784" anchor="ctr">
                    <a:lnL>
                      <a:noFill/>
                    </a:lnL>
                    <a:lnR>
                      <a:noFill/>
                    </a:lnR>
                    <a:lnT>
                      <a:noFill/>
                    </a:lnT>
                    <a:lnB>
                      <a:noFill/>
                    </a:lnB>
                    <a:solidFill>
                      <a:srgbClr val="F7F7F7"/>
                    </a:solidFill>
                  </a:tcPr>
                </a:tc>
                <a:tc>
                  <a:txBody>
                    <a:bodyPr/>
                    <a:lstStyle/>
                    <a:p>
                      <a:r>
                        <a:rPr lang="tr-TR" sz="1300">
                          <a:effectLst/>
                        </a:rPr>
                        <a:t>11 Mbps</a:t>
                      </a:r>
                    </a:p>
                  </a:txBody>
                  <a:tcPr marL="67568" marR="67568" marT="33784" marB="33784" anchor="ctr">
                    <a:lnL>
                      <a:noFill/>
                    </a:lnL>
                    <a:lnR>
                      <a:noFill/>
                    </a:lnR>
                    <a:lnT>
                      <a:noFill/>
                    </a:lnT>
                    <a:lnB>
                      <a:noFill/>
                    </a:lnB>
                    <a:solidFill>
                      <a:srgbClr val="F7F7F7"/>
                    </a:solidFill>
                  </a:tcPr>
                </a:tc>
                <a:tc>
                  <a:txBody>
                    <a:bodyPr/>
                    <a:lstStyle/>
                    <a:p>
                      <a:r>
                        <a:rPr lang="tr-TR" sz="1300">
                          <a:effectLst/>
                        </a:rPr>
                        <a:t>100 metre (iç mekan), 300 metre (dış mekan)</a:t>
                      </a:r>
                    </a:p>
                  </a:txBody>
                  <a:tcPr marL="67568" marR="67568" marT="33784" marB="33784" anchor="ctr">
                    <a:lnL>
                      <a:noFill/>
                    </a:lnL>
                    <a:lnR>
                      <a:noFill/>
                    </a:lnR>
                    <a:lnT>
                      <a:noFill/>
                    </a:lnT>
                    <a:lnB>
                      <a:noFill/>
                    </a:lnB>
                    <a:solidFill>
                      <a:srgbClr val="F7F7F7"/>
                    </a:solidFill>
                  </a:tcPr>
                </a:tc>
                <a:tc>
                  <a:txBody>
                    <a:bodyPr/>
                    <a:lstStyle/>
                    <a:p>
                      <a:r>
                        <a:rPr lang="tr-TR" sz="1300">
                          <a:effectLst/>
                        </a:rPr>
                        <a:t>Eski Wi-Fi ağları</a:t>
                      </a:r>
                    </a:p>
                  </a:txBody>
                  <a:tcPr marL="67568" marR="67568" marT="33784" marB="33784" anchor="ctr">
                    <a:lnL>
                      <a:noFill/>
                    </a:lnL>
                    <a:lnR>
                      <a:noFill/>
                    </a:lnR>
                    <a:lnT>
                      <a:noFill/>
                    </a:lnT>
                    <a:lnB>
                      <a:noFill/>
                    </a:lnB>
                    <a:solidFill>
                      <a:srgbClr val="F7F7F7"/>
                    </a:solidFill>
                  </a:tcPr>
                </a:tc>
                <a:extLst>
                  <a:ext uri="{0D108BD9-81ED-4DB2-BD59-A6C34878D82A}">
                    <a16:rowId xmlns:a16="http://schemas.microsoft.com/office/drawing/2014/main" val="3509995700"/>
                  </a:ext>
                </a:extLst>
              </a:tr>
              <a:tr h="675680">
                <a:tc>
                  <a:txBody>
                    <a:bodyPr/>
                    <a:lstStyle/>
                    <a:p>
                      <a:r>
                        <a:rPr lang="tr-TR" sz="1300">
                          <a:effectLst/>
                        </a:rPr>
                        <a:t>Wi-Fi 2</a:t>
                      </a:r>
                    </a:p>
                  </a:txBody>
                  <a:tcPr marL="67568" marR="67568" marT="33784" marB="33784" anchor="ctr">
                    <a:lnL>
                      <a:noFill/>
                    </a:lnL>
                    <a:lnR>
                      <a:noFill/>
                    </a:lnR>
                    <a:lnT>
                      <a:noFill/>
                    </a:lnT>
                    <a:lnB>
                      <a:noFill/>
                    </a:lnB>
                    <a:solidFill>
                      <a:srgbClr val="F7F7F7"/>
                    </a:solidFill>
                  </a:tcPr>
                </a:tc>
                <a:tc>
                  <a:txBody>
                    <a:bodyPr/>
                    <a:lstStyle/>
                    <a:p>
                      <a:r>
                        <a:rPr lang="tr-TR" sz="1300">
                          <a:effectLst/>
                        </a:rPr>
                        <a:t>802.11a</a:t>
                      </a:r>
                    </a:p>
                  </a:txBody>
                  <a:tcPr marL="67568" marR="67568" marT="33784" marB="33784" anchor="ctr">
                    <a:lnL>
                      <a:noFill/>
                    </a:lnL>
                    <a:lnR>
                      <a:noFill/>
                    </a:lnR>
                    <a:lnT>
                      <a:noFill/>
                    </a:lnT>
                    <a:lnB>
                      <a:noFill/>
                    </a:lnB>
                    <a:solidFill>
                      <a:srgbClr val="F7F7F7"/>
                    </a:solidFill>
                  </a:tcPr>
                </a:tc>
                <a:tc>
                  <a:txBody>
                    <a:bodyPr/>
                    <a:lstStyle/>
                    <a:p>
                      <a:r>
                        <a:rPr lang="tr-TR" sz="1300">
                          <a:effectLst/>
                        </a:rPr>
                        <a:t>54 Mbps</a:t>
                      </a:r>
                    </a:p>
                  </a:txBody>
                  <a:tcPr marL="67568" marR="67568" marT="33784" marB="33784" anchor="ctr">
                    <a:lnL>
                      <a:noFill/>
                    </a:lnL>
                    <a:lnR>
                      <a:noFill/>
                    </a:lnR>
                    <a:lnT>
                      <a:noFill/>
                    </a:lnT>
                    <a:lnB>
                      <a:noFill/>
                    </a:lnB>
                    <a:solidFill>
                      <a:srgbClr val="F7F7F7"/>
                    </a:solidFill>
                  </a:tcPr>
                </a:tc>
                <a:tc>
                  <a:txBody>
                    <a:bodyPr/>
                    <a:lstStyle/>
                    <a:p>
                      <a:r>
                        <a:rPr lang="tr-TR" sz="1300">
                          <a:effectLst/>
                        </a:rPr>
                        <a:t>100 metre (iç mekan), 300 metre (dış mekan)</a:t>
                      </a:r>
                    </a:p>
                  </a:txBody>
                  <a:tcPr marL="67568" marR="67568" marT="33784" marB="33784" anchor="ctr">
                    <a:lnL>
                      <a:noFill/>
                    </a:lnL>
                    <a:lnR>
                      <a:noFill/>
                    </a:lnR>
                    <a:lnT>
                      <a:noFill/>
                    </a:lnT>
                    <a:lnB>
                      <a:noFill/>
                    </a:lnB>
                    <a:solidFill>
                      <a:srgbClr val="F7F7F7"/>
                    </a:solidFill>
                  </a:tcPr>
                </a:tc>
                <a:tc>
                  <a:txBody>
                    <a:bodyPr/>
                    <a:lstStyle/>
                    <a:p>
                      <a:r>
                        <a:rPr lang="tr-TR" sz="1300">
                          <a:effectLst/>
                        </a:rPr>
                        <a:t>Eski Wi-Fi ağları</a:t>
                      </a:r>
                    </a:p>
                  </a:txBody>
                  <a:tcPr marL="67568" marR="67568" marT="33784" marB="33784" anchor="ctr">
                    <a:lnL>
                      <a:noFill/>
                    </a:lnL>
                    <a:lnR>
                      <a:noFill/>
                    </a:lnR>
                    <a:lnT>
                      <a:noFill/>
                    </a:lnT>
                    <a:lnB>
                      <a:noFill/>
                    </a:lnB>
                    <a:solidFill>
                      <a:srgbClr val="F7F7F7"/>
                    </a:solidFill>
                  </a:tcPr>
                </a:tc>
                <a:extLst>
                  <a:ext uri="{0D108BD9-81ED-4DB2-BD59-A6C34878D82A}">
                    <a16:rowId xmlns:a16="http://schemas.microsoft.com/office/drawing/2014/main" val="2321399544"/>
                  </a:ext>
                </a:extLst>
              </a:tr>
              <a:tr h="675680">
                <a:tc>
                  <a:txBody>
                    <a:bodyPr/>
                    <a:lstStyle/>
                    <a:p>
                      <a:r>
                        <a:rPr lang="tr-TR" sz="1300">
                          <a:effectLst/>
                        </a:rPr>
                        <a:t>Wi-Fi 3</a:t>
                      </a:r>
                    </a:p>
                  </a:txBody>
                  <a:tcPr marL="67568" marR="67568" marT="33784" marB="33784" anchor="ctr">
                    <a:lnL>
                      <a:noFill/>
                    </a:lnL>
                    <a:lnR>
                      <a:noFill/>
                    </a:lnR>
                    <a:lnT>
                      <a:noFill/>
                    </a:lnT>
                    <a:lnB>
                      <a:noFill/>
                    </a:lnB>
                    <a:solidFill>
                      <a:srgbClr val="F7F7F7"/>
                    </a:solidFill>
                  </a:tcPr>
                </a:tc>
                <a:tc>
                  <a:txBody>
                    <a:bodyPr/>
                    <a:lstStyle/>
                    <a:p>
                      <a:r>
                        <a:rPr lang="tr-TR" sz="1300">
                          <a:effectLst/>
                        </a:rPr>
                        <a:t>802.11g</a:t>
                      </a:r>
                    </a:p>
                  </a:txBody>
                  <a:tcPr marL="67568" marR="67568" marT="33784" marB="33784" anchor="ctr">
                    <a:lnL>
                      <a:noFill/>
                    </a:lnL>
                    <a:lnR>
                      <a:noFill/>
                    </a:lnR>
                    <a:lnT>
                      <a:noFill/>
                    </a:lnT>
                    <a:lnB>
                      <a:noFill/>
                    </a:lnB>
                    <a:solidFill>
                      <a:srgbClr val="F7F7F7"/>
                    </a:solidFill>
                  </a:tcPr>
                </a:tc>
                <a:tc>
                  <a:txBody>
                    <a:bodyPr/>
                    <a:lstStyle/>
                    <a:p>
                      <a:r>
                        <a:rPr lang="tr-TR" sz="1300">
                          <a:effectLst/>
                        </a:rPr>
                        <a:t>54 Mbps</a:t>
                      </a:r>
                    </a:p>
                  </a:txBody>
                  <a:tcPr marL="67568" marR="67568" marT="33784" marB="33784" anchor="ctr">
                    <a:lnL>
                      <a:noFill/>
                    </a:lnL>
                    <a:lnR>
                      <a:noFill/>
                    </a:lnR>
                    <a:lnT>
                      <a:noFill/>
                    </a:lnT>
                    <a:lnB>
                      <a:noFill/>
                    </a:lnB>
                    <a:solidFill>
                      <a:srgbClr val="F7F7F7"/>
                    </a:solidFill>
                  </a:tcPr>
                </a:tc>
                <a:tc>
                  <a:txBody>
                    <a:bodyPr/>
                    <a:lstStyle/>
                    <a:p>
                      <a:r>
                        <a:rPr lang="tr-TR" sz="1300" dirty="0">
                          <a:effectLst/>
                        </a:rPr>
                        <a:t>100 metre (iç mekan), 300 metre (dış mekan)</a:t>
                      </a:r>
                    </a:p>
                  </a:txBody>
                  <a:tcPr marL="67568" marR="67568" marT="33784" marB="33784" anchor="ctr">
                    <a:lnL>
                      <a:noFill/>
                    </a:lnL>
                    <a:lnR>
                      <a:noFill/>
                    </a:lnR>
                    <a:lnT>
                      <a:noFill/>
                    </a:lnT>
                    <a:lnB>
                      <a:noFill/>
                    </a:lnB>
                    <a:solidFill>
                      <a:srgbClr val="F7F7F7"/>
                    </a:solidFill>
                  </a:tcPr>
                </a:tc>
                <a:tc>
                  <a:txBody>
                    <a:bodyPr/>
                    <a:lstStyle/>
                    <a:p>
                      <a:r>
                        <a:rPr lang="tr-TR" sz="1300">
                          <a:effectLst/>
                        </a:rPr>
                        <a:t>Eski Wi-Fi ağları</a:t>
                      </a:r>
                    </a:p>
                  </a:txBody>
                  <a:tcPr marL="67568" marR="67568" marT="33784" marB="33784" anchor="ctr">
                    <a:lnL>
                      <a:noFill/>
                    </a:lnL>
                    <a:lnR>
                      <a:noFill/>
                    </a:lnR>
                    <a:lnT>
                      <a:noFill/>
                    </a:lnT>
                    <a:lnB>
                      <a:noFill/>
                    </a:lnB>
                    <a:solidFill>
                      <a:srgbClr val="F7F7F7"/>
                    </a:solidFill>
                  </a:tcPr>
                </a:tc>
                <a:extLst>
                  <a:ext uri="{0D108BD9-81ED-4DB2-BD59-A6C34878D82A}">
                    <a16:rowId xmlns:a16="http://schemas.microsoft.com/office/drawing/2014/main" val="186697670"/>
                  </a:ext>
                </a:extLst>
              </a:tr>
              <a:tr h="675680">
                <a:tc>
                  <a:txBody>
                    <a:bodyPr/>
                    <a:lstStyle/>
                    <a:p>
                      <a:r>
                        <a:rPr lang="tr-TR" sz="1300">
                          <a:effectLst/>
                        </a:rPr>
                        <a:t>Wi-Fi 4</a:t>
                      </a:r>
                    </a:p>
                  </a:txBody>
                  <a:tcPr marL="67568" marR="67568" marT="33784" marB="33784" anchor="ctr">
                    <a:lnL>
                      <a:noFill/>
                    </a:lnL>
                    <a:lnR>
                      <a:noFill/>
                    </a:lnR>
                    <a:lnT>
                      <a:noFill/>
                    </a:lnT>
                    <a:lnB>
                      <a:noFill/>
                    </a:lnB>
                    <a:solidFill>
                      <a:srgbClr val="F7F7F7"/>
                    </a:solidFill>
                  </a:tcPr>
                </a:tc>
                <a:tc>
                  <a:txBody>
                    <a:bodyPr/>
                    <a:lstStyle/>
                    <a:p>
                      <a:r>
                        <a:rPr lang="tr-TR" sz="1300">
                          <a:effectLst/>
                        </a:rPr>
                        <a:t>802.11n</a:t>
                      </a:r>
                    </a:p>
                  </a:txBody>
                  <a:tcPr marL="67568" marR="67568" marT="33784" marB="33784" anchor="ctr">
                    <a:lnL>
                      <a:noFill/>
                    </a:lnL>
                    <a:lnR>
                      <a:noFill/>
                    </a:lnR>
                    <a:lnT>
                      <a:noFill/>
                    </a:lnT>
                    <a:lnB>
                      <a:noFill/>
                    </a:lnB>
                    <a:solidFill>
                      <a:srgbClr val="F7F7F7"/>
                    </a:solidFill>
                  </a:tcPr>
                </a:tc>
                <a:tc>
                  <a:txBody>
                    <a:bodyPr/>
                    <a:lstStyle/>
                    <a:p>
                      <a:r>
                        <a:rPr lang="tr-TR" sz="1300">
                          <a:effectLst/>
                        </a:rPr>
                        <a:t>150 Mbps - 600 Mbps</a:t>
                      </a:r>
                    </a:p>
                  </a:txBody>
                  <a:tcPr marL="67568" marR="67568" marT="33784" marB="33784" anchor="ctr">
                    <a:lnL>
                      <a:noFill/>
                    </a:lnL>
                    <a:lnR>
                      <a:noFill/>
                    </a:lnR>
                    <a:lnT>
                      <a:noFill/>
                    </a:lnT>
                    <a:lnB>
                      <a:noFill/>
                    </a:lnB>
                    <a:solidFill>
                      <a:srgbClr val="F7F7F7"/>
                    </a:solidFill>
                  </a:tcPr>
                </a:tc>
                <a:tc>
                  <a:txBody>
                    <a:bodyPr/>
                    <a:lstStyle/>
                    <a:p>
                      <a:r>
                        <a:rPr lang="tr-TR" sz="1300">
                          <a:effectLst/>
                        </a:rPr>
                        <a:t>100 metre (iç mekan), 300 metre (dış mekan)</a:t>
                      </a:r>
                    </a:p>
                  </a:txBody>
                  <a:tcPr marL="67568" marR="67568" marT="33784" marB="33784" anchor="ctr">
                    <a:lnL>
                      <a:noFill/>
                    </a:lnL>
                    <a:lnR>
                      <a:noFill/>
                    </a:lnR>
                    <a:lnT>
                      <a:noFill/>
                    </a:lnT>
                    <a:lnB>
                      <a:noFill/>
                    </a:lnB>
                    <a:solidFill>
                      <a:srgbClr val="F7F7F7"/>
                    </a:solidFill>
                  </a:tcPr>
                </a:tc>
                <a:tc>
                  <a:txBody>
                    <a:bodyPr/>
                    <a:lstStyle/>
                    <a:p>
                      <a:r>
                        <a:rPr lang="tr-TR" sz="1300">
                          <a:effectLst/>
                        </a:rPr>
                        <a:t>Modern Wi-Fi ağları</a:t>
                      </a:r>
                    </a:p>
                  </a:txBody>
                  <a:tcPr marL="67568" marR="67568" marT="33784" marB="33784" anchor="ctr">
                    <a:lnL>
                      <a:noFill/>
                    </a:lnL>
                    <a:lnR>
                      <a:noFill/>
                    </a:lnR>
                    <a:lnT>
                      <a:noFill/>
                    </a:lnT>
                    <a:lnB>
                      <a:noFill/>
                    </a:lnB>
                    <a:solidFill>
                      <a:srgbClr val="F7F7F7"/>
                    </a:solidFill>
                  </a:tcPr>
                </a:tc>
                <a:extLst>
                  <a:ext uri="{0D108BD9-81ED-4DB2-BD59-A6C34878D82A}">
                    <a16:rowId xmlns:a16="http://schemas.microsoft.com/office/drawing/2014/main" val="291919678"/>
                  </a:ext>
                </a:extLst>
              </a:tr>
              <a:tr h="675680">
                <a:tc>
                  <a:txBody>
                    <a:bodyPr/>
                    <a:lstStyle/>
                    <a:p>
                      <a:r>
                        <a:rPr lang="tr-TR" sz="1300">
                          <a:effectLst/>
                        </a:rPr>
                        <a:t>Wi-Fi 5</a:t>
                      </a:r>
                    </a:p>
                  </a:txBody>
                  <a:tcPr marL="67568" marR="67568" marT="33784" marB="33784" anchor="ctr">
                    <a:lnL>
                      <a:noFill/>
                    </a:lnL>
                    <a:lnR>
                      <a:noFill/>
                    </a:lnR>
                    <a:lnT>
                      <a:noFill/>
                    </a:lnT>
                    <a:lnB>
                      <a:noFill/>
                    </a:lnB>
                    <a:solidFill>
                      <a:srgbClr val="F7F7F7"/>
                    </a:solidFill>
                  </a:tcPr>
                </a:tc>
                <a:tc>
                  <a:txBody>
                    <a:bodyPr/>
                    <a:lstStyle/>
                    <a:p>
                      <a:r>
                        <a:rPr lang="tr-TR" sz="1300">
                          <a:effectLst/>
                        </a:rPr>
                        <a:t>802.11ac</a:t>
                      </a:r>
                    </a:p>
                  </a:txBody>
                  <a:tcPr marL="67568" marR="67568" marT="33784" marB="33784" anchor="ctr">
                    <a:lnL>
                      <a:noFill/>
                    </a:lnL>
                    <a:lnR>
                      <a:noFill/>
                    </a:lnR>
                    <a:lnT>
                      <a:noFill/>
                    </a:lnT>
                    <a:lnB>
                      <a:noFill/>
                    </a:lnB>
                    <a:solidFill>
                      <a:srgbClr val="F7F7F7"/>
                    </a:solidFill>
                  </a:tcPr>
                </a:tc>
                <a:tc>
                  <a:txBody>
                    <a:bodyPr/>
                    <a:lstStyle/>
                    <a:p>
                      <a:r>
                        <a:rPr lang="tr-TR" sz="1300">
                          <a:effectLst/>
                        </a:rPr>
                        <a:t>433 Mbps - 1.73 Gbps</a:t>
                      </a:r>
                    </a:p>
                  </a:txBody>
                  <a:tcPr marL="67568" marR="67568" marT="33784" marB="33784" anchor="ctr">
                    <a:lnL>
                      <a:noFill/>
                    </a:lnL>
                    <a:lnR>
                      <a:noFill/>
                    </a:lnR>
                    <a:lnT>
                      <a:noFill/>
                    </a:lnT>
                    <a:lnB>
                      <a:noFill/>
                    </a:lnB>
                    <a:solidFill>
                      <a:srgbClr val="F7F7F7"/>
                    </a:solidFill>
                  </a:tcPr>
                </a:tc>
                <a:tc>
                  <a:txBody>
                    <a:bodyPr/>
                    <a:lstStyle/>
                    <a:p>
                      <a:r>
                        <a:rPr lang="tr-TR" sz="1300">
                          <a:effectLst/>
                        </a:rPr>
                        <a:t>100 metre (iç mekan), 300 metre (dış mekan)</a:t>
                      </a:r>
                    </a:p>
                  </a:txBody>
                  <a:tcPr marL="67568" marR="67568" marT="33784" marB="33784" anchor="ctr">
                    <a:lnL>
                      <a:noFill/>
                    </a:lnL>
                    <a:lnR>
                      <a:noFill/>
                    </a:lnR>
                    <a:lnT>
                      <a:noFill/>
                    </a:lnT>
                    <a:lnB>
                      <a:noFill/>
                    </a:lnB>
                    <a:solidFill>
                      <a:srgbClr val="F7F7F7"/>
                    </a:solidFill>
                  </a:tcPr>
                </a:tc>
                <a:tc>
                  <a:txBody>
                    <a:bodyPr/>
                    <a:lstStyle/>
                    <a:p>
                      <a:r>
                        <a:rPr lang="tr-TR" sz="1300">
                          <a:effectLst/>
                        </a:rPr>
                        <a:t>Modern Wi-Fi ağları</a:t>
                      </a:r>
                    </a:p>
                  </a:txBody>
                  <a:tcPr marL="67568" marR="67568" marT="33784" marB="33784" anchor="ctr">
                    <a:lnL>
                      <a:noFill/>
                    </a:lnL>
                    <a:lnR>
                      <a:noFill/>
                    </a:lnR>
                    <a:lnT>
                      <a:noFill/>
                    </a:lnT>
                    <a:lnB>
                      <a:noFill/>
                    </a:lnB>
                    <a:solidFill>
                      <a:srgbClr val="F7F7F7"/>
                    </a:solidFill>
                  </a:tcPr>
                </a:tc>
                <a:extLst>
                  <a:ext uri="{0D108BD9-81ED-4DB2-BD59-A6C34878D82A}">
                    <a16:rowId xmlns:a16="http://schemas.microsoft.com/office/drawing/2014/main" val="1996686830"/>
                  </a:ext>
                </a:extLst>
              </a:tr>
              <a:tr h="675680">
                <a:tc>
                  <a:txBody>
                    <a:bodyPr/>
                    <a:lstStyle/>
                    <a:p>
                      <a:r>
                        <a:rPr lang="tr-TR" sz="1300">
                          <a:effectLst/>
                        </a:rPr>
                        <a:t>Wi-Fi 6</a:t>
                      </a:r>
                    </a:p>
                  </a:txBody>
                  <a:tcPr marL="67568" marR="67568" marT="33784" marB="33784" anchor="ctr">
                    <a:lnL>
                      <a:noFill/>
                    </a:lnL>
                    <a:lnR>
                      <a:noFill/>
                    </a:lnR>
                    <a:lnT>
                      <a:noFill/>
                    </a:lnT>
                    <a:lnB>
                      <a:noFill/>
                    </a:lnB>
                    <a:solidFill>
                      <a:srgbClr val="F7F7F7"/>
                    </a:solidFill>
                  </a:tcPr>
                </a:tc>
                <a:tc>
                  <a:txBody>
                    <a:bodyPr/>
                    <a:lstStyle/>
                    <a:p>
                      <a:r>
                        <a:rPr lang="tr-TR" sz="1300">
                          <a:effectLst/>
                        </a:rPr>
                        <a:t>802.11ax</a:t>
                      </a:r>
                    </a:p>
                  </a:txBody>
                  <a:tcPr marL="67568" marR="67568" marT="33784" marB="33784" anchor="ctr">
                    <a:lnL>
                      <a:noFill/>
                    </a:lnL>
                    <a:lnR>
                      <a:noFill/>
                    </a:lnR>
                    <a:lnT>
                      <a:noFill/>
                    </a:lnT>
                    <a:lnB>
                      <a:noFill/>
                    </a:lnB>
                    <a:solidFill>
                      <a:srgbClr val="F7F7F7"/>
                    </a:solidFill>
                  </a:tcPr>
                </a:tc>
                <a:tc>
                  <a:txBody>
                    <a:bodyPr/>
                    <a:lstStyle/>
                    <a:p>
                      <a:r>
                        <a:rPr lang="tr-TR" sz="1300">
                          <a:effectLst/>
                        </a:rPr>
                        <a:t>1.2 Gbps - 9.6 Gbps</a:t>
                      </a:r>
                    </a:p>
                  </a:txBody>
                  <a:tcPr marL="67568" marR="67568" marT="33784" marB="33784" anchor="ctr">
                    <a:lnL>
                      <a:noFill/>
                    </a:lnL>
                    <a:lnR>
                      <a:noFill/>
                    </a:lnR>
                    <a:lnT>
                      <a:noFill/>
                    </a:lnT>
                    <a:lnB>
                      <a:noFill/>
                    </a:lnB>
                    <a:solidFill>
                      <a:srgbClr val="F7F7F7"/>
                    </a:solidFill>
                  </a:tcPr>
                </a:tc>
                <a:tc>
                  <a:txBody>
                    <a:bodyPr/>
                    <a:lstStyle/>
                    <a:p>
                      <a:r>
                        <a:rPr lang="tr-TR" sz="1300">
                          <a:effectLst/>
                        </a:rPr>
                        <a:t>100 metre (iç mekan), 300 metre (dış mekan)</a:t>
                      </a:r>
                    </a:p>
                  </a:txBody>
                  <a:tcPr marL="67568" marR="67568" marT="33784" marB="33784" anchor="ctr">
                    <a:lnL>
                      <a:noFill/>
                    </a:lnL>
                    <a:lnR>
                      <a:noFill/>
                    </a:lnR>
                    <a:lnT>
                      <a:noFill/>
                    </a:lnT>
                    <a:lnB>
                      <a:noFill/>
                    </a:lnB>
                    <a:solidFill>
                      <a:srgbClr val="F7F7F7"/>
                    </a:solidFill>
                  </a:tcPr>
                </a:tc>
                <a:tc>
                  <a:txBody>
                    <a:bodyPr/>
                    <a:lstStyle/>
                    <a:p>
                      <a:r>
                        <a:rPr lang="tr-TR" sz="1300" dirty="0">
                          <a:effectLst/>
                        </a:rPr>
                        <a:t>Modern </a:t>
                      </a:r>
                      <a:r>
                        <a:rPr lang="tr-TR" sz="1300" dirty="0" err="1">
                          <a:effectLst/>
                        </a:rPr>
                        <a:t>Wi</a:t>
                      </a:r>
                      <a:r>
                        <a:rPr lang="tr-TR" sz="1300" dirty="0">
                          <a:effectLst/>
                        </a:rPr>
                        <a:t>-Fi ağları</a:t>
                      </a:r>
                    </a:p>
                  </a:txBody>
                  <a:tcPr marL="67568" marR="67568" marT="33784" marB="33784" anchor="ctr">
                    <a:lnL>
                      <a:noFill/>
                    </a:lnL>
                    <a:lnR>
                      <a:noFill/>
                    </a:lnR>
                    <a:lnT>
                      <a:noFill/>
                    </a:lnT>
                    <a:lnB>
                      <a:noFill/>
                    </a:lnB>
                    <a:solidFill>
                      <a:srgbClr val="F7F7F7"/>
                    </a:solidFill>
                  </a:tcPr>
                </a:tc>
                <a:extLst>
                  <a:ext uri="{0D108BD9-81ED-4DB2-BD59-A6C34878D82A}">
                    <a16:rowId xmlns:a16="http://schemas.microsoft.com/office/drawing/2014/main" val="407261248"/>
                  </a:ext>
                </a:extLst>
              </a:tr>
            </a:tbl>
          </a:graphicData>
        </a:graphic>
      </p:graphicFrame>
    </p:spTree>
    <p:extLst>
      <p:ext uri="{BB962C8B-B14F-4D97-AF65-F5344CB8AC3E}">
        <p14:creationId xmlns:p14="http://schemas.microsoft.com/office/powerpoint/2010/main" val="1606597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pPr rtl="0"/>
            <a:r>
              <a:rPr lang="tr-TR" dirty="0"/>
              <a:t>KABLO BAĞLANTI RENKLERİ</a:t>
            </a:r>
          </a:p>
        </p:txBody>
      </p:sp>
      <p:sp>
        <p:nvSpPr>
          <p:cNvPr id="3" name="İçerik Yer Tutucusu 2"/>
          <p:cNvSpPr>
            <a:spLocks noGrp="1"/>
          </p:cNvSpPr>
          <p:nvPr>
            <p:ph idx="1"/>
          </p:nvPr>
        </p:nvSpPr>
        <p:spPr/>
        <p:txBody>
          <a:bodyPr rtlCol="0"/>
          <a:lstStyle/>
          <a:p>
            <a:pPr algn="just"/>
            <a:r>
              <a:rPr lang="tr-TR" dirty="0"/>
              <a:t>Ethernet kablolarının bağlanmasında kullanılan RJ45 </a:t>
            </a:r>
            <a:r>
              <a:rPr lang="tr-TR" dirty="0" err="1"/>
              <a:t>konnektörleri</a:t>
            </a:r>
            <a:r>
              <a:rPr lang="tr-TR" dirty="0"/>
              <a:t>, belirli bir renk sıralamasına göre bağlanmalıdır. Bu sıralama, kabloların doğru şekilde bağlanmasını ve ağ iletişiminin sorunsuz olmasını sağlar. İki ana standart sıralama vardır: T568A ve T568B. Bu standartlar, kabloların hangi </a:t>
            </a:r>
            <a:r>
              <a:rPr lang="tr-TR" dirty="0" err="1"/>
              <a:t>pinlere</a:t>
            </a:r>
            <a:r>
              <a:rPr lang="tr-TR" dirty="0"/>
              <a:t> bağlanacağını belirler.</a:t>
            </a:r>
          </a:p>
        </p:txBody>
      </p:sp>
    </p:spTree>
    <p:extLst>
      <p:ext uri="{BB962C8B-B14F-4D97-AF65-F5344CB8AC3E}">
        <p14:creationId xmlns:p14="http://schemas.microsoft.com/office/powerpoint/2010/main" val="82577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r>
              <a:rPr lang="tr-TR" dirty="0"/>
              <a:t>KABLO BAĞLANTI RENKLERİ</a:t>
            </a:r>
          </a:p>
        </p:txBody>
      </p:sp>
      <p:sp>
        <p:nvSpPr>
          <p:cNvPr id="3" name="İçerik Yer Tutucusu 2"/>
          <p:cNvSpPr>
            <a:spLocks noGrp="1"/>
          </p:cNvSpPr>
          <p:nvPr>
            <p:ph idx="1"/>
          </p:nvPr>
        </p:nvSpPr>
        <p:spPr/>
        <p:txBody>
          <a:bodyPr rtlCol="0"/>
          <a:lstStyle/>
          <a:p>
            <a:pPr algn="just"/>
            <a:r>
              <a:rPr lang="tr-TR" dirty="0"/>
              <a:t>T568A SIRALAMASI: Yeşil Beyaz – Yeşil – Turuncu Beyaz – Mavi – Mavi Beyaz – Turuncu – Kahverengi Beyaz – Kahverengi</a:t>
            </a:r>
          </a:p>
          <a:p>
            <a:pPr algn="just"/>
            <a:r>
              <a:rPr lang="tr-TR" dirty="0"/>
              <a:t>T568B SIRALAMASI: Turuncu Beyaz – Turuncu – Yeşil Beyaz – Mavi – Mavi Beyaz – Yeşil – Kahverengi Beyaz – Kahverengi</a:t>
            </a:r>
          </a:p>
          <a:p>
            <a:endParaRPr lang="tr-TR" dirty="0"/>
          </a:p>
          <a:p>
            <a:pPr marL="109728" indent="0">
              <a:buNone/>
            </a:pPr>
            <a:endParaRPr lang="tr-TR" dirty="0"/>
          </a:p>
        </p:txBody>
      </p:sp>
      <p:pic>
        <p:nvPicPr>
          <p:cNvPr id="38916" name="Picture 4" descr="T568A vs T568B: Understanding the Standards - GearI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58445" y="4236981"/>
            <a:ext cx="4675109" cy="23375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2136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r>
              <a:rPr lang="tr-TR" dirty="0"/>
              <a:t>BAĞLANTI TÜRLERİ</a:t>
            </a:r>
          </a:p>
        </p:txBody>
      </p:sp>
      <p:sp>
        <p:nvSpPr>
          <p:cNvPr id="3" name="İçerik Yer Tutucusu 2"/>
          <p:cNvSpPr>
            <a:spLocks noGrp="1"/>
          </p:cNvSpPr>
          <p:nvPr>
            <p:ph idx="1"/>
          </p:nvPr>
        </p:nvSpPr>
        <p:spPr/>
        <p:txBody>
          <a:bodyPr rtlCol="0"/>
          <a:lstStyle/>
          <a:p>
            <a:pPr algn="just"/>
            <a:r>
              <a:rPr lang="tr-TR" dirty="0"/>
              <a:t>Düz Kablo:</a:t>
            </a:r>
          </a:p>
          <a:p>
            <a:pPr algn="just"/>
            <a:r>
              <a:rPr lang="tr-TR" b="1" dirty="0"/>
              <a:t>Açıklama</a:t>
            </a:r>
            <a:r>
              <a:rPr lang="tr-TR" dirty="0"/>
              <a:t>: Aynı standart sıralamasını (T568A veya T568B) her iki uca da uygular.</a:t>
            </a:r>
          </a:p>
          <a:p>
            <a:pPr algn="just"/>
            <a:r>
              <a:rPr lang="tr-TR" b="1" dirty="0"/>
              <a:t>Kullanım Alanları</a:t>
            </a:r>
            <a:r>
              <a:rPr lang="tr-TR" dirty="0"/>
              <a:t>: Bilgisayar ile anahtar (</a:t>
            </a:r>
            <a:r>
              <a:rPr lang="tr-TR" dirty="0" err="1"/>
              <a:t>switch</a:t>
            </a:r>
            <a:r>
              <a:rPr lang="tr-TR" dirty="0"/>
              <a:t>), yönlendirici (</a:t>
            </a:r>
            <a:r>
              <a:rPr lang="tr-TR" dirty="0" err="1"/>
              <a:t>router</a:t>
            </a:r>
            <a:r>
              <a:rPr lang="tr-TR" dirty="0"/>
              <a:t>) veya modem arasında kullanılır.</a:t>
            </a:r>
          </a:p>
          <a:p>
            <a:pPr algn="just"/>
            <a:r>
              <a:rPr lang="tr-TR" dirty="0"/>
              <a:t>Çapraz Kablo:</a:t>
            </a:r>
          </a:p>
          <a:p>
            <a:pPr algn="just"/>
            <a:r>
              <a:rPr lang="tr-TR" b="1" dirty="0"/>
              <a:t>Açıklama</a:t>
            </a:r>
            <a:r>
              <a:rPr lang="tr-TR" dirty="0"/>
              <a:t>: Bir uca T568A, diğer uca T568B sıralamasını uygular.</a:t>
            </a:r>
          </a:p>
          <a:p>
            <a:pPr algn="just"/>
            <a:r>
              <a:rPr lang="tr-TR" b="1" dirty="0"/>
              <a:t>Kullanım Alanları</a:t>
            </a:r>
            <a:r>
              <a:rPr lang="tr-TR" dirty="0"/>
              <a:t>: İki bilgisayar arasında doğrudan bağlantı yapmak için kullanılır.</a:t>
            </a:r>
          </a:p>
          <a:p>
            <a:endParaRPr lang="tr-TR" dirty="0"/>
          </a:p>
          <a:p>
            <a:endParaRPr lang="tr-TR" dirty="0"/>
          </a:p>
          <a:p>
            <a:endParaRPr lang="tr-TR" dirty="0"/>
          </a:p>
          <a:p>
            <a:pPr marL="109728" indent="0">
              <a:buNone/>
            </a:pPr>
            <a:endParaRPr lang="tr-TR" dirty="0"/>
          </a:p>
        </p:txBody>
      </p:sp>
    </p:spTree>
    <p:extLst>
      <p:ext uri="{BB962C8B-B14F-4D97-AF65-F5344CB8AC3E}">
        <p14:creationId xmlns:p14="http://schemas.microsoft.com/office/powerpoint/2010/main" val="2792923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p>
            <a:r>
              <a:rPr lang="tr-TR" dirty="0"/>
              <a:t>BAĞLANTI TÜRLERİ</a:t>
            </a:r>
          </a:p>
        </p:txBody>
      </p:sp>
      <p:pic>
        <p:nvPicPr>
          <p:cNvPr id="40962" name="Picture 2" descr="Straight-through &amp; crossover c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2325" y="2209800"/>
            <a:ext cx="5467350" cy="4381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0229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ğitim sunusu">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extLst>
    <a:ext uri="{05A4C25C-085E-4340-85A3-A5531E510DB2}">
      <thm15:themeFamily xmlns:thm15="http://schemas.microsoft.com/office/thememl/2012/main" name="Office_16225310_TF03460604" id="{F6EFC989-8B6A-426D-8CC8-42909735A4A0}" vid="{6F0D95CE-7106-4C3E-8D98-EE1220DA24E4}"/>
    </a:ext>
  </a:extLst>
</a:theme>
</file>

<file path=ppt/theme/theme2.xml><?xml version="1.0" encoding="utf-8"?>
<a:theme xmlns:a="http://schemas.openxmlformats.org/drawingml/2006/main" name="Ofis Teması">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is Teması">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Eğitim sunusu</Template>
  <TotalTime>899</TotalTime>
  <Words>3084</Words>
  <Application>Microsoft Office PowerPoint</Application>
  <PresentationFormat>Geniş ekran</PresentationFormat>
  <Paragraphs>303</Paragraphs>
  <Slides>39</Slides>
  <Notes>39</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39</vt:i4>
      </vt:variant>
    </vt:vector>
  </HeadingPairs>
  <TitlesOfParts>
    <vt:vector size="44" baseType="lpstr">
      <vt:lpstr>Arial</vt:lpstr>
      <vt:lpstr>Calibri</vt:lpstr>
      <vt:lpstr>Georgia</vt:lpstr>
      <vt:lpstr>Wingdings 2</vt:lpstr>
      <vt:lpstr>Eğitim sunusu</vt:lpstr>
      <vt:lpstr>Ağ ve Bilişim Güvenliği</vt:lpstr>
      <vt:lpstr>AĞ(NETWORK) NEDİR?</vt:lpstr>
      <vt:lpstr>YEREL ALAN AĞI(LOCAL AREA NETWORK) NEDİR?</vt:lpstr>
      <vt:lpstr>GENİŞ ALAN AĞI(WİDE AREA NETWORK) NEDİR?</vt:lpstr>
      <vt:lpstr>DİĞER AĞ TÜRLERİ</vt:lpstr>
      <vt:lpstr>AĞ TOPOLOJİLERİ</vt:lpstr>
      <vt:lpstr>YILDIZ(STAR) TOPOLOJİSİ</vt:lpstr>
      <vt:lpstr>YILDIZ(STAR) TOPOLOJİSİ</vt:lpstr>
      <vt:lpstr>HALKA(RING) TOPOLOJİSİ</vt:lpstr>
      <vt:lpstr>HALKA(RING) TOPOLOJİSİ</vt:lpstr>
      <vt:lpstr>YIĞIN(BUS) TOPOLOJİSİ</vt:lpstr>
      <vt:lpstr>YIĞIN(BUS) TOPOLOJİSİ</vt:lpstr>
      <vt:lpstr>AĞAÇ(TREE) TOPOLOJİSİ</vt:lpstr>
      <vt:lpstr>AĞAÇ(TREE) TOPOLOJİSİ</vt:lpstr>
      <vt:lpstr>MESH TOPOLOJİSİ</vt:lpstr>
      <vt:lpstr>MESH TOPOLOJİSİ</vt:lpstr>
      <vt:lpstr>HİBRİT(HYBRİD) TOPOLOJİSİ</vt:lpstr>
      <vt:lpstr>HİBRİT(HYBRİD) TOPOLOJİSİ</vt:lpstr>
      <vt:lpstr>AĞ CİHAZLARI</vt:lpstr>
      <vt:lpstr>YÖNLENDİRİCİ(ROUTER)</vt:lpstr>
      <vt:lpstr>ANAHTAR(SWİTCH)</vt:lpstr>
      <vt:lpstr>HUB</vt:lpstr>
      <vt:lpstr>MODEM</vt:lpstr>
      <vt:lpstr>ERİŞİM NOKTASI(ACCESS POİNT)</vt:lpstr>
      <vt:lpstr>GÜVENLİK DUVARI(FIREWALL)</vt:lpstr>
      <vt:lpstr>YÜK DENGELEYİCİ(LOAD BALANCER)</vt:lpstr>
      <vt:lpstr>VPN CİHAZI(VPN APPLIANCE)</vt:lpstr>
      <vt:lpstr>ETHERNET</vt:lpstr>
      <vt:lpstr>ETHERNET KABLOLARI</vt:lpstr>
      <vt:lpstr>ETHERNET KABLOLARI</vt:lpstr>
      <vt:lpstr>FİBER OPTİK KABLOLAR</vt:lpstr>
      <vt:lpstr>FİBER OPTİK KABLOLAR</vt:lpstr>
      <vt:lpstr>KOAKSİYEL KABLOLAR</vt:lpstr>
      <vt:lpstr>KOAKSİYEL KABLOLAR</vt:lpstr>
      <vt:lpstr>KABLOSUZ BAĞLANTILAR</vt:lpstr>
      <vt:lpstr>KABLO BAĞLANTI RENKLERİ</vt:lpstr>
      <vt:lpstr>KABLO BAĞLANTI RENKLERİ</vt:lpstr>
      <vt:lpstr>BAĞLANTI TÜRLERİ</vt:lpstr>
      <vt:lpstr>BAĞLANTI TÜRLERİ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Ağ ve Bilişim Güvenliği</dc:title>
  <dc:creator>ZaferS</dc:creator>
  <cp:lastModifiedBy>ZaferS</cp:lastModifiedBy>
  <cp:revision>108</cp:revision>
  <dcterms:created xsi:type="dcterms:W3CDTF">2023-12-09T09:03:26Z</dcterms:created>
  <dcterms:modified xsi:type="dcterms:W3CDTF">2026-09-29T17:47:21Z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