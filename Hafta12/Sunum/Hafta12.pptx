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7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5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 rtl="0"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3B4B98B0-60AC-42C2-AFA5-B58CD77FA1E5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89911" autoAdjust="0"/>
  </p:normalViewPr>
  <p:slideViewPr>
    <p:cSldViewPr snapToGrid="0" showGuides="1">
      <p:cViewPr varScale="1">
        <p:scale>
          <a:sx n="87" d="100"/>
          <a:sy n="87" d="100"/>
        </p:scale>
        <p:origin x="389" y="58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87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FC8FC1-A1A8-42CB-96AC-83684F0DF578}" type="datetime1">
              <a:rPr lang="tr-TR" smtClean="0"/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tr-TR" smtClean="0"/>
            </a:fld>
            <a:endParaRPr lang="tr-T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653A-FB33-4975-A611-5D53C5C337D6}" type="datetime1">
              <a:rPr lang="tr-TR" smtClean="0"/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  <a:endParaRPr lang="tr-TR" noProof="0" dirty="0"/>
          </a:p>
          <a:p>
            <a:pPr lvl="1" rtl="0"/>
            <a:r>
              <a:rPr lang="tr-TR" noProof="0" dirty="0"/>
              <a:t>İkinci düzey</a:t>
            </a:r>
            <a:endParaRPr lang="tr-TR" noProof="0" dirty="0"/>
          </a:p>
          <a:p>
            <a:pPr lvl="2" rtl="0"/>
            <a:r>
              <a:rPr lang="tr-TR" noProof="0" dirty="0"/>
              <a:t>Üçüncü düzey</a:t>
            </a:r>
            <a:endParaRPr lang="tr-TR" noProof="0" dirty="0"/>
          </a:p>
          <a:p>
            <a:pPr lvl="3" rtl="0"/>
            <a:r>
              <a:rPr lang="tr-TR" noProof="0" dirty="0"/>
              <a:t>Dördüncü düzey</a:t>
            </a:r>
            <a:endParaRPr lang="tr-TR" noProof="0" dirty="0"/>
          </a:p>
          <a:p>
            <a:pPr lvl="4" rtl="0"/>
            <a:r>
              <a:rPr lang="tr-TR" noProof="0" dirty="0"/>
              <a:t>Beşinci düzey</a:t>
            </a:r>
            <a:endParaRPr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tr-TR" noProof="0" smtClean="0"/>
            </a:fld>
            <a:endParaRPr lang="tr-TR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tr-TR" smtClean="0"/>
            </a:fld>
            <a:endParaRPr lang="tr-T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  <a:endParaRPr lang="tr-TR" dirty="0"/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</a:fld>
            <a:endParaRPr lang="tr-T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  <a:endParaRPr lang="tr-TR" dirty="0"/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</a:fld>
            <a:endParaRPr lang="tr-TR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  <a:endParaRPr lang="tr-TR" dirty="0"/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</a:fld>
            <a:endParaRPr lang="tr-T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  <a:endParaRPr lang="tr-TR" dirty="0"/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</a:fld>
            <a:endParaRPr lang="tr-TR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  <a:endParaRPr lang="tr-TR" dirty="0"/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</a:fld>
            <a:endParaRPr lang="tr-TR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  <a:endParaRPr lang="tr-TR" dirty="0"/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</a:fld>
            <a:endParaRPr lang="tr-TR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  <a:endParaRPr lang="tr-TR" dirty="0"/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</a:fld>
            <a:endParaRPr lang="tr-TR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  <a:endParaRPr lang="tr-TR" dirty="0"/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</a:fld>
            <a:endParaRPr lang="tr-TR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  <a:endParaRPr lang="tr-TR" dirty="0"/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</a:fld>
            <a:endParaRPr lang="tr-TR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  <a:endParaRPr lang="tr-TR" dirty="0"/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</a:fld>
            <a:endParaRPr lang="tr-TR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  <a:endParaRPr lang="tr-TR" dirty="0"/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</a:fld>
            <a:endParaRPr lang="tr-TR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  <a:endParaRPr lang="tr-TR" dirty="0"/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</a:fld>
            <a:endParaRPr lang="tr-TR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  <a:endParaRPr lang="tr-TR" dirty="0"/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</a:fld>
            <a:endParaRPr lang="tr-TR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  <a:endParaRPr lang="tr-TR" dirty="0"/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</a:fld>
            <a:endParaRPr lang="tr-TR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  <a:endParaRPr lang="tr-TR" dirty="0"/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</a:fld>
            <a:endParaRPr lang="tr-T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3" name="Dikdörtgen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4" name="Dikdörtgen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5" name="Dikdörtgen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6" name="Dikdörtgen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7" name="Dikdörtgen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0" name="Yuvarlatılmış Dikdörtgen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1" name="Yuvarlatılmış Dikdörtgen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7" name="Dikdörtgen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0" name="Dikdörtgen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1" name="Dikdörtgen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8" name="Başlık 7"/>
          <p:cNvSpPr>
            <a:spLocks noGrp="1"/>
          </p:cNvSpPr>
          <p:nvPr>
            <p:ph type="ctrTitle" hasCustomPrompt="1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9" name="Alt Başlık 8"/>
          <p:cNvSpPr>
            <a:spLocks noGrp="1"/>
          </p:cNvSpPr>
          <p:nvPr>
            <p:ph type="subTitle" idx="1" hasCustomPrompt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135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tr-TR" noProof="0" smtClean="0"/>
              <a:t>Asıl alt başlık stilini düzenlemek için tıklayın</a:t>
            </a:r>
            <a:endParaRPr lang="tr-TR" noProof="0" dirty="0"/>
          </a:p>
        </p:txBody>
      </p:sp>
      <p:sp>
        <p:nvSpPr>
          <p:cNvPr id="17" name="Alt Bilgi Yer Tutucusu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28" name="Tarih Yer Tutucusu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8609038-EC1C-40A6-91EB-4A3D73CE9547}" type="datetime1">
              <a:rPr lang="tr-TR" smtClean="0"/>
            </a:fld>
            <a:endParaRPr lang="tr-TR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6610F96-FFD0-4BC1-86F0-D957A2A4B8C7}" type="datetime1">
              <a:rPr lang="tr-TR" smtClean="0"/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F56EF26-BBDF-4885-BB66-53FDFCADA69E}" type="datetime1">
              <a:rPr lang="tr-TR" smtClean="0"/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 hasCustomPrompt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 hasCustomPrompt="1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84B813B-74D5-4B4F-94CB-6CD8395E9845}" type="datetime1">
              <a:rPr lang="tr-TR" smtClean="0"/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2" hasCustomPrompt="1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 hasCustomPrompt="1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 hasCustomPrompt="1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28" name="Alt Bilgi Yer Tutucusu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26" name="Tarih Yer Tutucusu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2EC71D-25AD-4A7C-AB6C-E63D5EDA9366}" type="datetime1">
              <a:rPr lang="tr-TR" smtClean="0"/>
            </a:fld>
            <a:endParaRPr lang="tr-TR" dirty="0"/>
          </a:p>
        </p:txBody>
      </p:sp>
      <p:sp>
        <p:nvSpPr>
          <p:cNvPr id="27" name="Slayt Numarası Yer Tutucus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>
            <a:lvl1pPr>
              <a:defRPr/>
            </a:lvl1pPr>
          </a:lstStyle>
          <a:p>
            <a:fld id="{851036E3-487C-41B5-92E9-47E0F0B9591B}" type="datetime1">
              <a:rPr lang="tr-TR" smtClean="0"/>
            </a:fld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730CD3-31CA-47BB-8FC4-9AA93086A77D}" type="datetime1">
              <a:rPr lang="tr-TR" smtClean="0"/>
            </a:fld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tr-TR" noProof="0" dirty="0"/>
              <a:t>Asıl başlık stilini düzenle</a:t>
            </a:r>
            <a:endParaRPr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1" hasCustomPrompt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 hasCustomPrompt="1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889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0C5B609-EC73-4CF8-A564-D90D0E54FA36}" type="datetime1">
              <a:rPr lang="tr-TR" smtClean="0"/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 hasCustomPrompt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tr-TR" noProof="0" smtClean="0"/>
              <a:t>Resim eklemek için simgeyi tıklatın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 hasCustomPrompt="1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5D7756-B745-4648-9348-5BA7D8FC560E}" type="datetime1">
              <a:rPr lang="tr-TR" smtClean="0"/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3DEEBB-C631-4BE4-9EB9-151005B5892D}" type="datetime1">
              <a:rPr lang="tr-TR" smtClean="0"/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tr-TR" noProof="0" dirty="0"/>
              <a:t>Asıl başlık stilini düzenle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tr-TR" noProof="0" dirty="0"/>
              <a:t>Asıl metin stillerini düzenlemek için tıklayın</a:t>
            </a:r>
            <a:endParaRPr lang="tr-TR" noProof="0" dirty="0"/>
          </a:p>
          <a:p>
            <a:pPr lvl="1" rtl="0" eaLnBrk="1" latinLnBrk="0" hangingPunct="1"/>
            <a:r>
              <a:rPr lang="tr-TR" noProof="0" dirty="0"/>
              <a:t>İkinci düzey</a:t>
            </a:r>
            <a:endParaRPr lang="tr-TR" noProof="0" dirty="0"/>
          </a:p>
          <a:p>
            <a:pPr lvl="2" rtl="0" eaLnBrk="1" latinLnBrk="0" hangingPunct="1"/>
            <a:r>
              <a:rPr lang="tr-TR" noProof="0" dirty="0"/>
              <a:t>Üçüncü düzey</a:t>
            </a:r>
            <a:endParaRPr lang="tr-TR" noProof="0" dirty="0"/>
          </a:p>
          <a:p>
            <a:pPr lvl="3" rtl="0" eaLnBrk="1" latinLnBrk="0" hangingPunct="1"/>
            <a:r>
              <a:rPr lang="tr-TR" noProof="0" dirty="0"/>
              <a:t>Dördüncü düzey</a:t>
            </a:r>
            <a:endParaRPr lang="tr-TR" noProof="0" dirty="0"/>
          </a:p>
          <a:p>
            <a:pPr lvl="4" rtl="0" eaLnBrk="1" latinLnBrk="0" hangingPunct="1"/>
            <a:r>
              <a:rPr lang="tr-TR" noProof="0" dirty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76B82DB-6D5C-486A-98D3-E008B7673553}" type="datetime1">
              <a:rPr lang="tr-TR" smtClean="0"/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9" name="Dikdörtgen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0" name="Dikdörtgen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1" name="Dikdörtgen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2" name="Dikdörtgen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3" name="Yuvarlatılmış Dikdörtgen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4" name="Yuvarlatılmış Dikdörtgen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5" name="Dikdörtgen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6" name="Dikdörtgen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7" name="Dikdörtgen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8" name="Dikdörtgen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9" name="Dikdörtgen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40" name="Dikdörtgen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tr-TR" noProof="0" dirty="0"/>
              <a:t>Asıl başlık stilini düzenlemek için tıklayın</a:t>
            </a:r>
            <a:endParaRPr lang="tr-TR" noProof="0" dirty="0"/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tr-TR" noProof="0" dirty="0"/>
              <a:t>Asıl metin stillerini düzenle</a:t>
            </a:r>
            <a:endParaRPr lang="tr-TR" noProof="0" dirty="0"/>
          </a:p>
          <a:p>
            <a:pPr lvl="1" rtl="0"/>
            <a:r>
              <a:rPr lang="tr-TR" noProof="0" dirty="0"/>
              <a:t>İkinci düzey</a:t>
            </a:r>
            <a:endParaRPr lang="tr-TR" noProof="0" dirty="0"/>
          </a:p>
          <a:p>
            <a:pPr lvl="2" rtl="0"/>
            <a:r>
              <a:rPr lang="tr-TR" noProof="0" dirty="0"/>
              <a:t>Üçüncü düzey</a:t>
            </a:r>
            <a:endParaRPr lang="tr-TR" noProof="0" dirty="0"/>
          </a:p>
          <a:p>
            <a:pPr lvl="3" rtl="0"/>
            <a:r>
              <a:rPr lang="tr-TR" noProof="0" dirty="0"/>
              <a:t>Dördüncü düzey</a:t>
            </a:r>
            <a:endParaRPr lang="tr-TR" noProof="0" dirty="0"/>
          </a:p>
          <a:p>
            <a:pPr lvl="4" rtl="0"/>
            <a:r>
              <a:rPr lang="tr-TR" noProof="0" dirty="0"/>
              <a:t>Beşinci düzey</a:t>
            </a:r>
            <a:endParaRPr lang="tr-TR" noProof="0" dirty="0"/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14" name="Tarih Yer Tutucusu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8A9E5AA4-4083-47B0-96D9-3464BE7D917D}" type="datetime1">
              <a:rPr lang="tr-TR" smtClean="0"/>
            </a:fld>
            <a:endParaRPr lang="tr-TR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5905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 panose="02040502050405020303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495" indent="-247015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 panose="02040502050405020303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290" indent="-21971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830" indent="-201295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90015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09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30095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GIF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Ağ ve Bilişim Güvenliği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Öğr</a:t>
            </a:r>
            <a:r>
              <a:rPr lang="tr-TR" dirty="0" smtClean="0"/>
              <a:t>. Gör. Zafer SERİN</a:t>
            </a:r>
            <a:endParaRPr 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AKAN ŞİFRELER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Akan şifreler simetrik anahtarlı bir sistemdir.</a:t>
            </a:r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4247" y="2969964"/>
            <a:ext cx="3063505" cy="36045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AKAN ŞİFRELER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Kriptoloji temel olarak </a:t>
            </a:r>
            <a:r>
              <a:rPr lang="tr-TR" dirty="0" err="1" smtClean="0"/>
              <a:t>Kriptografi</a:t>
            </a:r>
            <a:r>
              <a:rPr lang="tr-TR" dirty="0" smtClean="0"/>
              <a:t> ve </a:t>
            </a:r>
            <a:r>
              <a:rPr lang="tr-TR" dirty="0" err="1" smtClean="0"/>
              <a:t>Kriptanaliz</a:t>
            </a:r>
            <a:r>
              <a:rPr lang="tr-TR" dirty="0" smtClean="0"/>
              <a:t> olarak ikiye ayrılır.</a:t>
            </a:r>
            <a:endParaRPr lang="tr-TR" dirty="0" smtClean="0"/>
          </a:p>
          <a:p>
            <a:pPr rtl="0"/>
            <a:r>
              <a:rPr lang="tr-TR" dirty="0" err="1" smtClean="0"/>
              <a:t>Kriptografi</a:t>
            </a:r>
            <a:r>
              <a:rPr lang="tr-TR" dirty="0" smtClean="0"/>
              <a:t> bir veriyi şifrelemeyi ifade ederken </a:t>
            </a:r>
            <a:r>
              <a:rPr lang="tr-TR" dirty="0" err="1" smtClean="0"/>
              <a:t>Kriptanaliz</a:t>
            </a:r>
            <a:r>
              <a:rPr lang="tr-TR" dirty="0" smtClean="0"/>
              <a:t> </a:t>
            </a:r>
            <a:r>
              <a:rPr lang="tr-TR" dirty="0" err="1" smtClean="0"/>
              <a:t>şifreli</a:t>
            </a:r>
            <a:r>
              <a:rPr lang="tr-TR" dirty="0" smtClean="0"/>
              <a:t> bir veriyi çözmeyi(kırmayı) ifade eder.</a:t>
            </a:r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AKAN ŞİFRELER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endParaRPr lang="tr-TR" dirty="0" smtClean="0"/>
          </a:p>
          <a:p>
            <a:pPr rtl="0"/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6945" y="2518245"/>
            <a:ext cx="6454699" cy="3787468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7204" y="3553263"/>
            <a:ext cx="1459635" cy="17174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SİMETRİK ŞİFRELEME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Simetrik şifreleme de hem şifreleme işlemini hem de </a:t>
            </a:r>
            <a:r>
              <a:rPr lang="tr-TR" dirty="0" err="1" smtClean="0"/>
              <a:t>deşifreleme</a:t>
            </a:r>
            <a:r>
              <a:rPr lang="tr-TR" dirty="0" smtClean="0"/>
              <a:t> işlemini aynı anahtar yapar.</a:t>
            </a:r>
            <a:endParaRPr lang="tr-TR" dirty="0" smtClean="0"/>
          </a:p>
          <a:p>
            <a:pPr rtl="0"/>
            <a:r>
              <a:rPr lang="tr-TR" dirty="0" smtClean="0"/>
              <a:t>İletişim sağlanması için bu anahtarın taraflar arasında daha önceden paylaşılması gerekir.</a:t>
            </a:r>
            <a:endParaRPr lang="tr-TR" dirty="0" smtClean="0"/>
          </a:p>
          <a:p>
            <a:pPr rtl="0"/>
            <a:endParaRPr lang="tr-TR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684" y="4276767"/>
            <a:ext cx="5262632" cy="22977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AKAN ŞİFRELER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Akan şifrelerde kullanılan en temel unsur LFSR[</a:t>
            </a:r>
            <a:r>
              <a:rPr lang="tr-TR" dirty="0" err="1" smtClean="0"/>
              <a:t>Linear-feedback</a:t>
            </a:r>
            <a:r>
              <a:rPr lang="tr-TR" dirty="0" smtClean="0"/>
              <a:t> </a:t>
            </a:r>
            <a:r>
              <a:rPr lang="tr-TR" dirty="0" err="1" smtClean="0"/>
              <a:t>shift</a:t>
            </a:r>
            <a:r>
              <a:rPr lang="tr-TR" dirty="0" smtClean="0"/>
              <a:t> </a:t>
            </a:r>
            <a:r>
              <a:rPr lang="tr-TR" dirty="0" err="1" smtClean="0"/>
              <a:t>register</a:t>
            </a:r>
            <a:r>
              <a:rPr lang="tr-TR" dirty="0" smtClean="0"/>
              <a:t>(Doğrusal Beslemeli ve Kaydırmalı Yazmaçlar)]’</a:t>
            </a:r>
            <a:r>
              <a:rPr lang="tr-TR" dirty="0" err="1" smtClean="0"/>
              <a:t>dır</a:t>
            </a:r>
            <a:r>
              <a:rPr lang="tr-TR" dirty="0" smtClean="0"/>
              <a:t>.</a:t>
            </a:r>
            <a:endParaRPr lang="tr-TR" dirty="0" smtClean="0"/>
          </a:p>
          <a:p>
            <a:pPr rtl="0"/>
            <a:r>
              <a:rPr lang="tr-TR" dirty="0" err="1" smtClean="0"/>
              <a:t>LFSR’da</a:t>
            </a:r>
            <a:r>
              <a:rPr lang="tr-TR" dirty="0" smtClean="0"/>
              <a:t> rastgele bir bölüm ve bu bölümlere rastgele yerleştirilen 0 ve 1’ler ile işlem yapılır.</a:t>
            </a:r>
            <a:endParaRPr lang="tr-TR" dirty="0" smtClean="0"/>
          </a:p>
          <a:p>
            <a:pPr rtl="0"/>
            <a:r>
              <a:rPr lang="tr-TR" dirty="0" smtClean="0"/>
              <a:t>Her seferinde LFSR 1 tane çıktı verir ve geride kalan bitler 1 bit sağa kaydırılır daha sonra kaydırılmış veride ilgili bölümler XOR(Özel veya) işlemine tabi tutularak yeni değer üretilerek sona eklenir.</a:t>
            </a:r>
            <a:endParaRPr lang="tr-TR" dirty="0" smtClean="0"/>
          </a:p>
          <a:p>
            <a:pPr rtl="0"/>
            <a:r>
              <a:rPr lang="tr-TR" dirty="0" smtClean="0"/>
              <a:t>Bir LFSR aslında bir bit üreticisi olarak işlem yapar.</a:t>
            </a:r>
            <a:endParaRPr 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AKAN ŞİFRELER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Anahtar değeri elde edilirken </a:t>
            </a:r>
            <a:r>
              <a:rPr lang="tr-TR" dirty="0" err="1" smtClean="0"/>
              <a:t>LFSR’ın</a:t>
            </a:r>
            <a:r>
              <a:rPr lang="tr-TR" dirty="0" smtClean="0"/>
              <a:t> başlangıç durumu ve ilgili işlevlerin bağlanması kullanılır.</a:t>
            </a:r>
            <a:endParaRPr lang="tr-TR" dirty="0" smtClean="0"/>
          </a:p>
          <a:p>
            <a:pPr rtl="0"/>
            <a:r>
              <a:rPr lang="tr-TR" dirty="0" smtClean="0"/>
              <a:t>Başlangıç durumu ve XOR işlemi sonuçları ortadaki diğer kişiler tarafından bilinemeyeceğinden bu yöntem kullanılır.</a:t>
            </a:r>
            <a:endParaRPr lang="tr-TR" dirty="0"/>
          </a:p>
          <a:p>
            <a:pPr marL="109855" indent="0" rtl="0">
              <a:buNone/>
            </a:pP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390" y="4280848"/>
            <a:ext cx="5391220" cy="18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AKAN ŞİFRELER</a:t>
            </a:r>
            <a:endParaRPr lang="tr-TR" dirty="0"/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13" y="2249488"/>
            <a:ext cx="9316373" cy="432435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AKAN ŞİFRELER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XOR(Özel veya) işlemi girişler aynı ise 0 çıktısını girişler farklı ise 1 çıktısını veren mantıksal bir işlemdir. Buna aynı zamanda </a:t>
            </a:r>
            <a:r>
              <a:rPr lang="tr-TR" dirty="0" err="1" smtClean="0"/>
              <a:t>kalansız</a:t>
            </a:r>
            <a:r>
              <a:rPr lang="tr-TR" dirty="0" smtClean="0"/>
              <a:t> toplama adı da verilir. Bunlar büyüklük olarak aynı olmalı ve </a:t>
            </a:r>
            <a:r>
              <a:rPr lang="tr-TR" dirty="0" err="1" smtClean="0"/>
              <a:t>bitsel</a:t>
            </a:r>
            <a:r>
              <a:rPr lang="tr-TR" dirty="0" smtClean="0"/>
              <a:t> olarak karşılaştırılmalıdır.</a:t>
            </a:r>
            <a:endParaRPr lang="tr-TR" dirty="0" smtClean="0"/>
          </a:p>
          <a:p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1511" y="4220308"/>
            <a:ext cx="1977551" cy="2354228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110" y="4555339"/>
            <a:ext cx="2522439" cy="16841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AKAN ŞİFRELER</a:t>
            </a:r>
            <a:endParaRPr lang="tr-TR" dirty="0"/>
          </a:p>
        </p:txBody>
      </p:sp>
      <p:sp>
        <p:nvSpPr>
          <p:cNvPr id="6" name="İçerik Yer Tutucus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 smtClean="0"/>
              <a:t>Plain</a:t>
            </a:r>
            <a:r>
              <a:rPr lang="tr-TR" dirty="0" smtClean="0"/>
              <a:t> </a:t>
            </a:r>
            <a:r>
              <a:rPr lang="tr-TR" dirty="0" err="1" smtClean="0"/>
              <a:t>text</a:t>
            </a:r>
            <a:r>
              <a:rPr lang="tr-TR" dirty="0" smtClean="0"/>
              <a:t>(açık metin) öncelikle </a:t>
            </a:r>
            <a:r>
              <a:rPr lang="tr-TR" dirty="0" err="1" smtClean="0"/>
              <a:t>bitsel</a:t>
            </a:r>
            <a:r>
              <a:rPr lang="tr-TR" dirty="0" smtClean="0"/>
              <a:t> karşılıklarına çevrilir.</a:t>
            </a:r>
            <a:endParaRPr lang="tr-TR" dirty="0" smtClean="0"/>
          </a:p>
          <a:p>
            <a:r>
              <a:rPr lang="tr-TR" dirty="0" err="1" smtClean="0"/>
              <a:t>Plain</a:t>
            </a:r>
            <a:r>
              <a:rPr lang="tr-TR" dirty="0" smtClean="0"/>
              <a:t> </a:t>
            </a:r>
            <a:r>
              <a:rPr lang="tr-TR" dirty="0" err="1" smtClean="0"/>
              <a:t>text</a:t>
            </a:r>
            <a:r>
              <a:rPr lang="tr-TR" dirty="0" smtClean="0"/>
              <a:t> ve </a:t>
            </a:r>
            <a:r>
              <a:rPr lang="tr-TR" dirty="0" err="1" smtClean="0"/>
              <a:t>LFSR’ın</a:t>
            </a:r>
            <a:r>
              <a:rPr lang="tr-TR" dirty="0" smtClean="0"/>
              <a:t> ürettiği çıktı XOR işlemine tabi tutulur.</a:t>
            </a:r>
            <a:endParaRPr lang="tr-TR" dirty="0" smtClean="0"/>
          </a:p>
          <a:p>
            <a:r>
              <a:rPr lang="tr-TR" dirty="0" smtClean="0"/>
              <a:t>Elde edilen sonuç karşı tarafa gönderilir.</a:t>
            </a:r>
            <a:endParaRPr lang="tr-TR" dirty="0" smtClean="0"/>
          </a:p>
          <a:p>
            <a:r>
              <a:rPr lang="tr-TR" dirty="0" smtClean="0"/>
              <a:t>Karşı taraf </a:t>
            </a:r>
            <a:r>
              <a:rPr lang="tr-TR" dirty="0" err="1" smtClean="0"/>
              <a:t>LFSR’ın</a:t>
            </a:r>
            <a:r>
              <a:rPr lang="tr-TR" dirty="0" smtClean="0"/>
              <a:t> ürettiği sonucu kendisi ile XOR işlemine tabi tutar.</a:t>
            </a:r>
            <a:endParaRPr lang="tr-TR" dirty="0" smtClean="0"/>
          </a:p>
          <a:p>
            <a:r>
              <a:rPr lang="tr-TR" dirty="0" smtClean="0"/>
              <a:t>Aynı değerler XOR işlemine tabi tutulursa sonuç 0 olur bu durumda geriye sadece açık metin kalır ve böylece şifreli metin çözülmüş(</a:t>
            </a:r>
            <a:r>
              <a:rPr lang="tr-TR" dirty="0" err="1" smtClean="0"/>
              <a:t>deşifrelenmiş</a:t>
            </a:r>
            <a:r>
              <a:rPr lang="tr-TR" dirty="0" smtClean="0"/>
              <a:t>) olur.</a:t>
            </a:r>
            <a:endParaRPr 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AKAN ŞİFRELER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514111"/>
            <a:ext cx="10972800" cy="37951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AKAN ŞİFRELER</a:t>
            </a:r>
            <a:endParaRPr lang="tr-TR" dirty="0"/>
          </a:p>
        </p:txBody>
      </p:sp>
      <p:sp>
        <p:nvSpPr>
          <p:cNvPr id="6" name="İçerik Yer Tutucus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LFSR tarafından üretilen dizinin kalitesi:</a:t>
            </a:r>
            <a:endParaRPr lang="tr-TR" dirty="0" smtClean="0"/>
          </a:p>
          <a:p>
            <a:pPr marL="624205" indent="-514350">
              <a:buFont typeface="+mj-lt"/>
              <a:buAutoNum type="arabicPeriod"/>
            </a:pPr>
            <a:r>
              <a:rPr lang="tr-TR" dirty="0" err="1" smtClean="0"/>
              <a:t>Random</a:t>
            </a:r>
            <a:r>
              <a:rPr lang="tr-TR" dirty="0" smtClean="0"/>
              <a:t>(Rastgele) görünümlü olmalıdır.</a:t>
            </a:r>
            <a:endParaRPr lang="tr-TR" dirty="0" smtClean="0"/>
          </a:p>
          <a:p>
            <a:pPr marL="624205" indent="-514350">
              <a:buFont typeface="+mj-lt"/>
              <a:buAutoNum type="arabicPeriod"/>
            </a:pPr>
            <a:r>
              <a:rPr lang="tr-TR" dirty="0" err="1" smtClean="0"/>
              <a:t>LFSR’lar</a:t>
            </a:r>
            <a:r>
              <a:rPr lang="tr-TR" dirty="0" smtClean="0"/>
              <a:t> bir süre sonra kendini tekrar etme eğiliminde oldukları için periyotları uzun olmalıdır.</a:t>
            </a:r>
            <a:endParaRPr lang="tr-TR" dirty="0" smtClean="0"/>
          </a:p>
          <a:p>
            <a:pPr marL="624205" indent="-514350">
              <a:buFont typeface="+mj-lt"/>
              <a:buAutoNum type="arabicPeriod"/>
            </a:pPr>
            <a:r>
              <a:rPr lang="tr-TR" dirty="0" smtClean="0"/>
              <a:t>Sonraki bitin tahmin edilemez olması gerekir.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390" y="4774536"/>
            <a:ext cx="5391220" cy="18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AKAN ŞİFRELER</a:t>
            </a:r>
            <a:endParaRPr lang="tr-TR" dirty="0"/>
          </a:p>
        </p:txBody>
      </p:sp>
      <p:sp>
        <p:nvSpPr>
          <p:cNvPr id="6" name="İçerik Yer Tutucus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Akan Şifrelerin Özellikleri:</a:t>
            </a:r>
            <a:endParaRPr lang="tr-TR" dirty="0" smtClean="0"/>
          </a:p>
          <a:p>
            <a:pPr marL="624205" indent="-514350">
              <a:buFont typeface="+mj-lt"/>
              <a:buAutoNum type="arabicPeriod"/>
            </a:pPr>
            <a:r>
              <a:rPr lang="tr-TR" dirty="0" smtClean="0"/>
              <a:t>Hızlıdırlar, bu nedenle telsiz veya görüntü sistemlerinde rahatlıkla kullanılabilirler.</a:t>
            </a:r>
            <a:endParaRPr lang="tr-TR" dirty="0" smtClean="0"/>
          </a:p>
          <a:p>
            <a:pPr marL="624205" indent="-514350">
              <a:buFont typeface="+mj-lt"/>
              <a:buAutoNum type="arabicPeriod"/>
            </a:pPr>
            <a:r>
              <a:rPr lang="tr-TR" dirty="0" smtClean="0"/>
              <a:t>Matematiksel analizi kolaydır. Bu durum deşifre edilmelerinin kolay olduğu anlamına </a:t>
            </a:r>
            <a:r>
              <a:rPr lang="tr-TR" u="sng" dirty="0" smtClean="0"/>
              <a:t>gelmez. </a:t>
            </a:r>
            <a:r>
              <a:rPr lang="tr-TR" dirty="0" smtClean="0"/>
              <a:t>Eğer yeterince uzun bir LFSR kullanılırsa üretilen değerler çözülmesi imkansız bir hale gelebilir.</a:t>
            </a:r>
            <a:endParaRPr lang="tr-TR" dirty="0" smtClean="0"/>
          </a:p>
          <a:p>
            <a:pPr marL="624205" indent="-514350">
              <a:buFont typeface="+mj-lt"/>
              <a:buAutoNum type="arabicPeriod"/>
            </a:pPr>
            <a:r>
              <a:rPr lang="tr-TR" dirty="0" smtClean="0"/>
              <a:t>Donanım uygulamaları kolaydır.</a:t>
            </a:r>
            <a:endParaRPr lang="tr-TR" dirty="0" smtClean="0"/>
          </a:p>
          <a:p>
            <a:pPr marL="624205" indent="-514350">
              <a:buFont typeface="+mj-lt"/>
              <a:buAutoNum type="arabicPeriod"/>
            </a:pPr>
            <a:r>
              <a:rPr lang="tr-TR" dirty="0" smtClean="0"/>
              <a:t>Hata yayılımı azdır. </a:t>
            </a:r>
            <a:r>
              <a:rPr lang="tr-TR" dirty="0" err="1" smtClean="0"/>
              <a:t>LFSR’da</a:t>
            </a:r>
            <a:r>
              <a:rPr lang="tr-TR" dirty="0" smtClean="0"/>
              <a:t> meydana gelecek bir hata sadece bir biti etkileyeceğinden açık metinde büyük bir farklılık ortaya çıkmaz</a:t>
            </a:r>
            <a:endParaRPr 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AKAN ŞİFRELER</a:t>
            </a:r>
            <a:endParaRPr lang="tr-TR" dirty="0"/>
          </a:p>
        </p:txBody>
      </p:sp>
      <p:sp>
        <p:nvSpPr>
          <p:cNvPr id="6" name="İçerik Yer Tutucus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Akan Şifrelerin Özellikleri:</a:t>
            </a:r>
            <a:endParaRPr lang="tr-TR" dirty="0" smtClean="0"/>
          </a:p>
          <a:p>
            <a:pPr marL="624205" indent="-514350">
              <a:buFont typeface="+mj-lt"/>
              <a:buAutoNum type="arabicPeriod" startAt="4"/>
            </a:pPr>
            <a:r>
              <a:rPr lang="tr-TR" dirty="0" smtClean="0"/>
              <a:t>Anahtar difüzyonu azdır. Bu durumda anahtar ve şifreli metin arasında bağlantı kurmak daha kolay olur.</a:t>
            </a:r>
            <a:endParaRPr lang="tr-TR" dirty="0" smtClean="0"/>
          </a:p>
          <a:p>
            <a:pPr marL="624205" indent="-514350">
              <a:buFont typeface="+mj-lt"/>
              <a:buAutoNum type="arabicPeriod" startAt="4"/>
            </a:pPr>
            <a:r>
              <a:rPr lang="tr-TR" dirty="0" smtClean="0"/>
              <a:t>Mesaj bütünlüğü sağlamaz. Herhangi bir mesajı A kişisi LFSR ile şifreleyerek B kişisine göndersin. Mesaj giderken araya bir C kişisi girip metine </a:t>
            </a:r>
            <a:r>
              <a:rPr lang="tr-TR" dirty="0" err="1" smtClean="0"/>
              <a:t>bitsel</a:t>
            </a:r>
            <a:r>
              <a:rPr lang="tr-TR" dirty="0" smtClean="0"/>
              <a:t> bazda eklemeler yapıp tekrar C’ye gönderirse C kişisi ana metinin değişip değişmediğini bu yöntemde(akan şifreler ve LFSR) </a:t>
            </a:r>
            <a:r>
              <a:rPr lang="tr-TR" u="sng" dirty="0" smtClean="0"/>
              <a:t>anlayamaz.</a:t>
            </a:r>
            <a:endParaRPr lang="tr-TR" u="sng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AKAN ŞİFRELER</a:t>
            </a:r>
            <a:endParaRPr lang="tr-TR" dirty="0"/>
          </a:p>
        </p:txBody>
      </p:sp>
      <p:sp>
        <p:nvSpPr>
          <p:cNvPr id="6" name="İçerik Yer Tutucus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Örnekler:</a:t>
            </a:r>
            <a:endParaRPr lang="tr-TR" dirty="0" smtClean="0"/>
          </a:p>
          <a:p>
            <a:pPr marL="624205" indent="-514350">
              <a:buFont typeface="+mj-lt"/>
              <a:buAutoNum type="arabicPeriod"/>
            </a:pPr>
            <a:r>
              <a:rPr lang="tr-TR" dirty="0" err="1" smtClean="0"/>
              <a:t>One</a:t>
            </a:r>
            <a:r>
              <a:rPr lang="tr-TR" dirty="0" smtClean="0"/>
              <a:t> Time </a:t>
            </a:r>
            <a:r>
              <a:rPr lang="tr-TR" dirty="0" err="1" smtClean="0"/>
              <a:t>Pad</a:t>
            </a:r>
            <a:r>
              <a:rPr lang="tr-TR" dirty="0" smtClean="0"/>
              <a:t>(</a:t>
            </a:r>
            <a:r>
              <a:rPr lang="tr-TR" dirty="0" err="1" smtClean="0"/>
              <a:t>Vernam</a:t>
            </a:r>
            <a:r>
              <a:rPr lang="tr-TR" dirty="0" smtClean="0"/>
              <a:t> </a:t>
            </a:r>
            <a:r>
              <a:rPr lang="tr-TR" dirty="0" err="1" smtClean="0"/>
              <a:t>Cipher</a:t>
            </a:r>
            <a:r>
              <a:rPr lang="tr-TR" dirty="0" smtClean="0"/>
              <a:t>)</a:t>
            </a:r>
            <a:endParaRPr lang="tr-TR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tr-TR" dirty="0" smtClean="0"/>
              <a:t>Bu yöntemde kullanılan </a:t>
            </a:r>
            <a:r>
              <a:rPr lang="tr-TR" dirty="0" err="1" smtClean="0"/>
              <a:t>keystream</a:t>
            </a:r>
            <a:r>
              <a:rPr lang="tr-TR" dirty="0" smtClean="0"/>
              <a:t> her bir </a:t>
            </a:r>
            <a:r>
              <a:rPr lang="tr-TR" dirty="0" err="1" smtClean="0"/>
              <a:t>plaintext</a:t>
            </a:r>
            <a:r>
              <a:rPr lang="tr-TR" dirty="0" smtClean="0"/>
              <a:t> için özel ve rastgele oluşturulur. Bu durum son derece yüksek bir gizlilik sağlar.</a:t>
            </a:r>
            <a:endParaRPr lang="tr-TR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tr-TR" dirty="0" smtClean="0"/>
              <a:t>Bu durum </a:t>
            </a:r>
            <a:r>
              <a:rPr lang="tr-TR" dirty="0" err="1" smtClean="0"/>
              <a:t>plaintextinizin</a:t>
            </a:r>
            <a:r>
              <a:rPr lang="tr-TR" dirty="0" smtClean="0"/>
              <a:t> boyutu kadar bir güvenlik sağlar. Eğer </a:t>
            </a:r>
            <a:r>
              <a:rPr lang="tr-TR" dirty="0" err="1" smtClean="0"/>
              <a:t>plain</a:t>
            </a:r>
            <a:r>
              <a:rPr lang="tr-TR" dirty="0" smtClean="0"/>
              <a:t> </a:t>
            </a:r>
            <a:r>
              <a:rPr lang="tr-TR" dirty="0" err="1" smtClean="0"/>
              <a:t>textiniz</a:t>
            </a:r>
            <a:r>
              <a:rPr lang="tr-TR" dirty="0" smtClean="0"/>
              <a:t> 80 bit ise 80 bit, 2500 bit ise 2500 bitlik bir güvenlik sağlar.</a:t>
            </a:r>
            <a:endParaRPr lang="tr-TR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tr-TR" dirty="0" smtClean="0"/>
              <a:t>Uygulamada çok fazla kullanımı ve örneği yoktur. Çünkü bu kadar uzun ve rastgele görünümlü bir dizi üretmek zordur. Üretilse bile karşı tarafa iletilmesi zor olacaktır.</a:t>
            </a:r>
            <a:endParaRPr lang="tr-TR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AKAN ŞİFRELER</a:t>
            </a:r>
            <a:endParaRPr lang="tr-TR" dirty="0"/>
          </a:p>
        </p:txBody>
      </p:sp>
      <p:sp>
        <p:nvSpPr>
          <p:cNvPr id="6" name="İçerik Yer Tutucus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Örnekler:</a:t>
            </a:r>
            <a:endParaRPr lang="tr-TR" dirty="0" smtClean="0"/>
          </a:p>
          <a:p>
            <a:pPr marL="624205" indent="-514350">
              <a:buFont typeface="+mj-lt"/>
              <a:buAutoNum type="arabicPeriod" startAt="2"/>
            </a:pPr>
            <a:r>
              <a:rPr lang="tr-TR" dirty="0" smtClean="0"/>
              <a:t>A5/1 Şifresi</a:t>
            </a:r>
            <a:endParaRPr lang="tr-TR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tr-TR" dirty="0"/>
              <a:t> </a:t>
            </a:r>
            <a:r>
              <a:rPr lang="tr-TR" dirty="0" smtClean="0"/>
              <a:t>Günümüzde cep telefonlarında kullanılan bir yöntemdir.</a:t>
            </a:r>
            <a:endParaRPr lang="tr-TR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tr-TR" dirty="0" smtClean="0"/>
              <a:t>Cep telefonları ile baz istasyonları arasındaki iletişimde kullanılır.</a:t>
            </a:r>
            <a:endParaRPr lang="tr-TR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tr-TR" dirty="0" smtClean="0"/>
              <a:t>3 tane </a:t>
            </a:r>
            <a:r>
              <a:rPr lang="tr-TR" dirty="0" err="1" smtClean="0"/>
              <a:t>LFSR’ın</a:t>
            </a:r>
            <a:r>
              <a:rPr lang="tr-TR" dirty="0" smtClean="0"/>
              <a:t> birleşerek bir büyük LFSR oluşturması temeline dayanır.</a:t>
            </a:r>
            <a:endParaRPr lang="tr-TR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tr-TR" dirty="0" smtClean="0"/>
              <a:t>Burada temel amaç büyük </a:t>
            </a:r>
            <a:r>
              <a:rPr lang="tr-TR" dirty="0" err="1" smtClean="0"/>
              <a:t>LFSR’ın</a:t>
            </a:r>
            <a:r>
              <a:rPr lang="tr-TR" dirty="0" smtClean="0"/>
              <a:t> periyodunun artması için küçük küçük </a:t>
            </a:r>
            <a:r>
              <a:rPr lang="tr-TR" dirty="0" err="1" smtClean="0"/>
              <a:t>LFSR’lar</a:t>
            </a:r>
            <a:r>
              <a:rPr lang="tr-TR" dirty="0" smtClean="0"/>
              <a:t> kullanılması temeline dayanır.</a:t>
            </a:r>
            <a:endParaRPr lang="tr-TR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ğitim sunusu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Eğitim sunusu</Template>
  <TotalTime>0</TotalTime>
  <Words>3885</Words>
  <Application>WPS Sunum</Application>
  <PresentationFormat>Geniş ekran</PresentationFormat>
  <Paragraphs>95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SimSun</vt:lpstr>
      <vt:lpstr>Wingdings</vt:lpstr>
      <vt:lpstr>Georgia</vt:lpstr>
      <vt:lpstr>Wingdings 2</vt:lpstr>
      <vt:lpstr>Wingdings</vt:lpstr>
      <vt:lpstr>Calibri</vt:lpstr>
      <vt:lpstr>Microsoft YaHei</vt:lpstr>
      <vt:lpstr>Arial Unicode MS</vt:lpstr>
      <vt:lpstr>Eğitim sunusu</vt:lpstr>
      <vt:lpstr>Ağ ve Bilişim Güvenliği</vt:lpstr>
      <vt:lpstr>AKAN ŞİFRELER</vt:lpstr>
      <vt:lpstr>AKAN ŞİFRELER</vt:lpstr>
      <vt:lpstr>AKAN ŞİFRELER</vt:lpstr>
      <vt:lpstr>SİMETRİK ŞİFRELEME</vt:lpstr>
      <vt:lpstr>AKAN ŞİFRELER</vt:lpstr>
      <vt:lpstr>AKAN ŞİFRELER</vt:lpstr>
      <vt:lpstr>AKAN ŞİFRELER</vt:lpstr>
      <vt:lpstr>AKAN ŞİFRELER</vt:lpstr>
      <vt:lpstr>AKAN ŞİFRELER</vt:lpstr>
      <vt:lpstr>AKAN ŞİFRELER</vt:lpstr>
      <vt:lpstr>AKAN ŞİFRELER</vt:lpstr>
      <vt:lpstr>AKAN ŞİFRELER</vt:lpstr>
      <vt:lpstr>AKAN ŞİFRELER</vt:lpstr>
      <vt:lpstr>AKAN ŞİFRELER</vt:lpstr>
      <vt:lpstr>AKAN ŞİFRELER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Ağ ve Bilişim Güvenliği</dc:title>
  <dc:creator>ZaferS</dc:creator>
  <cp:lastModifiedBy>Zafer</cp:lastModifiedBy>
  <cp:revision>252</cp:revision>
  <dcterms:created xsi:type="dcterms:W3CDTF">2023-12-09T09:03:00Z</dcterms:created>
  <dcterms:modified xsi:type="dcterms:W3CDTF">2025-12-31T09:54:18Z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CV">
    <vt:lpwstr>88AAB547B02840A2BEF2807F71EA2523_12</vt:lpwstr>
  </property>
  <property fmtid="{D5CDD505-2E9C-101B-9397-08002B2CF9AE}" pid="4" name="KSOProductBuildVer">
    <vt:lpwstr>1055-12.2.0.22549</vt:lpwstr>
  </property>
</Properties>
</file>