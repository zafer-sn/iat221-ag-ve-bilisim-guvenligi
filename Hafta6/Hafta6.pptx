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2"/>
  </p:handoutMasterIdLst>
  <p:sldIdLst>
    <p:sldId id="257" r:id="rId3"/>
    <p:sldId id="258" r:id="rId5"/>
    <p:sldId id="259" r:id="rId6"/>
    <p:sldId id="260" r:id="rId7"/>
    <p:sldId id="262" r:id="rId8"/>
    <p:sldId id="264" r:id="rId9"/>
    <p:sldId id="266" r:id="rId10"/>
    <p:sldId id="267" r:id="rId11"/>
    <p:sldId id="268" r:id="rId12"/>
    <p:sldId id="270" r:id="rId13"/>
    <p:sldId id="271" r:id="rId14"/>
    <p:sldId id="273" r:id="rId15"/>
    <p:sldId id="275" r:id="rId16"/>
    <p:sldId id="278" r:id="rId17"/>
    <p:sldId id="279" r:id="rId18"/>
    <p:sldId id="280" r:id="rId19"/>
    <p:sldId id="281" r:id="rId20"/>
    <p:sldId id="282" r:id="rId21"/>
    <p:sldId id="283" r:id="rId22"/>
    <p:sldId id="284" r:id="rId23"/>
    <p:sldId id="285" r:id="rId24"/>
    <p:sldId id="286" r:id="rId25"/>
    <p:sldId id="287" r:id="rId26"/>
    <p:sldId id="288" r:id="rId27"/>
    <p:sldId id="290" r:id="rId28"/>
    <p:sldId id="291" r:id="rId29"/>
    <p:sldId id="293" r:id="rId30"/>
    <p:sldId id="294" r:id="rId31"/>
  </p:sldIdLst>
  <p:sldSz cx="12192000" cy="6858000"/>
  <p:notesSz cx="6858000" cy="9144000"/>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3B4B98B0-60AC-42C2-AFA5-B58CD77FA1E5}"/>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89911" autoAdjust="0"/>
  </p:normalViewPr>
  <p:slideViewPr>
    <p:cSldViewPr snapToGrid="0" showGuides="1">
      <p:cViewPr varScale="1">
        <p:scale>
          <a:sx n="87" d="100"/>
          <a:sy n="87" d="100"/>
        </p:scale>
        <p:origin x="389" y="58"/>
      </p:cViewPr>
      <p:guideLst>
        <p:guide orient="horz" pos="2160"/>
        <p:guide pos="3840"/>
        <p:guide pos="7296"/>
        <p:guide orient="horz" pos="4128"/>
      </p:guideLst>
    </p:cSldViewPr>
  </p:slideViewPr>
  <p:notesTextViewPr>
    <p:cViewPr>
      <p:scale>
        <a:sx n="3" d="2"/>
        <a:sy n="3" d="2"/>
      </p:scale>
      <p:origin x="0" y="0"/>
    </p:cViewPr>
  </p:notesTextViewPr>
  <p:notesViewPr>
    <p:cSldViewPr snapToGrid="0">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1FC8FC1-A1A8-42CB-96AC-83684F0DF578}" type="datetime1">
              <a:rPr lang="tr-TR" smtClean="0"/>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tr-TR" smtClean="0"/>
            </a:fld>
            <a:endParaRPr lang="tr-TR"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653A-FB33-4975-A611-5D53C5C337D6}" type="datetime1">
              <a:rPr lang="tr-TR" smtClean="0"/>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endParaRPr lang="tr-TR" noProof="0" dirty="0"/>
          </a:p>
          <a:p>
            <a:pPr lvl="1" rtl="0"/>
            <a:r>
              <a:rPr lang="tr-TR" noProof="0" dirty="0"/>
              <a:t>İkinci düzey</a:t>
            </a:r>
            <a:endParaRPr lang="tr-TR" noProof="0" dirty="0"/>
          </a:p>
          <a:p>
            <a:pPr lvl="2" rtl="0"/>
            <a:r>
              <a:rPr lang="tr-TR" noProof="0" dirty="0"/>
              <a:t>Üçüncü düzey</a:t>
            </a:r>
            <a:endParaRPr lang="tr-TR" noProof="0" dirty="0"/>
          </a:p>
          <a:p>
            <a:pPr lvl="3" rtl="0"/>
            <a:r>
              <a:rPr lang="tr-TR" noProof="0" dirty="0"/>
              <a:t>Dördüncü düzey</a:t>
            </a:r>
            <a:endParaRPr lang="tr-TR" noProof="0" dirty="0"/>
          </a:p>
          <a:p>
            <a:pPr lvl="4" rtl="0"/>
            <a:r>
              <a:rPr lang="tr-TR" noProof="0" dirty="0"/>
              <a:t>Beşinci düzey</a:t>
            </a:r>
            <a:endParaRPr lang="tr-TR" noProof="0" dirty="0"/>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tr-TR" noProof="0" smtClean="0"/>
            </a:fld>
            <a:endParaRPr lang="tr-TR"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fld>
            <a:endParaRPr lang="tr-T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endParaRPr lang="tr-TR" dirty="0"/>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endParaRPr lang="tr-TR" dirty="0"/>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fld>
            <a:endParaRPr lang="tr-T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hasCustomPrompt="1"/>
          </p:nvPr>
        </p:nvSpPr>
        <p:spPr>
          <a:xfrm>
            <a:off x="609600" y="2389009"/>
            <a:ext cx="11277600" cy="1470025"/>
          </a:xfrm>
        </p:spPr>
        <p:txBody>
          <a:bodyPr rtlCol="0" anchor="b"/>
          <a:lstStyle>
            <a:lvl1pPr>
              <a:defRPr sz="4400">
                <a:solidFill>
                  <a:schemeClr val="bg1"/>
                </a:solidFill>
              </a:defRPr>
            </a:lvl1pPr>
          </a:lstStyle>
          <a:p>
            <a:pPr rtl="0"/>
            <a:r>
              <a:rPr lang="tr-TR" noProof="0" smtClean="0"/>
              <a:t>Asıl başlık stili için tıklatın</a:t>
            </a:r>
            <a:endParaRPr lang="tr-TR" noProof="0" dirty="0"/>
          </a:p>
        </p:txBody>
      </p:sp>
      <p:sp>
        <p:nvSpPr>
          <p:cNvPr id="9" name="Alt Başlık 8"/>
          <p:cNvSpPr>
            <a:spLocks noGrp="1"/>
          </p:cNvSpPr>
          <p:nvPr>
            <p:ph type="subTitle" idx="1" hasCustomPrompt="1"/>
          </p:nvPr>
        </p:nvSpPr>
        <p:spPr>
          <a:xfrm>
            <a:off x="609600" y="3899938"/>
            <a:ext cx="6604000" cy="1752600"/>
          </a:xfrm>
        </p:spPr>
        <p:txBody>
          <a:bodyPr rtlCol="0"/>
          <a:lstStyle>
            <a:lvl1pPr marL="64135"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smtClean="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endParaRPr lang="tr-TR" noProof="0" dirty="0"/>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idx="1" hasCustomPrompt="1"/>
          </p:nvPr>
        </p:nvSpPr>
        <p:spPr/>
        <p:txBody>
          <a:bodyPr rtlCol="0"/>
          <a:lstStyle>
            <a:lvl1pPr>
              <a:defRPr/>
            </a:lvl1pPr>
            <a:lvl5pPr>
              <a:defRPr/>
            </a:lvl5pPr>
            <a:lvl6pPr>
              <a:defRPr/>
            </a:lvl6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smtClean="0"/>
              <a:t>Asıl başlık stili için tıklatın</a:t>
            </a:r>
            <a:endParaRPr kumimoji="0" lang="tr-TR" noProof="0" dirty="0"/>
          </a:p>
        </p:txBody>
      </p:sp>
      <p:sp>
        <p:nvSpPr>
          <p:cNvPr id="3" name="Metin Yer Tutucusu 2"/>
          <p:cNvSpPr>
            <a:spLocks noGrp="1"/>
          </p:cNvSpPr>
          <p:nvPr>
            <p:ph type="body" idx="1" hasCustomPrompt="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smtClean="0"/>
              <a:t>Asıl metin stillerini düzenle</a:t>
            </a:r>
            <a:endParaRPr lang="tr-TR" noProof="0" smtClean="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smtClean="0"/>
              <a:t>Asıl başlık stili için tıklatın</a:t>
            </a:r>
            <a:endParaRPr lang="tr-TR" noProof="0" dirty="0"/>
          </a:p>
        </p:txBody>
      </p:sp>
      <p:sp>
        <p:nvSpPr>
          <p:cNvPr id="3" name="İçerik Yer Tutucusu 2"/>
          <p:cNvSpPr>
            <a:spLocks noGrp="1"/>
          </p:cNvSpPr>
          <p:nvPr>
            <p:ph sz="half" idx="1" hasCustomPrompt="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4" name="İçerik Yer Tutucusu 3"/>
          <p:cNvSpPr>
            <a:spLocks noGrp="1"/>
          </p:cNvSpPr>
          <p:nvPr>
            <p:ph sz="half" idx="2" hasCustomPrompt="1"/>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508000" y="1143000"/>
            <a:ext cx="11176000" cy="1069848"/>
          </a:xfrm>
        </p:spPr>
        <p:txBody>
          <a:bodyPr rtlCol="0" anchor="ctr"/>
          <a:lstStyle>
            <a:lvl1pPr>
              <a:defRPr sz="4000" b="0" i="0" cap="none" baseline="0"/>
            </a:lvl1pPr>
          </a:lstStyle>
          <a:p>
            <a:pPr rtl="0"/>
            <a:r>
              <a:rPr lang="tr-TR" noProof="0" smtClean="0"/>
              <a:t>Asıl başlık stili için tıklatın</a:t>
            </a:r>
            <a:endParaRPr lang="tr-TR" noProof="0" dirty="0"/>
          </a:p>
        </p:txBody>
      </p:sp>
      <p:sp>
        <p:nvSpPr>
          <p:cNvPr id="3" name="Metin Yer Tutucusu 2"/>
          <p:cNvSpPr>
            <a:spLocks noGrp="1"/>
          </p:cNvSpPr>
          <p:nvPr>
            <p:ph type="body" idx="1" hasCustomPrompt="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endParaRPr lang="tr-TR" noProof="0" smtClean="0"/>
          </a:p>
        </p:txBody>
      </p:sp>
      <p:sp>
        <p:nvSpPr>
          <p:cNvPr id="5" name="İçerik Yer Tutucusu 4"/>
          <p:cNvSpPr>
            <a:spLocks noGrp="1"/>
          </p:cNvSpPr>
          <p:nvPr>
            <p:ph sz="quarter" idx="2" hasCustomPrompt="1"/>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4" name="Metin Yer Tutucusu 3"/>
          <p:cNvSpPr>
            <a:spLocks noGrp="1"/>
          </p:cNvSpPr>
          <p:nvPr>
            <p:ph type="body" sz="half" idx="3" hasCustomPrompt="1"/>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smtClean="0"/>
              <a:t>Asıl metin stillerini düzenle</a:t>
            </a:r>
            <a:endParaRPr lang="tr-TR" noProof="0" smtClean="0"/>
          </a:p>
        </p:txBody>
      </p:sp>
      <p:sp>
        <p:nvSpPr>
          <p:cNvPr id="6" name="İçerik Yer Tutucusu 5"/>
          <p:cNvSpPr>
            <a:spLocks noGrp="1"/>
          </p:cNvSpPr>
          <p:nvPr>
            <p:ph sz="quarter" idx="4" hasCustomPrompt="1"/>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endParaRPr lang="tr-TR" noProof="0" dirty="0"/>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609600" y="1143000"/>
            <a:ext cx="10972800" cy="1069848"/>
          </a:xfrm>
        </p:spPr>
        <p:txBody>
          <a:bodyPr rtlCol="0" anchor="ctr"/>
          <a:lstStyle>
            <a:lvl1pPr>
              <a:defRPr sz="4000">
                <a:solidFill>
                  <a:schemeClr val="tx2"/>
                </a:solidFill>
              </a:defRPr>
            </a:lvl1pPr>
          </a:lstStyle>
          <a:p>
            <a:pPr rtl="0"/>
            <a:r>
              <a:rPr lang="tr-TR" noProof="0" smtClean="0"/>
              <a:t>Asıl başlık stili için tıklatın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endParaRPr lang="tr-TR" noProof="0" dirty="0"/>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endParaRPr lang="tr-TR" noProof="0" dirty="0"/>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endParaRPr lang="tr-TR" noProof="0" dirty="0"/>
          </a:p>
        </p:txBody>
      </p:sp>
      <p:sp>
        <p:nvSpPr>
          <p:cNvPr id="4" name="İçerik Yer Tutucusu 3"/>
          <p:cNvSpPr>
            <a:spLocks noGrp="1"/>
          </p:cNvSpPr>
          <p:nvPr>
            <p:ph sz="half" idx="1" hasCustomPrompt="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3" name="Metin Yer Tutucusu 2"/>
          <p:cNvSpPr>
            <a:spLocks noGrp="1"/>
          </p:cNvSpPr>
          <p:nvPr>
            <p:ph type="body" idx="2" hasCustomPrompt="1"/>
          </p:nvPr>
        </p:nvSpPr>
        <p:spPr>
          <a:xfrm>
            <a:off x="7137995" y="2010727"/>
            <a:ext cx="4511040" cy="4580573"/>
          </a:xfrm>
        </p:spPr>
        <p:txBody>
          <a:bodyPr rtlCol="0"/>
          <a:lstStyle>
            <a:lvl1pPr marL="8890"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smtClean="0"/>
              <a:t>Asıl metin stillerini düzenle</a:t>
            </a:r>
            <a:endParaRPr lang="tr-TR" noProof="0" smtClean="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253913" y="1109161"/>
            <a:ext cx="782404" cy="4681637"/>
          </a:xfrm>
        </p:spPr>
        <p:txBody>
          <a:bodyPr vert="vert270" lIns="45720" tIns="0" rIns="45720" rtlCol="0" anchor="t"/>
          <a:lstStyle>
            <a:lvl1pPr algn="ctr">
              <a:buNone/>
              <a:defRPr sz="2000" b="1"/>
            </a:lvl1pPr>
          </a:lstStyle>
          <a:p>
            <a:pPr rtl="0"/>
            <a:r>
              <a:rPr lang="tr-TR" noProof="0" smtClean="0"/>
              <a:t>Asıl başlık stili için tıklatın</a:t>
            </a:r>
            <a:endParaRPr lang="tr-TR" noProof="0" dirty="0"/>
          </a:p>
        </p:txBody>
      </p:sp>
      <p:sp>
        <p:nvSpPr>
          <p:cNvPr id="3" name="Resim Yer Tutucusu 2" descr="Resim eklemek için boş yer tutucu. Yer tutucuya tıklayın ve eklemek istediğiniz resmi seçin"/>
          <p:cNvSpPr>
            <a:spLocks noGrp="1"/>
          </p:cNvSpPr>
          <p:nvPr>
            <p:ph type="pic" idx="1" hasCustomPrompt="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smtClean="0"/>
              <a:t>Resim eklemek için simgeyi tıklatın</a:t>
            </a:r>
            <a:endParaRPr kumimoji="0" lang="tr-TR" noProof="0" dirty="0"/>
          </a:p>
        </p:txBody>
      </p:sp>
      <p:sp>
        <p:nvSpPr>
          <p:cNvPr id="4" name="Metin Yer Tutucusu 3"/>
          <p:cNvSpPr>
            <a:spLocks noGrp="1"/>
          </p:cNvSpPr>
          <p:nvPr>
            <p:ph type="body" sz="half" idx="2" hasCustomPrompt="1"/>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smtClean="0"/>
              <a:t>Asıl metin stillerini düzenle</a:t>
            </a:r>
            <a:endParaRPr lang="tr-TR" noProof="0" smtClean="0"/>
          </a:p>
        </p:txBody>
      </p:sp>
      <p:sp>
        <p:nvSpPr>
          <p:cNvPr id="6" name="Alt Bilgi Yer Tutucusu 5"/>
          <p:cNvSpPr>
            <a:spLocks noGrp="1"/>
          </p:cNvSpPr>
          <p:nvPr>
            <p:ph type="ftr" sz="quarter" idx="11"/>
          </p:nvPr>
        </p:nvSpPr>
        <p:spPr/>
        <p:txBody>
          <a:bodyPr rtlCol="0"/>
          <a:lstStyle/>
          <a:p>
            <a:pPr rtl="0"/>
            <a:r>
              <a:rPr lang="tr-TR" noProof="0" dirty="0"/>
              <a:t>Alt bilgi ekleme</a:t>
            </a:r>
            <a:endParaRPr lang="tr-TR" noProof="0" dirty="0"/>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rtlCol="0"/>
          <a:lstStyle/>
          <a:p>
            <a:pPr rtl="0"/>
            <a:r>
              <a:rPr lang="tr-TR" noProof="0" smtClean="0"/>
              <a:t>Asıl başlık stili için tıklatın</a:t>
            </a:r>
            <a:endParaRPr lang="tr-TR" noProof="0" dirty="0"/>
          </a:p>
        </p:txBody>
      </p:sp>
      <p:sp>
        <p:nvSpPr>
          <p:cNvPr id="3" name="Dikey Metin Yer Tutucusu 2"/>
          <p:cNvSpPr>
            <a:spLocks noGrp="1"/>
          </p:cNvSpPr>
          <p:nvPr>
            <p:ph type="body" orient="vert" idx="1" hasCustomPrompt="1"/>
          </p:nvPr>
        </p:nvSpPr>
        <p:spPr/>
        <p:txBody>
          <a:bodyPr vert="eaVert" rtlCol="0"/>
          <a:lstStyle>
            <a:lvl1pPr>
              <a:defRPr/>
            </a:lvl1pPr>
            <a:lvl5pPr>
              <a:defRPr/>
            </a:lvl5pPr>
          </a:lstStyle>
          <a:p>
            <a:pPr lvl="0" rtl="0" eaLnBrk="1" latinLnBrk="0" hangingPunct="1"/>
            <a:r>
              <a:rPr lang="tr-TR" noProof="0" smtClean="0"/>
              <a:t>Asıl metin stillerini düzenle</a:t>
            </a:r>
            <a:endParaRPr lang="tr-TR" noProof="0" smtClean="0"/>
          </a:p>
          <a:p>
            <a:pPr lvl="1" rtl="0" eaLnBrk="1" latinLnBrk="0" hangingPunct="1"/>
            <a:r>
              <a:rPr lang="tr-TR" noProof="0" smtClean="0"/>
              <a:t>İkinci düzey</a:t>
            </a:r>
            <a:endParaRPr lang="tr-TR" noProof="0" smtClean="0"/>
          </a:p>
          <a:p>
            <a:pPr lvl="2" rtl="0" eaLnBrk="1" latinLnBrk="0" hangingPunct="1"/>
            <a:r>
              <a:rPr lang="tr-TR" noProof="0" smtClean="0"/>
              <a:t>Üçüncü düzey</a:t>
            </a:r>
            <a:endParaRPr lang="tr-TR" noProof="0" smtClean="0"/>
          </a:p>
          <a:p>
            <a:pPr lvl="3" rtl="0" eaLnBrk="1" latinLnBrk="0" hangingPunct="1"/>
            <a:r>
              <a:rPr lang="tr-TR" noProof="0" smtClean="0"/>
              <a:t>Dördüncü düzey</a:t>
            </a:r>
            <a:endParaRPr lang="tr-TR" noProof="0" smtClean="0"/>
          </a:p>
          <a:p>
            <a:pPr lvl="4" rtl="0" eaLnBrk="1" latinLnBrk="0" hangingPunct="1"/>
            <a:r>
              <a:rPr lang="tr-TR" noProof="0" smtClean="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endParaRPr lang="tr-TR" noProof="0" dirty="0"/>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endParaRPr lang="tr-TR" noProof="0" dirty="0"/>
          </a:p>
          <a:p>
            <a:pPr lvl="1" rtl="0" eaLnBrk="1" latinLnBrk="0" hangingPunct="1"/>
            <a:r>
              <a:rPr lang="tr-TR" noProof="0" dirty="0"/>
              <a:t>İkinci düzey</a:t>
            </a:r>
            <a:endParaRPr lang="tr-TR" noProof="0" dirty="0"/>
          </a:p>
          <a:p>
            <a:pPr lvl="2" rtl="0" eaLnBrk="1" latinLnBrk="0" hangingPunct="1"/>
            <a:r>
              <a:rPr lang="tr-TR" noProof="0" dirty="0"/>
              <a:t>Üçüncü düzey</a:t>
            </a:r>
            <a:endParaRPr lang="tr-TR" noProof="0" dirty="0"/>
          </a:p>
          <a:p>
            <a:pPr lvl="3" rtl="0" eaLnBrk="1" latinLnBrk="0" hangingPunct="1"/>
            <a:r>
              <a:rPr lang="tr-TR" noProof="0" dirty="0"/>
              <a:t>Dördüncü düzey</a:t>
            </a:r>
            <a:endParaRPr lang="tr-TR" noProof="0" dirty="0"/>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endParaRPr lang="tr-TR" noProof="0" dirty="0"/>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fld>
            <a:endParaRPr lang="tr-TR" noProof="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endParaRPr lang="tr-TR" noProof="0" dirty="0"/>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endParaRPr lang="tr-TR" noProof="0" dirty="0"/>
          </a:p>
          <a:p>
            <a:pPr lvl="1" rtl="0"/>
            <a:r>
              <a:rPr lang="tr-TR" noProof="0" dirty="0"/>
              <a:t>İkinci düzey</a:t>
            </a:r>
            <a:endParaRPr lang="tr-TR" noProof="0" dirty="0"/>
          </a:p>
          <a:p>
            <a:pPr lvl="2" rtl="0"/>
            <a:r>
              <a:rPr lang="tr-TR" noProof="0" dirty="0"/>
              <a:t>Üçüncü düzey</a:t>
            </a:r>
            <a:endParaRPr lang="tr-TR" noProof="0" dirty="0"/>
          </a:p>
          <a:p>
            <a:pPr lvl="3" rtl="0"/>
            <a:r>
              <a:rPr lang="tr-TR" noProof="0" dirty="0"/>
              <a:t>Dördüncü düzey</a:t>
            </a:r>
            <a:endParaRPr lang="tr-TR" noProof="0" dirty="0"/>
          </a:p>
          <a:p>
            <a:pPr lvl="4" rtl="0"/>
            <a:r>
              <a:rPr lang="tr-TR" noProof="0" dirty="0"/>
              <a:t>Beşinci düzey</a:t>
            </a:r>
            <a:endParaRPr lang="tr-TR" noProof="0" dirty="0"/>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endParaRPr lang="tr-TR" noProof="0" dirty="0"/>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fld>
            <a:endParaRPr lang="tr-TR" noProof="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5905" algn="l" rtl="0" eaLnBrk="1" latinLnBrk="0" hangingPunct="1">
        <a:spcBef>
          <a:spcPts val="300"/>
        </a:spcBef>
        <a:buClr>
          <a:schemeClr val="accent3">
            <a:lumMod val="75000"/>
          </a:schemeClr>
        </a:buClr>
        <a:buFont typeface="Georgia" panose="02040502050405020303"/>
        <a:buChar char="•"/>
        <a:defRPr kumimoji="0" sz="2800" kern="1200">
          <a:solidFill>
            <a:schemeClr val="tx2"/>
          </a:solidFill>
          <a:latin typeface="+mn-lt"/>
          <a:ea typeface="+mn-ea"/>
          <a:cs typeface="+mn-cs"/>
        </a:defRPr>
      </a:lvl1pPr>
      <a:lvl2pPr marL="658495" indent="-247015" algn="l" rtl="0" eaLnBrk="1" latinLnBrk="0" hangingPunct="1">
        <a:spcBef>
          <a:spcPts val="300"/>
        </a:spcBef>
        <a:buClr>
          <a:schemeClr val="accent2">
            <a:lumMod val="75000"/>
          </a:schemeClr>
        </a:buClr>
        <a:buFont typeface="Georgia" panose="02040502050405020303"/>
        <a:buChar char="▫"/>
        <a:defRPr kumimoji="0" sz="2600" kern="1200">
          <a:solidFill>
            <a:schemeClr val="tx2"/>
          </a:solidFill>
          <a:latin typeface="+mn-lt"/>
          <a:ea typeface="+mn-ea"/>
          <a:cs typeface="+mn-cs"/>
        </a:defRPr>
      </a:lvl2pPr>
      <a:lvl3pPr marL="923290" indent="-219710"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830" indent="-201295"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90015"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090"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30095"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smtClean="0"/>
              <a:t>Ağ ve Bilişim Güvenliği</a:t>
            </a:r>
            <a:endParaRPr lang="tr-TR" dirty="0"/>
          </a:p>
        </p:txBody>
      </p:sp>
      <p:sp>
        <p:nvSpPr>
          <p:cNvPr id="3" name="Alt Başlık 2"/>
          <p:cNvSpPr>
            <a:spLocks noGrp="1"/>
          </p:cNvSpPr>
          <p:nvPr>
            <p:ph type="subTitle" idx="1"/>
          </p:nvPr>
        </p:nvSpPr>
        <p:spPr/>
        <p:txBody>
          <a:bodyPr rtlCol="0"/>
          <a:lstStyle/>
          <a:p>
            <a:pPr rtl="0"/>
            <a:r>
              <a:rPr lang="tr-TR" dirty="0" err="1" smtClean="0"/>
              <a:t>Öğr</a:t>
            </a:r>
            <a:r>
              <a:rPr lang="tr-TR" dirty="0" smtClean="0"/>
              <a:t>. Gör. Zafer SERİN</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SOSYAL MÜHENDİSLİK ALANLARI</a:t>
            </a:r>
            <a:endParaRPr lang="tr-TR" dirty="0"/>
          </a:p>
        </p:txBody>
      </p:sp>
      <p:sp>
        <p:nvSpPr>
          <p:cNvPr id="3" name="İçerik Yer Tutucusu 2"/>
          <p:cNvSpPr>
            <a:spLocks noGrp="1"/>
          </p:cNvSpPr>
          <p:nvPr>
            <p:ph idx="1"/>
          </p:nvPr>
        </p:nvSpPr>
        <p:spPr/>
        <p:txBody>
          <a:bodyPr rtlCol="0"/>
          <a:lstStyle/>
          <a:p>
            <a:pPr rtl="0"/>
            <a:r>
              <a:rPr lang="tr-TR" dirty="0" err="1" smtClean="0"/>
              <a:t>Phishing</a:t>
            </a:r>
            <a:r>
              <a:rPr lang="tr-TR" dirty="0" smtClean="0"/>
              <a:t>(</a:t>
            </a:r>
            <a:r>
              <a:rPr lang="tr-TR" dirty="0" err="1" smtClean="0"/>
              <a:t>Oltalama</a:t>
            </a:r>
            <a:r>
              <a:rPr lang="tr-TR" dirty="0" smtClean="0"/>
              <a:t>)</a:t>
            </a:r>
            <a:endParaRPr lang="tr-TR" dirty="0" smtClean="0"/>
          </a:p>
          <a:p>
            <a:pPr rtl="0"/>
            <a:r>
              <a:rPr lang="tr-TR" dirty="0" err="1" smtClean="0"/>
              <a:t>Spear</a:t>
            </a:r>
            <a:r>
              <a:rPr lang="tr-TR" dirty="0" smtClean="0"/>
              <a:t> </a:t>
            </a:r>
            <a:r>
              <a:rPr lang="tr-TR" dirty="0" err="1" smtClean="0"/>
              <a:t>Phishing</a:t>
            </a:r>
            <a:endParaRPr lang="tr-TR" dirty="0" smtClean="0"/>
          </a:p>
          <a:p>
            <a:pPr rtl="0"/>
            <a:r>
              <a:rPr lang="tr-TR" dirty="0" err="1" smtClean="0"/>
              <a:t>Shoulder</a:t>
            </a:r>
            <a:r>
              <a:rPr lang="tr-TR" dirty="0" smtClean="0"/>
              <a:t> </a:t>
            </a:r>
            <a:r>
              <a:rPr lang="tr-TR" dirty="0" err="1" smtClean="0"/>
              <a:t>Surfing</a:t>
            </a:r>
            <a:r>
              <a:rPr lang="tr-TR" dirty="0" smtClean="0"/>
              <a:t>(Omuz Sörfü)</a:t>
            </a:r>
            <a:endParaRPr lang="tr-TR" dirty="0" smtClean="0"/>
          </a:p>
          <a:p>
            <a:pPr rtl="0"/>
            <a:r>
              <a:rPr lang="tr-TR" dirty="0" err="1" smtClean="0"/>
              <a:t>Dumpster</a:t>
            </a:r>
            <a:r>
              <a:rPr lang="tr-TR" dirty="0" smtClean="0"/>
              <a:t> </a:t>
            </a:r>
            <a:r>
              <a:rPr lang="tr-TR" dirty="0" err="1" smtClean="0"/>
              <a:t>Diving</a:t>
            </a:r>
            <a:r>
              <a:rPr lang="tr-TR" dirty="0" smtClean="0"/>
              <a:t>(Çöp Karıştırma)</a:t>
            </a:r>
            <a:endParaRPr lang="tr-TR" dirty="0" smtClean="0"/>
          </a:p>
          <a:p>
            <a:pPr rtl="0"/>
            <a:r>
              <a:rPr lang="tr-TR" dirty="0" smtClean="0"/>
              <a:t>Role </a:t>
            </a:r>
            <a:r>
              <a:rPr lang="tr-TR" dirty="0" err="1" smtClean="0"/>
              <a:t>Playing</a:t>
            </a:r>
            <a:r>
              <a:rPr lang="tr-TR" dirty="0" smtClean="0"/>
              <a:t>(Rol Yapma)</a:t>
            </a:r>
            <a:endParaRPr lang="tr-TR" dirty="0" smtClean="0"/>
          </a:p>
          <a:p>
            <a:pPr rtl="0"/>
            <a:r>
              <a:rPr lang="tr-TR" dirty="0" err="1" smtClean="0"/>
              <a:t>Pretexting</a:t>
            </a:r>
            <a:r>
              <a:rPr lang="tr-TR" dirty="0" smtClean="0"/>
              <a:t>(Bahane Uydurma)</a:t>
            </a:r>
            <a:endParaRPr lang="tr-TR" dirty="0" smtClean="0"/>
          </a:p>
          <a:p>
            <a:pPr rtl="0"/>
            <a:r>
              <a:rPr lang="tr-TR" dirty="0" err="1" smtClean="0"/>
              <a:t>Baiting</a:t>
            </a:r>
            <a:r>
              <a:rPr lang="tr-TR" dirty="0" smtClean="0"/>
              <a:t>(Yemleme)</a:t>
            </a:r>
            <a:endParaRPr lang="tr-TR" dirty="0" smtClean="0"/>
          </a:p>
          <a:p>
            <a:pPr rtl="0"/>
            <a:r>
              <a:rPr lang="tr-TR" dirty="0" err="1" smtClean="0"/>
              <a:t>Tailgating</a:t>
            </a:r>
            <a:r>
              <a:rPr lang="tr-TR" dirty="0" smtClean="0"/>
              <a:t>(Kuyrukta Sürünme)</a:t>
            </a:r>
            <a:endParaRPr lang="tr-TR" dirty="0" smtClean="0"/>
          </a:p>
          <a:p>
            <a:pPr rtl="0"/>
            <a:r>
              <a:rPr lang="tr-TR" dirty="0" err="1" smtClean="0"/>
              <a:t>Quid</a:t>
            </a:r>
            <a:r>
              <a:rPr lang="tr-TR" dirty="0" smtClean="0"/>
              <a:t> Pro </a:t>
            </a:r>
            <a:r>
              <a:rPr lang="tr-TR" dirty="0" err="1" smtClean="0"/>
              <a:t>Quo</a:t>
            </a:r>
            <a:r>
              <a:rPr lang="tr-TR" dirty="0" smtClean="0"/>
              <a:t>(Karşılık Bekleme)</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SOSYAL MÜHENDİSLİK ALANLARI</a:t>
            </a:r>
            <a:endParaRPr lang="tr-TR" dirty="0"/>
          </a:p>
        </p:txBody>
      </p:sp>
      <p:sp>
        <p:nvSpPr>
          <p:cNvPr id="3" name="İçerik Yer Tutucusu 2"/>
          <p:cNvSpPr>
            <a:spLocks noGrp="1"/>
          </p:cNvSpPr>
          <p:nvPr>
            <p:ph idx="1"/>
          </p:nvPr>
        </p:nvSpPr>
        <p:spPr/>
        <p:txBody>
          <a:bodyPr rtlCol="0"/>
          <a:lstStyle/>
          <a:p>
            <a:pPr rtl="0"/>
            <a:r>
              <a:rPr lang="tr-TR" dirty="0" err="1" smtClean="0"/>
              <a:t>Impersonation</a:t>
            </a:r>
            <a:r>
              <a:rPr lang="tr-TR" dirty="0" smtClean="0"/>
              <a:t>(Kimlik Taklidi)</a:t>
            </a:r>
            <a:endParaRPr lang="tr-TR" dirty="0" smtClean="0"/>
          </a:p>
          <a:p>
            <a:pPr rtl="0"/>
            <a:r>
              <a:rPr lang="tr-TR" dirty="0" err="1" smtClean="0"/>
              <a:t>Pharming</a:t>
            </a:r>
            <a:r>
              <a:rPr lang="tr-TR" dirty="0" smtClean="0"/>
              <a:t>(Çiftçilik)</a:t>
            </a:r>
            <a:endParaRPr lang="tr-TR" dirty="0" smtClean="0"/>
          </a:p>
          <a:p>
            <a:pPr rtl="0"/>
            <a:r>
              <a:rPr lang="tr-TR" dirty="0" err="1" smtClean="0"/>
              <a:t>Vishing</a:t>
            </a:r>
            <a:r>
              <a:rPr lang="tr-TR" dirty="0" smtClean="0"/>
              <a:t>(Sesli Fishing)</a:t>
            </a:r>
            <a:endParaRPr lang="tr-TR" dirty="0" smtClean="0"/>
          </a:p>
          <a:p>
            <a:pPr rtl="0"/>
            <a:r>
              <a:rPr lang="tr-TR" dirty="0" err="1" smtClean="0"/>
              <a:t>Water</a:t>
            </a:r>
            <a:r>
              <a:rPr lang="tr-TR" dirty="0" smtClean="0"/>
              <a:t> </a:t>
            </a:r>
            <a:r>
              <a:rPr lang="tr-TR" dirty="0" err="1" smtClean="0"/>
              <a:t>Holing</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PHISHING(OLTALAMA)</a:t>
            </a:r>
            <a:endParaRPr lang="tr-TR" dirty="0"/>
          </a:p>
        </p:txBody>
      </p:sp>
      <p:sp>
        <p:nvSpPr>
          <p:cNvPr id="3" name="İçerik Yer Tutucusu 2"/>
          <p:cNvSpPr>
            <a:spLocks noGrp="1"/>
          </p:cNvSpPr>
          <p:nvPr>
            <p:ph idx="1"/>
          </p:nvPr>
        </p:nvSpPr>
        <p:spPr/>
        <p:txBody>
          <a:bodyPr rtlCol="0"/>
          <a:lstStyle/>
          <a:p>
            <a:pPr rtl="0"/>
            <a:r>
              <a:rPr lang="tr-TR" dirty="0" smtClean="0"/>
              <a:t>Saldırganlar, sahte e-postalar, web siteleri veya mesajlar kullanarak kullanıcıları kişisel bilgileri ifşa etmeye veya kötü amaçlı yazılımları indirmeye ikna etmeye çalışır.</a:t>
            </a:r>
            <a:endParaRPr lang="tr-TR" dirty="0" smtClean="0"/>
          </a:p>
          <a:p>
            <a:pPr rtl="0"/>
            <a:r>
              <a:rPr lang="tr-TR" dirty="0" smtClean="0"/>
              <a:t>Örnek: Kullanıcılara sahte bir banka e-postası göndererek, hesap bilgilerini paylaşmalarını isteyen bir </a:t>
            </a:r>
            <a:r>
              <a:rPr lang="tr-TR" dirty="0" err="1" smtClean="0"/>
              <a:t>phishing</a:t>
            </a:r>
            <a:r>
              <a:rPr lang="tr-TR" dirty="0" smtClean="0"/>
              <a:t> saldırısı.</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SPEAR PHISHING</a:t>
            </a:r>
            <a:endParaRPr lang="tr-TR" dirty="0"/>
          </a:p>
        </p:txBody>
      </p:sp>
      <p:sp>
        <p:nvSpPr>
          <p:cNvPr id="3" name="İçerik Yer Tutucusu 2"/>
          <p:cNvSpPr>
            <a:spLocks noGrp="1"/>
          </p:cNvSpPr>
          <p:nvPr>
            <p:ph idx="1"/>
          </p:nvPr>
        </p:nvSpPr>
        <p:spPr/>
        <p:txBody>
          <a:bodyPr rtlCol="0"/>
          <a:lstStyle/>
          <a:p>
            <a:pPr rtl="0"/>
            <a:r>
              <a:rPr lang="tr-TR" dirty="0" err="1" smtClean="0"/>
              <a:t>Phishing’in</a:t>
            </a:r>
            <a:r>
              <a:rPr lang="tr-TR" dirty="0" smtClean="0"/>
              <a:t> özelleştirilmiş bir türüdür; saldırganlar belirli kişileri hedef alarak daha inandırıcı mesajlar gönderir.</a:t>
            </a:r>
            <a:endParaRPr lang="tr-TR" dirty="0" smtClean="0"/>
          </a:p>
          <a:p>
            <a:pPr rtl="0"/>
            <a:r>
              <a:rPr lang="tr-TR" dirty="0" smtClean="0"/>
              <a:t>Örnek: CEO’yu taklit eden bir e-posta göndererek finans müdürünü para transferi yapmaya ikna etmeye çalışan bir </a:t>
            </a:r>
            <a:r>
              <a:rPr lang="tr-TR" dirty="0" err="1" smtClean="0"/>
              <a:t>spear</a:t>
            </a:r>
            <a:r>
              <a:rPr lang="tr-TR" dirty="0" smtClean="0"/>
              <a:t> </a:t>
            </a:r>
            <a:r>
              <a:rPr lang="tr-TR" dirty="0" err="1" smtClean="0"/>
              <a:t>phishing</a:t>
            </a:r>
            <a:r>
              <a:rPr lang="tr-TR" dirty="0" smtClean="0"/>
              <a:t> saldırısı.</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SHOULDER SURFING(OMUZ SÖRFÜ)</a:t>
            </a:r>
            <a:endParaRPr lang="tr-TR" dirty="0"/>
          </a:p>
        </p:txBody>
      </p:sp>
      <p:sp>
        <p:nvSpPr>
          <p:cNvPr id="3" name="İçerik Yer Tutucusu 2"/>
          <p:cNvSpPr>
            <a:spLocks noGrp="1"/>
          </p:cNvSpPr>
          <p:nvPr>
            <p:ph idx="1"/>
          </p:nvPr>
        </p:nvSpPr>
        <p:spPr/>
        <p:txBody>
          <a:bodyPr rtlCol="0"/>
          <a:lstStyle/>
          <a:p>
            <a:pPr rtl="0"/>
            <a:r>
              <a:rPr lang="tr-TR" dirty="0" smtClean="0"/>
              <a:t>Saldırganlar, birisinin bilgisayar ekranını veya klavyesini izleyerek hassas bilgilere erişim sağlamaya çalışır.</a:t>
            </a:r>
            <a:endParaRPr lang="tr-TR" dirty="0" smtClean="0"/>
          </a:p>
          <a:p>
            <a:pPr rtl="0"/>
            <a:r>
              <a:rPr lang="tr-TR" dirty="0" smtClean="0"/>
              <a:t>Örnek: Halka açık bir </a:t>
            </a:r>
            <a:r>
              <a:rPr lang="tr-TR" dirty="0" err="1" smtClean="0"/>
              <a:t>Wi</a:t>
            </a:r>
            <a:r>
              <a:rPr lang="tr-TR" dirty="0" smtClean="0"/>
              <a:t>-Fi ağına bağlıyken, yan masada oturan kişinin şifresini izlemek.</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DUMPSTER DIVING(ÇÖP KARIŞTIRMA)</a:t>
            </a:r>
            <a:endParaRPr lang="tr-TR" dirty="0"/>
          </a:p>
        </p:txBody>
      </p:sp>
      <p:sp>
        <p:nvSpPr>
          <p:cNvPr id="3" name="İçerik Yer Tutucusu 2"/>
          <p:cNvSpPr>
            <a:spLocks noGrp="1"/>
          </p:cNvSpPr>
          <p:nvPr>
            <p:ph idx="1"/>
          </p:nvPr>
        </p:nvSpPr>
        <p:spPr/>
        <p:txBody>
          <a:bodyPr rtlCol="0"/>
          <a:lstStyle/>
          <a:p>
            <a:pPr rtl="0"/>
            <a:r>
              <a:rPr lang="tr-TR" dirty="0" smtClean="0"/>
              <a:t>Saldırganlar, kurumların veya bireylerin çöplerini karıştırarak hassas bilgilere ulaşmaya çalışır.</a:t>
            </a:r>
            <a:endParaRPr lang="tr-TR" dirty="0" smtClean="0"/>
          </a:p>
          <a:p>
            <a:pPr rtl="0"/>
            <a:r>
              <a:rPr lang="tr-TR" dirty="0" smtClean="0"/>
              <a:t>Örnek: İşyerinin atıklarını karıştırarak, bilgisayarların atılan belgeleri üzerinden önemli bilgilere erişmeye çalışan bir saldırgan.</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ROLE PLAYING(ROL YAPMA)</a:t>
            </a:r>
            <a:endParaRPr lang="tr-TR" dirty="0"/>
          </a:p>
        </p:txBody>
      </p:sp>
      <p:sp>
        <p:nvSpPr>
          <p:cNvPr id="3" name="İçerik Yer Tutucusu 2"/>
          <p:cNvSpPr>
            <a:spLocks noGrp="1"/>
          </p:cNvSpPr>
          <p:nvPr>
            <p:ph idx="1"/>
          </p:nvPr>
        </p:nvSpPr>
        <p:spPr/>
        <p:txBody>
          <a:bodyPr rtlCol="0"/>
          <a:lstStyle/>
          <a:p>
            <a:pPr rtl="0"/>
            <a:r>
              <a:rPr lang="tr-TR" dirty="0" smtClean="0"/>
              <a:t>Saldırganlar, güven kazanmak veya inandırıcılıklarını artırmak için sahte bir rol üstlenirler.</a:t>
            </a:r>
            <a:endParaRPr lang="tr-TR" dirty="0" smtClean="0"/>
          </a:p>
          <a:p>
            <a:pPr rtl="0"/>
            <a:r>
              <a:rPr lang="tr-TR" dirty="0" smtClean="0"/>
              <a:t>Örnek: Teknik destek uzmanı gibi davranarak, kullanıcılardan uzaktan bilgisayarlarına erişim izni talep eden bir role </a:t>
            </a:r>
            <a:r>
              <a:rPr lang="tr-TR" dirty="0" err="1" smtClean="0"/>
              <a:t>playing</a:t>
            </a:r>
            <a:r>
              <a:rPr lang="tr-TR" dirty="0" smtClean="0"/>
              <a:t> saldırısı.</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PRETEXTING(BAHANE UYDURMA)</a:t>
            </a:r>
            <a:endParaRPr lang="tr-TR" dirty="0"/>
          </a:p>
        </p:txBody>
      </p:sp>
      <p:sp>
        <p:nvSpPr>
          <p:cNvPr id="3" name="İçerik Yer Tutucusu 2"/>
          <p:cNvSpPr>
            <a:spLocks noGrp="1"/>
          </p:cNvSpPr>
          <p:nvPr>
            <p:ph idx="1"/>
          </p:nvPr>
        </p:nvSpPr>
        <p:spPr/>
        <p:txBody>
          <a:bodyPr rtlCol="0"/>
          <a:lstStyle/>
          <a:p>
            <a:pPr rtl="0"/>
            <a:r>
              <a:rPr lang="tr-TR" dirty="0" smtClean="0"/>
              <a:t>Saldırganlar, inandırıcı bir bahane uydurarak kişilerden bilgi veya yardım talep ederler.</a:t>
            </a:r>
            <a:endParaRPr lang="tr-TR" dirty="0" smtClean="0"/>
          </a:p>
          <a:p>
            <a:pPr rtl="0"/>
            <a:r>
              <a:rPr lang="tr-TR" dirty="0" smtClean="0"/>
              <a:t>Örnek: Sahte bir müşteri temsilcisi gibi davranarak, bir kişinin banka hesabı bilgilerini çalmaya çalışan bir </a:t>
            </a:r>
            <a:r>
              <a:rPr lang="tr-TR" dirty="0" err="1" smtClean="0"/>
              <a:t>pretexting</a:t>
            </a:r>
            <a:r>
              <a:rPr lang="tr-TR" dirty="0" smtClean="0"/>
              <a:t> saldırısı.</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BAITING(YEMLEME)</a:t>
            </a:r>
            <a:endParaRPr lang="tr-TR" dirty="0"/>
          </a:p>
        </p:txBody>
      </p:sp>
      <p:sp>
        <p:nvSpPr>
          <p:cNvPr id="3" name="İçerik Yer Tutucusu 2"/>
          <p:cNvSpPr>
            <a:spLocks noGrp="1"/>
          </p:cNvSpPr>
          <p:nvPr>
            <p:ph idx="1"/>
          </p:nvPr>
        </p:nvSpPr>
        <p:spPr/>
        <p:txBody>
          <a:bodyPr rtlCol="0"/>
          <a:lstStyle/>
          <a:p>
            <a:pPr rtl="0"/>
            <a:r>
              <a:rPr lang="tr-TR" dirty="0" smtClean="0"/>
              <a:t>Saldırganlar, kullanıcıları kötü amaçlı yazılım içeren çekici dosyalar veya cihazlarla cezbetmeye çalışır.</a:t>
            </a:r>
            <a:endParaRPr lang="tr-TR" dirty="0" smtClean="0"/>
          </a:p>
          <a:p>
            <a:pPr rtl="0"/>
            <a:r>
              <a:rPr lang="tr-TR" dirty="0" smtClean="0"/>
              <a:t>Örnek: USB belleği park halindeki bir araçta bırakarak, bulan kişinin bilgisayarına kötü amaçlı yazılım bulaştırmaya çalışan bir </a:t>
            </a:r>
            <a:r>
              <a:rPr lang="tr-TR" dirty="0" err="1" smtClean="0"/>
              <a:t>baiting</a:t>
            </a:r>
            <a:r>
              <a:rPr lang="tr-TR" dirty="0" smtClean="0"/>
              <a:t> saldırısı.</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TAILGATING(KUYRUKTA SÜRÜNME)</a:t>
            </a:r>
            <a:endParaRPr lang="tr-TR" dirty="0"/>
          </a:p>
        </p:txBody>
      </p:sp>
      <p:sp>
        <p:nvSpPr>
          <p:cNvPr id="3" name="İçerik Yer Tutucusu 2"/>
          <p:cNvSpPr>
            <a:spLocks noGrp="1"/>
          </p:cNvSpPr>
          <p:nvPr>
            <p:ph idx="1"/>
          </p:nvPr>
        </p:nvSpPr>
        <p:spPr/>
        <p:txBody>
          <a:bodyPr rtlCol="0"/>
          <a:lstStyle/>
          <a:p>
            <a:pPr rtl="0"/>
            <a:r>
              <a:rPr lang="tr-TR" dirty="0" smtClean="0"/>
              <a:t>Saldırganlar, birisinin yetkili bir alana girmesine izin vermesini bekleyerek güvenlik önlemlerini atlarlar.</a:t>
            </a:r>
            <a:endParaRPr lang="tr-TR" dirty="0" smtClean="0"/>
          </a:p>
          <a:p>
            <a:pPr rtl="0"/>
            <a:r>
              <a:rPr lang="tr-TR" dirty="0" smtClean="0"/>
              <a:t>Örnek: Bir işyerinin girişinde başkasının arkasından girerek içeri sızma girişimi.</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QUID PRO QUO(KARŞILIK BEKLEME)</a:t>
            </a:r>
            <a:endParaRPr lang="tr-TR" dirty="0"/>
          </a:p>
        </p:txBody>
      </p:sp>
      <p:sp>
        <p:nvSpPr>
          <p:cNvPr id="3" name="İçerik Yer Tutucusu 2"/>
          <p:cNvSpPr>
            <a:spLocks noGrp="1"/>
          </p:cNvSpPr>
          <p:nvPr>
            <p:ph idx="1"/>
          </p:nvPr>
        </p:nvSpPr>
        <p:spPr/>
        <p:txBody>
          <a:bodyPr rtlCol="0"/>
          <a:lstStyle/>
          <a:p>
            <a:pPr rtl="0"/>
            <a:r>
              <a:rPr lang="tr-TR" dirty="0" smtClean="0"/>
              <a:t>Saldırganlar, kullanıcıları bir hizmet sunmaya veya yardım etmeye söz vererek bilgi elde etmeye çalışır.</a:t>
            </a:r>
            <a:endParaRPr lang="tr-TR" dirty="0" smtClean="0"/>
          </a:p>
          <a:p>
            <a:pPr rtl="0"/>
            <a:r>
              <a:rPr lang="tr-TR" dirty="0" smtClean="0"/>
              <a:t>Örnek: Sahte bir teknik destek uzmanı olarak arayan saldırgan, bilgisayarın şifresini öğrenmek için yardım isteyebilir.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IMPERSONATION(KİMLİK TAKLİDİ)</a:t>
            </a:r>
            <a:endParaRPr lang="tr-TR" dirty="0"/>
          </a:p>
        </p:txBody>
      </p:sp>
      <p:sp>
        <p:nvSpPr>
          <p:cNvPr id="3" name="İçerik Yer Tutucusu 2"/>
          <p:cNvSpPr>
            <a:spLocks noGrp="1"/>
          </p:cNvSpPr>
          <p:nvPr>
            <p:ph idx="1"/>
          </p:nvPr>
        </p:nvSpPr>
        <p:spPr/>
        <p:txBody>
          <a:bodyPr rtlCol="0"/>
          <a:lstStyle/>
          <a:p>
            <a:pPr rtl="0"/>
            <a:r>
              <a:rPr lang="tr-TR" dirty="0" smtClean="0"/>
              <a:t>Saldırganlar, başkasının kimliğini taklit ederek güven kazanmaya çalışır.</a:t>
            </a:r>
            <a:endParaRPr lang="tr-TR" dirty="0" smtClean="0"/>
          </a:p>
          <a:p>
            <a:pPr rtl="0"/>
            <a:r>
              <a:rPr lang="tr-TR" dirty="0" smtClean="0"/>
              <a:t>Örnek: Birinin telefon numarasını taklit ederek, sahte bir kimlikle banka işlemi yapmaya çalışan bir </a:t>
            </a:r>
            <a:r>
              <a:rPr lang="tr-TR" dirty="0" err="1" smtClean="0"/>
              <a:t>impersonation</a:t>
            </a:r>
            <a:r>
              <a:rPr lang="tr-TR" dirty="0" smtClean="0"/>
              <a:t> saldırısı.</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PHARMING(ÇİFTÇİLİK)</a:t>
            </a:r>
            <a:endParaRPr lang="tr-TR" dirty="0"/>
          </a:p>
        </p:txBody>
      </p:sp>
      <p:sp>
        <p:nvSpPr>
          <p:cNvPr id="3" name="İçerik Yer Tutucusu 2"/>
          <p:cNvSpPr>
            <a:spLocks noGrp="1"/>
          </p:cNvSpPr>
          <p:nvPr>
            <p:ph idx="1"/>
          </p:nvPr>
        </p:nvSpPr>
        <p:spPr/>
        <p:txBody>
          <a:bodyPr rtlCol="0"/>
          <a:lstStyle/>
          <a:p>
            <a:pPr rtl="0"/>
            <a:r>
              <a:rPr lang="tr-TR" dirty="0" smtClean="0"/>
              <a:t>Saldırganlar, kullanıcıları sahte web sitelerine yönlendirerek kişisel bilgilerini toplamaya çalışır.</a:t>
            </a:r>
            <a:endParaRPr lang="tr-TR" dirty="0" smtClean="0"/>
          </a:p>
          <a:p>
            <a:pPr rtl="0"/>
            <a:r>
              <a:rPr lang="tr-TR" dirty="0" smtClean="0"/>
              <a:t>Örnek: Kullanıcıları sahte bir banka web sitesine yönlendiren ve giriş bilgilerini çalmaya çalışan bir </a:t>
            </a:r>
            <a:r>
              <a:rPr lang="tr-TR" dirty="0" err="1" smtClean="0"/>
              <a:t>pharming</a:t>
            </a:r>
            <a:r>
              <a:rPr lang="tr-TR" dirty="0" smtClean="0"/>
              <a:t> saldırısı.</a:t>
            </a:r>
            <a:endParaRPr lang="tr-TR" dirty="0" smtClean="0"/>
          </a:p>
          <a:p>
            <a:pPr rtl="0"/>
            <a:r>
              <a:rPr lang="tr-TR" dirty="0" err="1" smtClean="0"/>
              <a:t>Phishing</a:t>
            </a:r>
            <a:r>
              <a:rPr lang="tr-TR" dirty="0" smtClean="0"/>
              <a:t> saldırısının daha geniş çaplısı olarak düşünülebilir.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VISHING(SESLİ FISHING)</a:t>
            </a:r>
            <a:endParaRPr lang="tr-TR" dirty="0"/>
          </a:p>
        </p:txBody>
      </p:sp>
      <p:sp>
        <p:nvSpPr>
          <p:cNvPr id="3" name="İçerik Yer Tutucusu 2"/>
          <p:cNvSpPr>
            <a:spLocks noGrp="1"/>
          </p:cNvSpPr>
          <p:nvPr>
            <p:ph idx="1"/>
          </p:nvPr>
        </p:nvSpPr>
        <p:spPr/>
        <p:txBody>
          <a:bodyPr rtlCol="0"/>
          <a:lstStyle/>
          <a:p>
            <a:pPr rtl="0"/>
            <a:r>
              <a:rPr lang="tr-TR" dirty="0" smtClean="0"/>
              <a:t>Saldırganlar, telefonla arayarak kurbanları kişisel bilgileri veya finansal bilgileri vermek konusunda kandırmaya çalışır.</a:t>
            </a:r>
            <a:endParaRPr lang="tr-TR" dirty="0" smtClean="0"/>
          </a:p>
          <a:p>
            <a:pPr rtl="0"/>
            <a:r>
              <a:rPr lang="tr-TR" dirty="0" smtClean="0"/>
              <a:t>Örnek: Sahte bir banka temsilcisi olarak arayan saldırgan, müşterilerden hesap bilgilerini vermesini isteyebilir.</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WATER HOLING</a:t>
            </a:r>
            <a:endParaRPr lang="tr-TR" dirty="0"/>
          </a:p>
        </p:txBody>
      </p:sp>
      <p:sp>
        <p:nvSpPr>
          <p:cNvPr id="3" name="İçerik Yer Tutucusu 2"/>
          <p:cNvSpPr>
            <a:spLocks noGrp="1"/>
          </p:cNvSpPr>
          <p:nvPr>
            <p:ph idx="1"/>
          </p:nvPr>
        </p:nvSpPr>
        <p:spPr/>
        <p:txBody>
          <a:bodyPr rtlCol="0"/>
          <a:lstStyle/>
          <a:p>
            <a:pPr rtl="0"/>
            <a:r>
              <a:rPr lang="tr-TR" dirty="0" smtClean="0"/>
              <a:t>Saldırganlar, kurbanlarının sık kullandığı web sitelerini hedef alarak kötü amaçlı yazılım veya </a:t>
            </a:r>
            <a:r>
              <a:rPr lang="tr-TR" dirty="0" err="1" smtClean="0"/>
              <a:t>phishing</a:t>
            </a:r>
            <a:r>
              <a:rPr lang="tr-TR" dirty="0" smtClean="0"/>
              <a:t> kampanyaları düzenler.</a:t>
            </a:r>
            <a:endParaRPr lang="tr-TR" dirty="0" smtClean="0"/>
          </a:p>
          <a:p>
            <a:pPr rtl="0"/>
            <a:r>
              <a:rPr lang="tr-TR" dirty="0" smtClean="0"/>
              <a:t>Örnek: Bir sektörün ilgi çekici bir web sitesini </a:t>
            </a:r>
            <a:r>
              <a:rPr lang="tr-TR" dirty="0" err="1" smtClean="0"/>
              <a:t>hackleyen</a:t>
            </a:r>
            <a:r>
              <a:rPr lang="tr-TR" dirty="0" smtClean="0"/>
              <a:t> ve ziyaretçilerini kötü amaçlı yazılım ile </a:t>
            </a:r>
            <a:r>
              <a:rPr lang="tr-TR" dirty="0" err="1" smtClean="0"/>
              <a:t>enfekte</a:t>
            </a:r>
            <a:r>
              <a:rPr lang="tr-TR" dirty="0" smtClean="0"/>
              <a:t> etmeye çalışan bir </a:t>
            </a:r>
            <a:r>
              <a:rPr lang="tr-TR" dirty="0" err="1" smtClean="0"/>
              <a:t>water</a:t>
            </a:r>
            <a:r>
              <a:rPr lang="tr-TR" dirty="0" smtClean="0"/>
              <a:t> </a:t>
            </a:r>
            <a:r>
              <a:rPr lang="tr-TR" dirty="0" err="1" smtClean="0"/>
              <a:t>holing</a:t>
            </a:r>
            <a:r>
              <a:rPr lang="tr-TR" dirty="0" smtClean="0"/>
              <a:t> saldırısı.</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HACKER METODOLOJİSİ</a:t>
            </a:r>
            <a:endParaRPr lang="tr-TR" dirty="0"/>
          </a:p>
        </p:txBody>
      </p:sp>
      <p:sp>
        <p:nvSpPr>
          <p:cNvPr id="3" name="İçerik Yer Tutucusu 2"/>
          <p:cNvSpPr>
            <a:spLocks noGrp="1"/>
          </p:cNvSpPr>
          <p:nvPr>
            <p:ph idx="1"/>
          </p:nvPr>
        </p:nvSpPr>
        <p:spPr/>
        <p:txBody>
          <a:bodyPr rtlCol="0"/>
          <a:lstStyle/>
          <a:p>
            <a:pPr marL="624205" indent="-514350" rtl="0">
              <a:buFont typeface="+mj-lt"/>
              <a:buAutoNum type="arabicPeriod"/>
            </a:pPr>
            <a:r>
              <a:rPr lang="tr-TR" dirty="0" err="1" smtClean="0"/>
              <a:t>Reconnaissance</a:t>
            </a:r>
            <a:r>
              <a:rPr lang="tr-TR" dirty="0" smtClean="0"/>
              <a:t>(Keşif)</a:t>
            </a:r>
            <a:endParaRPr lang="tr-TR" dirty="0" smtClean="0"/>
          </a:p>
          <a:p>
            <a:pPr marL="624205" indent="-514350" rtl="0">
              <a:buFont typeface="+mj-lt"/>
              <a:buAutoNum type="arabicPeriod"/>
            </a:pPr>
            <a:r>
              <a:rPr lang="tr-TR" dirty="0" err="1" smtClean="0"/>
              <a:t>Scanning</a:t>
            </a:r>
            <a:r>
              <a:rPr lang="tr-TR" dirty="0" smtClean="0"/>
              <a:t>(Tarama)</a:t>
            </a:r>
            <a:endParaRPr lang="tr-TR" dirty="0" smtClean="0"/>
          </a:p>
          <a:p>
            <a:pPr marL="624205" indent="-514350" rtl="0">
              <a:buFont typeface="+mj-lt"/>
              <a:buAutoNum type="arabicPeriod"/>
            </a:pPr>
            <a:r>
              <a:rPr lang="tr-TR" dirty="0" err="1" smtClean="0"/>
              <a:t>Gaining</a:t>
            </a:r>
            <a:r>
              <a:rPr lang="tr-TR" dirty="0" smtClean="0"/>
              <a:t> Access(Erişim elde etme)</a:t>
            </a:r>
            <a:endParaRPr lang="tr-TR" dirty="0" smtClean="0"/>
          </a:p>
          <a:p>
            <a:pPr marL="624205" indent="-514350" rtl="0">
              <a:buFont typeface="+mj-lt"/>
              <a:buAutoNum type="arabicPeriod"/>
            </a:pPr>
            <a:r>
              <a:rPr lang="tr-TR" dirty="0" err="1" smtClean="0"/>
              <a:t>Maintain</a:t>
            </a:r>
            <a:r>
              <a:rPr lang="tr-TR" dirty="0" smtClean="0"/>
              <a:t> Access(Ana erişim elde etme)</a:t>
            </a:r>
            <a:endParaRPr lang="tr-TR" dirty="0" smtClean="0"/>
          </a:p>
          <a:p>
            <a:pPr marL="624205" indent="-514350" rtl="0">
              <a:buFont typeface="+mj-lt"/>
              <a:buAutoNum type="arabicPeriod"/>
            </a:pPr>
            <a:r>
              <a:rPr lang="tr-TR" dirty="0" err="1" smtClean="0"/>
              <a:t>Covering</a:t>
            </a:r>
            <a:r>
              <a:rPr lang="tr-TR" dirty="0" smtClean="0"/>
              <a:t> Access(Erişimi Koruma)</a:t>
            </a:r>
            <a:endParaRPr lang="tr-T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KURUMSAL BASİT GÜVENLİK TAVSİYELERİ</a:t>
            </a:r>
            <a:endParaRPr lang="tr-TR" dirty="0"/>
          </a:p>
        </p:txBody>
      </p:sp>
      <p:sp>
        <p:nvSpPr>
          <p:cNvPr id="3" name="İçerik Yer Tutucusu 2"/>
          <p:cNvSpPr>
            <a:spLocks noGrp="1"/>
          </p:cNvSpPr>
          <p:nvPr>
            <p:ph idx="1"/>
          </p:nvPr>
        </p:nvSpPr>
        <p:spPr/>
        <p:txBody>
          <a:bodyPr rtlCol="0"/>
          <a:lstStyle/>
          <a:p>
            <a:r>
              <a:rPr lang="tr-TR" dirty="0" smtClean="0"/>
              <a:t>Firewall kullanımı</a:t>
            </a:r>
            <a:endParaRPr lang="tr-TR" dirty="0" smtClean="0"/>
          </a:p>
          <a:p>
            <a:r>
              <a:rPr lang="tr-TR" dirty="0" smtClean="0"/>
              <a:t>Güncel Yazılımlar ve Yama Yüklemeleri</a:t>
            </a:r>
            <a:endParaRPr lang="tr-TR" dirty="0" smtClean="0"/>
          </a:p>
          <a:p>
            <a:r>
              <a:rPr lang="tr-TR" dirty="0" smtClean="0"/>
              <a:t>Güçlü Parolalar ve Kimlik Doğrulama</a:t>
            </a:r>
            <a:endParaRPr lang="tr-TR" dirty="0" smtClean="0"/>
          </a:p>
          <a:p>
            <a:r>
              <a:rPr lang="tr-TR" dirty="0" smtClean="0"/>
              <a:t>Eğitim ve Farkındalık</a:t>
            </a:r>
            <a:endParaRPr lang="tr-TR" dirty="0" smtClean="0"/>
          </a:p>
          <a:p>
            <a:r>
              <a:rPr lang="tr-TR" dirty="0" smtClean="0"/>
              <a:t>Anti-Virüs ve Anti-</a:t>
            </a:r>
            <a:r>
              <a:rPr lang="tr-TR" dirty="0" err="1" smtClean="0"/>
              <a:t>Malware</a:t>
            </a:r>
            <a:r>
              <a:rPr lang="tr-TR" dirty="0" smtClean="0"/>
              <a:t> Yazılımları</a:t>
            </a:r>
            <a:endParaRPr lang="tr-TR" dirty="0" smtClean="0"/>
          </a:p>
          <a:p>
            <a:r>
              <a:rPr lang="tr-TR" dirty="0" smtClean="0"/>
              <a:t>Saldırı İzleme ve İncelenmesi</a:t>
            </a:r>
            <a:endParaRPr lang="tr-TR" dirty="0" smtClean="0"/>
          </a:p>
          <a:p>
            <a:r>
              <a:rPr lang="tr-TR" dirty="0" smtClean="0"/>
              <a:t>Veri Yedeklemeleri</a:t>
            </a:r>
            <a:endParaRPr lang="tr-TR" dirty="0" smtClean="0"/>
          </a:p>
          <a:p>
            <a:r>
              <a:rPr lang="tr-TR" dirty="0" smtClean="0"/>
              <a:t>Ayrıcalıklı Erişim Kontrolleri</a:t>
            </a:r>
            <a:endParaRPr lang="tr-TR" dirty="0" smtClean="0"/>
          </a:p>
          <a:p>
            <a:r>
              <a:rPr lang="tr-TR" dirty="0" smtClean="0"/>
              <a:t>Gelişmiş Güvenlik Ekipmanları</a:t>
            </a: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KİŞİSEL BASİT GÜVENLİK TAVSİYELERİ</a:t>
            </a:r>
            <a:endParaRPr lang="tr-TR" dirty="0"/>
          </a:p>
        </p:txBody>
      </p:sp>
      <p:sp>
        <p:nvSpPr>
          <p:cNvPr id="3" name="İçerik Yer Tutucusu 2"/>
          <p:cNvSpPr>
            <a:spLocks noGrp="1"/>
          </p:cNvSpPr>
          <p:nvPr>
            <p:ph idx="1"/>
          </p:nvPr>
        </p:nvSpPr>
        <p:spPr/>
        <p:txBody>
          <a:bodyPr rtlCol="0"/>
          <a:lstStyle/>
          <a:p>
            <a:r>
              <a:rPr lang="tr-TR" dirty="0" smtClean="0"/>
              <a:t>Çift Faktörlü Kimlik Doğrulama Kullanımı</a:t>
            </a:r>
            <a:endParaRPr lang="tr-TR" dirty="0" smtClean="0"/>
          </a:p>
          <a:p>
            <a:r>
              <a:rPr lang="tr-TR" dirty="0" smtClean="0"/>
              <a:t>Şifre Yöneticisi Kullanımı</a:t>
            </a:r>
            <a:endParaRPr lang="tr-TR" dirty="0" smtClean="0"/>
          </a:p>
          <a:p>
            <a:r>
              <a:rPr lang="tr-TR" dirty="0" smtClean="0"/>
              <a:t>Güçlü ve Benzersiz Parolalar Kullanın</a:t>
            </a:r>
            <a:endParaRPr lang="tr-TR" dirty="0" smtClean="0"/>
          </a:p>
          <a:p>
            <a:r>
              <a:rPr lang="tr-TR" dirty="0" smtClean="0"/>
              <a:t>Kişisel Bilgilerinizi Paylaşmaktan Kaçının</a:t>
            </a:r>
            <a:endParaRPr lang="tr-TR" dirty="0" smtClean="0"/>
          </a:p>
          <a:p>
            <a:r>
              <a:rPr lang="tr-TR" dirty="0" smtClean="0"/>
              <a:t>Bilinmeyen E-postalara ve Bağlantılara dikkat edin</a:t>
            </a:r>
            <a:endParaRPr lang="tr-TR" dirty="0" smtClean="0"/>
          </a:p>
          <a:p>
            <a:r>
              <a:rPr lang="tr-TR" dirty="0" smtClean="0"/>
              <a:t>Yazılım Güncellemelerini İhmal Etmeyin</a:t>
            </a:r>
            <a:endParaRPr lang="tr-TR" dirty="0" smtClean="0"/>
          </a:p>
          <a:p>
            <a:r>
              <a:rPr lang="tr-TR" dirty="0" smtClean="0"/>
              <a:t>Sosyal Mühendislik Saldırılarına Karşı Bilinçli Olun</a:t>
            </a:r>
            <a:endParaRPr lang="tr-TR" dirty="0" smtClean="0"/>
          </a:p>
          <a:p>
            <a:r>
              <a:rPr lang="tr-TR" dirty="0" smtClean="0"/>
              <a:t>Bilinmeyen USB Cihazlarından Kaçının</a:t>
            </a:r>
            <a:endParaRPr lang="tr-TR" dirty="0" smtClean="0"/>
          </a:p>
          <a:p>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DONANIM GÜVENLİĞİ</a:t>
            </a:r>
            <a:endParaRPr lang="tr-TR" dirty="0"/>
          </a:p>
        </p:txBody>
      </p:sp>
      <p:sp>
        <p:nvSpPr>
          <p:cNvPr id="3" name="İçerik Yer Tutucusu 2"/>
          <p:cNvSpPr>
            <a:spLocks noGrp="1"/>
          </p:cNvSpPr>
          <p:nvPr>
            <p:ph idx="1"/>
          </p:nvPr>
        </p:nvSpPr>
        <p:spPr/>
        <p:txBody>
          <a:bodyPr rtlCol="0"/>
          <a:lstStyle/>
          <a:p>
            <a:r>
              <a:rPr lang="tr-TR" dirty="0" smtClean="0"/>
              <a:t>Donanım güvenliği, bilgisayar sistemlerinin ve cihazlarının donanım bileşenlerinin, yazılım saldırılarına veya fiziksel tehditlere karşı korunmasını sağlayan bir bilgi güvenliği dalıdır. Temel amaç, donanımın gizlilik, bütünlük ve erişilebilirlik açısından güvende olmasını sağlamaktır.</a:t>
            </a: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ALTYAPI GÜVENLİĞİ</a:t>
            </a:r>
            <a:endParaRPr lang="tr-TR" dirty="0"/>
          </a:p>
        </p:txBody>
      </p:sp>
      <p:sp>
        <p:nvSpPr>
          <p:cNvPr id="3" name="İçerik Yer Tutucusu 2"/>
          <p:cNvSpPr>
            <a:spLocks noGrp="1"/>
          </p:cNvSpPr>
          <p:nvPr>
            <p:ph idx="1"/>
          </p:nvPr>
        </p:nvSpPr>
        <p:spPr/>
        <p:txBody>
          <a:bodyPr rtlCol="0"/>
          <a:lstStyle/>
          <a:p>
            <a:r>
              <a:rPr lang="tr-TR" dirty="0" smtClean="0"/>
              <a:t>Altyapı güvenliği, bir organizasyonun bilgisayar ağlarının, sunucularının, yönlendiricilerinin ve diğer altyapı bileşenlerinin güvende olduğundan emin olma sürecini ifade eder. Bu, ağ erişiminin sınırlanması, güçlü kimlik doğrulama ve veri iletişiminin şifrelenmesi gibi önlemleri içerir.</a:t>
            </a:r>
            <a:endParaRPr lang="tr-TR" dirty="0" smtClean="0"/>
          </a:p>
          <a:p>
            <a:r>
              <a:rPr lang="tr-TR" dirty="0" smtClean="0"/>
              <a:t>Örnek: Bir şirketin ağının güvenliği için  güvenlik duvarı(firewall) kullanmak, yetkilendirilmemiş erişimi engellemek için ağ anahtarlarını ve yönlendiricilerini yapılandırmak.</a:t>
            </a: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İŞLETİM SİSTEMİ GÜVENLİĞİ</a:t>
            </a:r>
            <a:endParaRPr lang="tr-TR" dirty="0"/>
          </a:p>
        </p:txBody>
      </p:sp>
      <p:sp>
        <p:nvSpPr>
          <p:cNvPr id="3" name="İçerik Yer Tutucusu 2"/>
          <p:cNvSpPr>
            <a:spLocks noGrp="1"/>
          </p:cNvSpPr>
          <p:nvPr>
            <p:ph idx="1"/>
          </p:nvPr>
        </p:nvSpPr>
        <p:spPr/>
        <p:txBody>
          <a:bodyPr rtlCol="0"/>
          <a:lstStyle/>
          <a:p>
            <a:r>
              <a:rPr lang="tr-TR" dirty="0" smtClean="0"/>
              <a:t>İşletim sistemi güvenliği, bilgisayar veya sunucu üzerinde çalışan işletim sistemlerinin güvende olduğundan emin olma sürecini ifade eder. Bu, güncellemelerin düzenli olarak uygulanması, gereksiz hizmetlerin kapatılması ve güçlü parola politikalarının uygulanması gibi önlemleri içerir.</a:t>
            </a: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UYGULAMA SUNUCUSU GÜVENLİĞİ</a:t>
            </a:r>
            <a:endParaRPr lang="tr-TR" dirty="0"/>
          </a:p>
        </p:txBody>
      </p:sp>
      <p:sp>
        <p:nvSpPr>
          <p:cNvPr id="3" name="İçerik Yer Tutucusu 2"/>
          <p:cNvSpPr>
            <a:spLocks noGrp="1"/>
          </p:cNvSpPr>
          <p:nvPr>
            <p:ph idx="1"/>
          </p:nvPr>
        </p:nvSpPr>
        <p:spPr/>
        <p:txBody>
          <a:bodyPr rtlCol="0"/>
          <a:lstStyle/>
          <a:p>
            <a:r>
              <a:rPr lang="tr-TR" dirty="0" smtClean="0"/>
              <a:t>Uygulama sunucusu güvenliği, web sunucuları, </a:t>
            </a:r>
            <a:r>
              <a:rPr lang="tr-TR" dirty="0" err="1" smtClean="0"/>
              <a:t>veritabanı</a:t>
            </a:r>
            <a:r>
              <a:rPr lang="tr-TR" dirty="0" smtClean="0"/>
              <a:t> sunucuları veya diğer uygulama sunucularının güvende olduğundan emin olma sürecini ifade eder. Bu, güvenlik yamalarının uygulanması, gereksiz hizmetlerin kapatılması ve sıkı erişim kontrolünün sağlanması gibi önlemleri içerir.</a:t>
            </a: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VERİ SIZINTISI(DATA BREACH)</a:t>
            </a:r>
            <a:endParaRPr lang="tr-TR" dirty="0"/>
          </a:p>
        </p:txBody>
      </p:sp>
      <p:sp>
        <p:nvSpPr>
          <p:cNvPr id="3" name="İçerik Yer Tutucusu 2"/>
          <p:cNvSpPr>
            <a:spLocks noGrp="1"/>
          </p:cNvSpPr>
          <p:nvPr>
            <p:ph idx="1"/>
          </p:nvPr>
        </p:nvSpPr>
        <p:spPr/>
        <p:txBody>
          <a:bodyPr rtlCol="0"/>
          <a:lstStyle/>
          <a:p>
            <a:r>
              <a:rPr lang="tr-TR" dirty="0" smtClean="0"/>
              <a:t>Veri sızıntısı, hassas veya kişisel bilgilerin yetkisiz erişim veya ifşa sonucu sızdırıldığı bir olaydır.</a:t>
            </a:r>
            <a:endParaRPr lang="tr-TR" dirty="0" smtClean="0"/>
          </a:p>
          <a:p>
            <a:r>
              <a:rPr lang="tr-TR" dirty="0" smtClean="0"/>
              <a:t>Bu tür bir sızıntı, kişisel bilgilerin, finansal bilgilerin, sağlık kayıtlarının veya diğer hassas verilerin yetkisiz kişilerin eline geçmesi durumunda meydana gelir.</a:t>
            </a:r>
            <a:endParaRPr lang="tr-TR" dirty="0" smtClean="0"/>
          </a:p>
          <a:p>
            <a:r>
              <a:rPr lang="tr-TR" dirty="0" smtClean="0"/>
              <a:t>Veri sızıntıları, organizasyonların veya bireylerin güvenliğini ve gizliliğini tehlikeye atabilir.</a:t>
            </a:r>
            <a:endParaRPr lang="tr-TR" dirty="0" smtClean="0"/>
          </a:p>
          <a:p>
            <a:pPr marL="624205" indent="-514350">
              <a:buFont typeface="+mj-lt"/>
              <a:buAutoNum type="arabicPeriod"/>
            </a:pPr>
            <a:r>
              <a:rPr lang="tr-TR" dirty="0" smtClean="0"/>
              <a:t>İstem Dışı – Kazara Veri Sızıntısı</a:t>
            </a:r>
            <a:endParaRPr lang="tr-TR" dirty="0" smtClean="0"/>
          </a:p>
          <a:p>
            <a:pPr marL="624205" indent="-514350">
              <a:buFont typeface="+mj-lt"/>
              <a:buAutoNum type="arabicPeriod"/>
            </a:pPr>
            <a:r>
              <a:rPr lang="tr-TR" dirty="0" smtClean="0"/>
              <a:t>İstemli – Kasıtlı Veri Sızıntısı</a:t>
            </a: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PAROLA NEDİR?</a:t>
            </a:r>
            <a:endParaRPr lang="tr-TR" dirty="0"/>
          </a:p>
        </p:txBody>
      </p:sp>
      <p:sp>
        <p:nvSpPr>
          <p:cNvPr id="3" name="İçerik Yer Tutucusu 2"/>
          <p:cNvSpPr>
            <a:spLocks noGrp="1"/>
          </p:cNvSpPr>
          <p:nvPr>
            <p:ph idx="1"/>
          </p:nvPr>
        </p:nvSpPr>
        <p:spPr/>
        <p:txBody>
          <a:bodyPr rtlCol="0"/>
          <a:lstStyle/>
          <a:p>
            <a:r>
              <a:rPr lang="tr-TR" dirty="0" smtClean="0"/>
              <a:t>Parola bir kullanıcının belirli bir hesaba veya sistemde kimliğini doğrulamak için kullandığı gizli karakter dizisidir.</a:t>
            </a:r>
            <a:endParaRPr lang="tr-TR" dirty="0" smtClean="0"/>
          </a:p>
          <a:p>
            <a:r>
              <a:rPr lang="tr-TR" dirty="0" smtClean="0"/>
              <a:t>Parolalar, kullanıcı adı ile birlikte kullanılarak hesaba erişim sağlar. Genellikle harf, rakam ve sembollerin kombinasyonlarından oluşurlar ve gizliliklerinin korunması önemlidir.</a:t>
            </a:r>
            <a:endParaRPr lang="tr-TR" dirty="0" smtClean="0"/>
          </a:p>
          <a:p>
            <a:r>
              <a:rPr lang="tr-TR" dirty="0" smtClean="0"/>
              <a:t>Örnek: ‘P@rola123’ veya ‘benimParolam11’</a:t>
            </a: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PAROLA GÜVENLİĞİ</a:t>
            </a:r>
            <a:endParaRPr lang="tr-TR" dirty="0"/>
          </a:p>
        </p:txBody>
      </p:sp>
      <p:sp>
        <p:nvSpPr>
          <p:cNvPr id="3" name="İçerik Yer Tutucusu 2"/>
          <p:cNvSpPr>
            <a:spLocks noGrp="1"/>
          </p:cNvSpPr>
          <p:nvPr>
            <p:ph idx="1"/>
          </p:nvPr>
        </p:nvSpPr>
        <p:spPr/>
        <p:txBody>
          <a:bodyPr rtlCol="0"/>
          <a:lstStyle/>
          <a:p>
            <a:r>
              <a:rPr lang="tr-TR" dirty="0" smtClean="0"/>
              <a:t>Parola güvenliği, kullanıcıların parolalarını güvende tutma ve kötü niyetli kişilerin hesaplara yetkisiz erişimini engelleme pratiğini ifade eder.</a:t>
            </a:r>
            <a:endParaRPr lang="tr-TR" dirty="0" smtClean="0"/>
          </a:p>
          <a:p>
            <a:r>
              <a:rPr lang="tr-TR" dirty="0" smtClean="0"/>
              <a:t>Güçlü parola güvenliği, zorlukla tahmin edilebilecek karmaşık parolaların düzenli olarak değiştirilmesi ve güvende tutulması da önemlidir.</a:t>
            </a:r>
            <a:endParaRPr lang="tr-TR" dirty="0" smtClean="0"/>
          </a:p>
          <a:p>
            <a:r>
              <a:rPr lang="tr-TR" dirty="0" smtClean="0"/>
              <a:t>Güçlü bir parola, büyük harf, küçük harf, rakam ve sembollerin karışımını içerir ve kişisel bilgilere dayanmaz.</a:t>
            </a: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PAROLA SALDIRILARI NEDİR?</a:t>
            </a:r>
            <a:endParaRPr lang="tr-TR" dirty="0"/>
          </a:p>
        </p:txBody>
      </p:sp>
      <p:sp>
        <p:nvSpPr>
          <p:cNvPr id="3" name="İçerik Yer Tutucusu 2"/>
          <p:cNvSpPr>
            <a:spLocks noGrp="1"/>
          </p:cNvSpPr>
          <p:nvPr>
            <p:ph idx="1"/>
          </p:nvPr>
        </p:nvSpPr>
        <p:spPr/>
        <p:txBody>
          <a:bodyPr rtlCol="0"/>
          <a:lstStyle/>
          <a:p>
            <a:r>
              <a:rPr lang="tr-TR" dirty="0" smtClean="0"/>
              <a:t>Parola saldırıları, kötü niyetli kişilerin veya yazılımın bir hesaba veya sistemdeki parolayı tahmin etmeye veya kırarak yetkisiz erişim elde etmeye çalıştığı siber saldırı türleridir.</a:t>
            </a:r>
            <a:endParaRPr lang="tr-TR" dirty="0" smtClean="0"/>
          </a:p>
          <a:p>
            <a:r>
              <a:rPr lang="tr-TR" dirty="0" smtClean="0"/>
              <a:t>Aşağıda bazı parola saldırısı türleri ve örnekleri verilmiştir:</a:t>
            </a:r>
            <a:endParaRPr lang="tr-TR" dirty="0" smtClean="0"/>
          </a:p>
          <a:p>
            <a:pPr marL="624205" indent="-514350">
              <a:buFont typeface="+mj-lt"/>
              <a:buAutoNum type="arabicPeriod"/>
            </a:pPr>
            <a:r>
              <a:rPr lang="tr-TR" dirty="0" smtClean="0"/>
              <a:t>Brute Force Saldırısı: Örnek: ‘</a:t>
            </a:r>
            <a:r>
              <a:rPr lang="tr-TR" dirty="0" err="1" smtClean="0"/>
              <a:t>aaaa</a:t>
            </a:r>
            <a:r>
              <a:rPr lang="tr-TR" dirty="0" smtClean="0"/>
              <a:t>’, ‘</a:t>
            </a:r>
            <a:r>
              <a:rPr lang="tr-TR" dirty="0" err="1" smtClean="0"/>
              <a:t>aaab</a:t>
            </a:r>
            <a:r>
              <a:rPr lang="tr-TR" dirty="0" smtClean="0"/>
              <a:t>’, ‘</a:t>
            </a:r>
            <a:r>
              <a:rPr lang="tr-TR" dirty="0" err="1" smtClean="0"/>
              <a:t>aaac</a:t>
            </a:r>
            <a:r>
              <a:rPr lang="tr-TR" dirty="0" smtClean="0"/>
              <a:t>’, …</a:t>
            </a:r>
            <a:endParaRPr lang="tr-TR" dirty="0" smtClean="0"/>
          </a:p>
          <a:p>
            <a:pPr marL="624205" indent="-514350">
              <a:buFont typeface="+mj-lt"/>
              <a:buAutoNum type="arabicPeriod"/>
            </a:pPr>
            <a:r>
              <a:rPr lang="tr-TR" dirty="0" smtClean="0"/>
              <a:t>Dictionary Saldırı: Örnek: ‘</a:t>
            </a:r>
            <a:r>
              <a:rPr lang="tr-TR" dirty="0" err="1" smtClean="0"/>
              <a:t>password</a:t>
            </a:r>
            <a:r>
              <a:rPr lang="tr-TR" dirty="0" smtClean="0"/>
              <a:t>’, ‘</a:t>
            </a:r>
            <a:r>
              <a:rPr lang="tr-TR" dirty="0" err="1" smtClean="0"/>
              <a:t>admin</a:t>
            </a:r>
            <a:r>
              <a:rPr lang="tr-TR" dirty="0" smtClean="0"/>
              <a:t>’, ‘123456’</a:t>
            </a:r>
            <a:endParaRPr lang="tr-TR" dirty="0" smtClean="0"/>
          </a:p>
          <a:p>
            <a:pPr marL="624205" indent="-514350">
              <a:buFont typeface="+mj-lt"/>
              <a:buAutoNum type="arabicPeriod"/>
            </a:pPr>
            <a:r>
              <a:rPr lang="tr-TR" dirty="0" err="1" smtClean="0"/>
              <a:t>Phishing</a:t>
            </a:r>
            <a:r>
              <a:rPr lang="tr-TR" dirty="0" smtClean="0"/>
              <a:t> Saldırısı: Örnek: Kullanıcıların banka hesap bilgilerini girmelerini isteyen sahte bir banka web sitesi</a:t>
            </a:r>
            <a:endParaRPr lang="tr-TR" dirty="0" smtClean="0"/>
          </a:p>
          <a:p>
            <a:pPr marL="109855" indent="0">
              <a:buNone/>
            </a:pPr>
            <a:endParaRPr lang="tr-TR" dirty="0" smtClean="0"/>
          </a:p>
          <a:p>
            <a:pPr marL="624205" indent="-514350">
              <a:buFont typeface="+mj-lt"/>
              <a:buAutoNum type="arabicPeriod"/>
            </a:pP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smtClean="0"/>
              <a:t>PAROLA SALDIRILARI NEDİR?</a:t>
            </a:r>
            <a:endParaRPr lang="tr-TR" dirty="0"/>
          </a:p>
        </p:txBody>
      </p:sp>
      <p:sp>
        <p:nvSpPr>
          <p:cNvPr id="3" name="İçerik Yer Tutucusu 2"/>
          <p:cNvSpPr>
            <a:spLocks noGrp="1"/>
          </p:cNvSpPr>
          <p:nvPr>
            <p:ph idx="1"/>
          </p:nvPr>
        </p:nvSpPr>
        <p:spPr/>
        <p:txBody>
          <a:bodyPr rtlCol="0"/>
          <a:lstStyle/>
          <a:p>
            <a:pPr marL="624205" indent="-514350">
              <a:buFont typeface="+mj-lt"/>
              <a:buAutoNum type="arabicPeriod" startAt="4"/>
            </a:pPr>
            <a:r>
              <a:rPr lang="tr-TR" dirty="0" err="1" smtClean="0"/>
              <a:t>Rainbow</a:t>
            </a:r>
            <a:r>
              <a:rPr lang="tr-TR" dirty="0" smtClean="0"/>
              <a:t> </a:t>
            </a:r>
            <a:r>
              <a:rPr lang="tr-TR" dirty="0" err="1" smtClean="0"/>
              <a:t>Table</a:t>
            </a:r>
            <a:r>
              <a:rPr lang="tr-TR" dirty="0" smtClean="0"/>
              <a:t> Saldırısı: Örnek: Önceden hesaplanmış MD5 veya SHA-1 karma değerlerini içeren bir </a:t>
            </a:r>
            <a:r>
              <a:rPr lang="tr-TR" dirty="0" err="1" smtClean="0"/>
              <a:t>veritabanı</a:t>
            </a:r>
            <a:r>
              <a:rPr lang="tr-TR" dirty="0" smtClean="0"/>
              <a:t>.</a:t>
            </a:r>
            <a:endParaRPr lang="tr-TR" dirty="0" smtClean="0"/>
          </a:p>
          <a:p>
            <a:pPr marL="624205" indent="-514350">
              <a:buFont typeface="+mj-lt"/>
              <a:buAutoNum type="arabicPeriod" startAt="4"/>
            </a:pPr>
            <a:endParaRPr lang="tr-TR"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0</TotalTime>
  <Words>7843</Words>
  <Application>WPS Sunum</Application>
  <PresentationFormat>Geniş ekran</PresentationFormat>
  <Paragraphs>173</Paragraphs>
  <Slides>28</Slides>
  <Notes>30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28</vt:i4>
      </vt:variant>
    </vt:vector>
  </HeadingPairs>
  <TitlesOfParts>
    <vt:vector size="38" baseType="lpstr">
      <vt:lpstr>Arial</vt:lpstr>
      <vt:lpstr>SimSun</vt:lpstr>
      <vt:lpstr>Wingdings</vt:lpstr>
      <vt:lpstr>Georgia</vt:lpstr>
      <vt:lpstr>Wingdings 2</vt:lpstr>
      <vt:lpstr>Wingdings</vt:lpstr>
      <vt:lpstr>Calibri</vt:lpstr>
      <vt:lpstr>Microsoft YaHei</vt:lpstr>
      <vt:lpstr>Arial Unicode MS</vt:lpstr>
      <vt:lpstr>Eğitim sunusu</vt:lpstr>
      <vt:lpstr>Ağ ve Bilişim Güvenliği</vt:lpstr>
      <vt:lpstr>SOSYAL MÜHENDİSLİK ALANLARI</vt:lpstr>
      <vt:lpstr>SOSYAL MÜHENDİSLİK ALANLARI</vt:lpstr>
      <vt:lpstr>PHISHING(OLTALAMA)</vt:lpstr>
      <vt:lpstr>SPEAR PHISHING</vt:lpstr>
      <vt:lpstr>SHOULDER SURFING(OMUZ SÖRFÜ)</vt:lpstr>
      <vt:lpstr>DUMPSTER DIVING(ÇÖP KARIŞTIRMA)</vt:lpstr>
      <vt:lpstr>ROLE PLAYING(ROL YAPMA)</vt:lpstr>
      <vt:lpstr>PRETEXTING(BAHANE UYDURMA)</vt:lpstr>
      <vt:lpstr>BAITING(YEMLEME)</vt:lpstr>
      <vt:lpstr>TAILGATING(KUYRUKTA SÜRÜNME)</vt:lpstr>
      <vt:lpstr>QUID PRO QUO(KARŞILIK BEKLEME)</vt:lpstr>
      <vt:lpstr>IMPERSONATION(KİMLİK TAKLİDİ)</vt:lpstr>
      <vt:lpstr>PHARMING(ÇİFTÇİLİK)</vt:lpstr>
      <vt:lpstr>VISHING(SESLİ FISHING)</vt:lpstr>
      <vt:lpstr>WATER HOLING</vt:lpstr>
      <vt:lpstr>HACKER METODOLOJİSİ</vt:lpstr>
      <vt:lpstr>KURUMSAL BASİT GÜVENLİK TAVSİYELERİ</vt:lpstr>
      <vt:lpstr>KİŞİSEL BASİT GÜVENLİK TAVSİYELERİ</vt:lpstr>
      <vt:lpstr>DONANIM GÜVENLİĞİ</vt:lpstr>
      <vt:lpstr>ALTYAPI GÜVENLİĞİ</vt:lpstr>
      <vt:lpstr>İŞLETİM SİSTEMİ GÜVENLİĞİ</vt:lpstr>
      <vt:lpstr>UYGULAMA SUNUCUSU GÜVENLİĞİ</vt:lpstr>
      <vt:lpstr>VERİ SIZINTISI(DATA BREACH)</vt:lpstr>
      <vt:lpstr>PAROLA NEDİR?</vt:lpstr>
      <vt:lpstr>PAROLA GÜVENLİĞİ</vt:lpstr>
      <vt:lpstr>PAROLA SALDIRILARI NEDİR?</vt:lpstr>
      <vt:lpstr>PAROLA SALDIRILARI NEDİR?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Ağ ve Bilişim Güvenliği</dc:title>
  <dc:creator>ZaferS</dc:creator>
  <cp:lastModifiedBy>Zafer</cp:lastModifiedBy>
  <cp:revision>113</cp:revision>
  <dcterms:created xsi:type="dcterms:W3CDTF">2023-12-09T09:03:00Z</dcterms:created>
  <dcterms:modified xsi:type="dcterms:W3CDTF">2025-11-11T17:45:17Z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CV">
    <vt:lpwstr>48035CF0A01E4FEB98714B84C4713FA5_12</vt:lpwstr>
  </property>
  <property fmtid="{D5CDD505-2E9C-101B-9397-08002B2CF9AE}" pid="4" name="KSOProductBuildVer">
    <vt:lpwstr>1055-12.2.0.22549</vt:lpwstr>
  </property>
</Properties>
</file>